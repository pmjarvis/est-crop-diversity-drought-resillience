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12192000"/>
  <p:embeddedFontLst>
    <p:embeddedFont>
      <p:font typeface="Source Sans 3"/>
      <p:regular r:id="rId32"/>
      <p:bold r:id="rId33"/>
      <p:italic r:id="rId34"/>
      <p:boldItalic r:id="rId35"/>
    </p:embeddedFont>
    <p:embeddedFont>
      <p:font typeface="Source Serif 4"/>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971264A-8B6E-4569-9D24-C3ED2D4DDA7A}">
  <a:tblStyle styleId="{6971264A-8B6E-4569-9D24-C3ED2D4DDA7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SourceSans3-bold.fntdata"/><Relationship Id="rId10" Type="http://schemas.openxmlformats.org/officeDocument/2006/relationships/slide" Target="slides/slide5.xml"/><Relationship Id="rId32" Type="http://schemas.openxmlformats.org/officeDocument/2006/relationships/font" Target="fonts/SourceSans3-regular.fntdata"/><Relationship Id="rId13" Type="http://schemas.openxmlformats.org/officeDocument/2006/relationships/slide" Target="slides/slide8.xml"/><Relationship Id="rId35" Type="http://schemas.openxmlformats.org/officeDocument/2006/relationships/font" Target="fonts/SourceSans3-boldItalic.fntdata"/><Relationship Id="rId12" Type="http://schemas.openxmlformats.org/officeDocument/2006/relationships/slide" Target="slides/slide7.xml"/><Relationship Id="rId34" Type="http://schemas.openxmlformats.org/officeDocument/2006/relationships/font" Target="fonts/SourceSans3-italic.fntdata"/><Relationship Id="rId15" Type="http://schemas.openxmlformats.org/officeDocument/2006/relationships/slide" Target="slides/slide10.xml"/><Relationship Id="rId37" Type="http://schemas.openxmlformats.org/officeDocument/2006/relationships/font" Target="fonts/SourceSerif4-bold.fntdata"/><Relationship Id="rId14" Type="http://schemas.openxmlformats.org/officeDocument/2006/relationships/slide" Target="slides/slide9.xml"/><Relationship Id="rId36" Type="http://schemas.openxmlformats.org/officeDocument/2006/relationships/font" Target="fonts/SourceSerif4-regular.fntdata"/><Relationship Id="rId17" Type="http://schemas.openxmlformats.org/officeDocument/2006/relationships/slide" Target="slides/slide12.xml"/><Relationship Id="rId39" Type="http://schemas.openxmlformats.org/officeDocument/2006/relationships/font" Target="fonts/SourceSerif4-boldItalic.fntdata"/><Relationship Id="rId16" Type="http://schemas.openxmlformats.org/officeDocument/2006/relationships/slide" Target="slides/slide11.xml"/><Relationship Id="rId38" Type="http://schemas.openxmlformats.org/officeDocument/2006/relationships/font" Target="fonts/SourceSerif4-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 name="Google Shape;1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hill1 is computed in src/metrics/diversity.py; the trend and index in src/metrics/detrend.py. Imputed rows stay in the national sum; crop-level response fits use reported years only.</a:t>
            </a:r>
            <a:endParaRPr/>
          </a:p>
        </p:txBody>
      </p:sp>
      <p:sp>
        <p:nvSpPr>
          <p:cNvPr id="196" name="Google Shape;19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Formulas are the fixed choices in CLAUDE.md. Medians are across the 107 included countries (outputs/stats/summary.csv). India values from outputs/metrics.parquet.</a:t>
            </a:r>
            <a:endParaRPr/>
          </a:p>
        </p:txBody>
      </p:sp>
      <p:sp>
        <p:nvSpPr>
          <p:cNvPr id="225" name="Google Shape;22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Recomputed from the national index; matches outputs/metrics.parquet (resistance 0.885, recovery 1.054, vulnerability 0.032, vuln_drought 1.0).</a:t>
            </a:r>
            <a:endParaRPr/>
          </a:p>
        </p:txBody>
      </p:sp>
      <p:sp>
        <p:nvSpPr>
          <p:cNvPr id="268" name="Google Shape;26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demo: open explorer/index.html in a browser with internet access (Plotly is loaded from cdn.plot.ly). Screenshot was taken with India preselected.</a:t>
            </a:r>
            <a:endParaRPr/>
          </a:p>
        </p:txBody>
      </p:sp>
      <p:sp>
        <p:nvSpPr>
          <p:cNvPr id="442" name="Google Shape;44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background 1">
  <p:cSld name="Slide background 1">
    <p:bg>
      <p:bgPr>
        <a:blipFill>
          <a:blip r:embed="rId2">
            <a:alphaModFix/>
          </a:blip>
          <a:stretch>
            <a:fillRect/>
          </a:stretch>
        </a:blip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9.png"/><Relationship Id="rId4" Type="http://schemas.openxmlformats.org/officeDocument/2006/relationships/image" Target="../media/image28.png"/><Relationship Id="rId5" Type="http://schemas.openxmlformats.org/officeDocument/2006/relationships/image" Target="../media/image31.png"/><Relationship Id="rId6"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3.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2.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 name="Shape 16"/>
        <p:cNvGrpSpPr/>
        <p:nvPr/>
      </p:nvGrpSpPr>
      <p:grpSpPr>
        <a:xfrm>
          <a:off x="0" y="0"/>
          <a:ext cx="0" cy="0"/>
          <a:chOff x="0" y="0"/>
          <a:chExt cx="0" cy="0"/>
        </a:xfrm>
      </p:grpSpPr>
      <p:pic>
        <p:nvPicPr>
          <p:cNvPr descr="Decorative drawing of curved field rows under a low sun" id="17" name="Google Shape;17;p4"/>
          <p:cNvPicPr preferRelativeResize="0"/>
          <p:nvPr/>
        </p:nvPicPr>
        <p:blipFill rotWithShape="1">
          <a:blip r:embed="rId3">
            <a:alphaModFix/>
          </a:blip>
          <a:srcRect b="0" l="0" r="0" t="0"/>
          <a:stretch/>
        </p:blipFill>
        <p:spPr>
          <a:xfrm>
            <a:off x="8724900" y="1206500"/>
            <a:ext cx="2921000" cy="4064000"/>
          </a:xfrm>
          <a:prstGeom prst="rect">
            <a:avLst/>
          </a:prstGeom>
          <a:noFill/>
          <a:ln>
            <a:noFill/>
          </a:ln>
        </p:spPr>
      </p:pic>
      <p:sp>
        <p:nvSpPr>
          <p:cNvPr id="18" name="Google Shape;18;p4"/>
          <p:cNvSpPr/>
          <p:nvPr/>
        </p:nvSpPr>
        <p:spPr>
          <a:xfrm>
            <a:off x="546100" y="412750"/>
            <a:ext cx="523240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A066"/>
              </a:buClr>
              <a:buSzPts val="1000"/>
              <a:buFont typeface="Source Sans 3"/>
              <a:buNone/>
            </a:pPr>
            <a:r>
              <a:rPr b="1" i="0" lang="en-US" sz="1000" u="none" cap="none" strike="noStrike">
                <a:solidFill>
                  <a:srgbClr val="D9A066"/>
                </a:solidFill>
                <a:latin typeface="Source Sans 3"/>
                <a:ea typeface="Source Sans 3"/>
                <a:cs typeface="Source Sans 3"/>
                <a:sym typeface="Source Sans 3"/>
              </a:rPr>
              <a:t>ENVIRONMENTAL SCIENCE AND TECHNOLOGY</a:t>
            </a:r>
            <a:endParaRPr b="0" i="0" sz="1000" u="none" cap="none" strike="noStrike">
              <a:solidFill>
                <a:schemeClr val="dk1"/>
              </a:solidFill>
              <a:latin typeface="Calibri"/>
              <a:ea typeface="Calibri"/>
              <a:cs typeface="Calibri"/>
              <a:sym typeface="Calibri"/>
            </a:endParaRPr>
          </a:p>
        </p:txBody>
      </p:sp>
      <p:sp>
        <p:nvSpPr>
          <p:cNvPr id="19" name="Google Shape;19;p4"/>
          <p:cNvSpPr/>
          <p:nvPr/>
        </p:nvSpPr>
        <p:spPr>
          <a:xfrm>
            <a:off x="5670550" y="412750"/>
            <a:ext cx="1883664"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A066"/>
              </a:buClr>
              <a:buSzPts val="1000"/>
              <a:buFont typeface="Source Sans 3"/>
              <a:buNone/>
            </a:pPr>
            <a:r>
              <a:rPr b="1" i="0" lang="en-US" sz="1000" u="none" cap="none" strike="noStrike">
                <a:solidFill>
                  <a:srgbClr val="D9A066"/>
                </a:solidFill>
                <a:latin typeface="Source Sans 3"/>
                <a:ea typeface="Source Sans 3"/>
                <a:cs typeface="Source Sans 3"/>
                <a:sym typeface="Source Sans 3"/>
              </a:rPr>
              <a:t>TEAM 1</a:t>
            </a:r>
            <a:endParaRPr b="0" i="0" sz="1000" u="none" cap="none" strike="noStrike">
              <a:solidFill>
                <a:schemeClr val="dk1"/>
              </a:solidFill>
              <a:latin typeface="Calibri"/>
              <a:ea typeface="Calibri"/>
              <a:cs typeface="Calibri"/>
              <a:sym typeface="Calibri"/>
            </a:endParaRPr>
          </a:p>
        </p:txBody>
      </p:sp>
      <p:sp>
        <p:nvSpPr>
          <p:cNvPr id="20" name="Google Shape;20;p4"/>
          <p:cNvSpPr/>
          <p:nvPr/>
        </p:nvSpPr>
        <p:spPr>
          <a:xfrm>
            <a:off x="10223500" y="412750"/>
            <a:ext cx="14224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D9A066"/>
              </a:buClr>
              <a:buSzPts val="1000"/>
              <a:buFont typeface="Source Sans 3"/>
              <a:buNone/>
            </a:pPr>
            <a:r>
              <a:rPr b="1" i="0" lang="en-US" sz="1000" u="none" cap="none" strike="noStrike">
                <a:solidFill>
                  <a:srgbClr val="D9A066"/>
                </a:solidFill>
                <a:latin typeface="Source Sans 3"/>
                <a:ea typeface="Source Sans 3"/>
                <a:cs typeface="Source Sans 3"/>
                <a:sym typeface="Source Sans 3"/>
              </a:rPr>
              <a:t>IIIT H</a:t>
            </a:r>
            <a:endParaRPr b="0" i="0" sz="1000" u="none" cap="none" strike="noStrike">
              <a:solidFill>
                <a:schemeClr val="dk1"/>
              </a:solidFill>
              <a:latin typeface="Calibri"/>
              <a:ea typeface="Calibri"/>
              <a:cs typeface="Calibri"/>
              <a:sym typeface="Calibri"/>
            </a:endParaRPr>
          </a:p>
        </p:txBody>
      </p:sp>
      <p:sp>
        <p:nvSpPr>
          <p:cNvPr id="21" name="Google Shape;21;p4"/>
          <p:cNvSpPr/>
          <p:nvPr/>
        </p:nvSpPr>
        <p:spPr>
          <a:xfrm>
            <a:off x="546100" y="1644650"/>
            <a:ext cx="8110220" cy="1366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4800"/>
              <a:buFont typeface="Source Serif 4"/>
              <a:buNone/>
            </a:pPr>
            <a:r>
              <a:rPr b="1" i="0" lang="en-US" sz="4800" u="none" cap="none" strike="noStrike">
                <a:solidFill>
                  <a:srgbClr val="FFFFFF"/>
                </a:solidFill>
                <a:latin typeface="Source Serif 4"/>
                <a:ea typeface="Source Serif 4"/>
                <a:cs typeface="Source Serif 4"/>
                <a:sym typeface="Source Serif 4"/>
              </a:rPr>
              <a:t>Crop Diversity and Drought Resilience</a:t>
            </a:r>
            <a:endParaRPr b="0" i="0" sz="4800" u="none" cap="none" strike="noStrike">
              <a:solidFill>
                <a:schemeClr val="dk1"/>
              </a:solidFill>
              <a:latin typeface="Calibri"/>
              <a:ea typeface="Calibri"/>
              <a:cs typeface="Calibri"/>
              <a:sym typeface="Calibri"/>
            </a:endParaRPr>
          </a:p>
        </p:txBody>
      </p:sp>
      <p:sp>
        <p:nvSpPr>
          <p:cNvPr id="22" name="Google Shape;22;p4"/>
          <p:cNvSpPr/>
          <p:nvPr/>
        </p:nvSpPr>
        <p:spPr>
          <a:xfrm>
            <a:off x="546100" y="3568700"/>
            <a:ext cx="8097139" cy="61976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1EEE4"/>
              </a:buClr>
              <a:buSzPts val="1800"/>
              <a:buFont typeface="Source Sans 3"/>
              <a:buNone/>
            </a:pPr>
            <a:r>
              <a:rPr b="0" i="0" lang="en-US" sz="1800" u="none" cap="none" strike="noStrike">
                <a:solidFill>
                  <a:srgbClr val="F1EEE4"/>
                </a:solidFill>
                <a:latin typeface="Source Sans 3"/>
                <a:ea typeface="Source Sans 3"/>
                <a:cs typeface="Source Sans 3"/>
                <a:sym typeface="Source Sans 3"/>
              </a:rPr>
              <a:t>We tested whether countries that grow a wider mix of crops lose less agricultural production in droughts, using 31 years of data for 107 countries.</a:t>
            </a:r>
            <a:endParaRPr b="0" i="0" sz="1800" u="none" cap="none" strike="noStrike">
              <a:solidFill>
                <a:schemeClr val="dk1"/>
              </a:solidFill>
              <a:latin typeface="Calibri"/>
              <a:ea typeface="Calibri"/>
              <a:cs typeface="Calibri"/>
              <a:sym typeface="Calibri"/>
            </a:endParaRPr>
          </a:p>
        </p:txBody>
      </p:sp>
      <p:pic>
        <p:nvPicPr>
          <p:cNvPr descr="line" id="23" name="Google Shape;23;p4"/>
          <p:cNvPicPr preferRelativeResize="0"/>
          <p:nvPr/>
        </p:nvPicPr>
        <p:blipFill rotWithShape="1">
          <a:blip r:embed="rId4">
            <a:alphaModFix/>
          </a:blip>
          <a:srcRect b="-3333" l="0" r="0" t="-3333"/>
          <a:stretch/>
        </p:blipFill>
        <p:spPr>
          <a:xfrm>
            <a:off x="546100" y="5759450"/>
            <a:ext cx="11093450" cy="20320"/>
          </a:xfrm>
          <a:prstGeom prst="rect">
            <a:avLst/>
          </a:prstGeom>
          <a:noFill/>
          <a:ln>
            <a:noFill/>
          </a:ln>
        </p:spPr>
      </p:pic>
      <p:sp>
        <p:nvSpPr>
          <p:cNvPr id="24" name="Google Shape;24;p4"/>
          <p:cNvSpPr/>
          <p:nvPr/>
        </p:nvSpPr>
        <p:spPr>
          <a:xfrm>
            <a:off x="546100" y="5943600"/>
            <a:ext cx="10360152" cy="2235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1EEE4"/>
              </a:buClr>
              <a:buSzPts val="1200"/>
              <a:buFont typeface="Source Sans 3"/>
              <a:buNone/>
            </a:pPr>
            <a:r>
              <a:rPr b="0" i="0" lang="en-US" sz="1200" u="none" cap="none" strike="noStrike">
                <a:solidFill>
                  <a:srgbClr val="F1EEE4"/>
                </a:solidFill>
                <a:latin typeface="Source Sans 3"/>
                <a:ea typeface="Source Sans 3"/>
                <a:cs typeface="Source Sans 3"/>
                <a:sym typeface="Source Sans 3"/>
              </a:rPr>
              <a:t>Pranav Swarup Kumar · Prathmesh Sharma · Pragya Mishra · Gursahib Singh · Arushi Tandon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29" name="Shape 29"/>
        <p:cNvGrpSpPr/>
        <p:nvPr/>
      </p:nvGrpSpPr>
      <p:grpSpPr>
        <a:xfrm>
          <a:off x="0" y="0"/>
          <a:ext cx="0" cy="0"/>
          <a:chOff x="0" y="0"/>
          <a:chExt cx="0" cy="0"/>
        </a:xfrm>
      </p:grpSpPr>
      <p:sp>
        <p:nvSpPr>
          <p:cNvPr id="30" name="Google Shape;30;p5"/>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5"/>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PROBLEM STATEMENT</a:t>
            </a:r>
            <a:endParaRPr b="0" i="0" sz="1000" u="none" cap="none" strike="noStrike">
              <a:solidFill>
                <a:schemeClr val="dk1"/>
              </a:solidFill>
              <a:latin typeface="Calibri"/>
              <a:ea typeface="Calibri"/>
              <a:cs typeface="Calibri"/>
              <a:sym typeface="Calibri"/>
            </a:endParaRPr>
          </a:p>
        </p:txBody>
      </p:sp>
      <p:sp>
        <p:nvSpPr>
          <p:cNvPr id="32" name="Google Shape;32;p5"/>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02 / 26</a:t>
            </a:r>
            <a:endParaRPr b="0" i="0" sz="1000" u="none" cap="none" strike="noStrike">
              <a:solidFill>
                <a:schemeClr val="dk1"/>
              </a:solidFill>
              <a:latin typeface="Calibri"/>
              <a:ea typeface="Calibri"/>
              <a:cs typeface="Calibri"/>
              <a:sym typeface="Calibri"/>
            </a:endParaRPr>
          </a:p>
        </p:txBody>
      </p:sp>
      <p:sp>
        <p:nvSpPr>
          <p:cNvPr id="33" name="Google Shape;33;p5"/>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The question and what we add</a:t>
            </a:r>
            <a:endParaRPr b="0" i="0" sz="2800" u="none" cap="none" strike="noStrike">
              <a:solidFill>
                <a:schemeClr val="dk1"/>
              </a:solidFill>
              <a:latin typeface="Calibri"/>
              <a:ea typeface="Calibri"/>
              <a:cs typeface="Calibri"/>
              <a:sym typeface="Calibri"/>
            </a:endParaRPr>
          </a:p>
        </p:txBody>
      </p:sp>
      <p:sp>
        <p:nvSpPr>
          <p:cNvPr id="34" name="Google Shape;34;p5"/>
          <p:cNvSpPr/>
          <p:nvPr/>
        </p:nvSpPr>
        <p:spPr>
          <a:xfrm>
            <a:off x="546100" y="1187450"/>
            <a:ext cx="10424160" cy="28956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600"/>
              <a:buFont typeface="Source Sans 3"/>
              <a:buNone/>
            </a:pPr>
            <a:r>
              <a:rPr b="0" i="0" lang="en-US" sz="1600" u="none" cap="none" strike="noStrike">
                <a:solidFill>
                  <a:srgbClr val="22332A"/>
                </a:solidFill>
                <a:latin typeface="Source Sans 3"/>
                <a:ea typeface="Source Sans 3"/>
                <a:cs typeface="Source Sans 3"/>
                <a:sym typeface="Source Sans 3"/>
              </a:rPr>
              <a:t>Does growing a wider mix of crops make a country’s agricultural production more resilient to drought?</a:t>
            </a:r>
            <a:endParaRPr b="0" i="0" sz="1600" u="none" cap="none" strike="noStrike">
              <a:solidFill>
                <a:schemeClr val="dk1"/>
              </a:solidFill>
              <a:latin typeface="Calibri"/>
              <a:ea typeface="Calibri"/>
              <a:cs typeface="Calibri"/>
              <a:sym typeface="Calibri"/>
            </a:endParaRPr>
          </a:p>
        </p:txBody>
      </p:sp>
      <p:sp>
        <p:nvSpPr>
          <p:cNvPr id="35" name="Google Shape;35;p5"/>
          <p:cNvSpPr/>
          <p:nvPr/>
        </p:nvSpPr>
        <p:spPr>
          <a:xfrm>
            <a:off x="549275" y="2016125"/>
            <a:ext cx="3562350" cy="1733550"/>
          </a:xfrm>
          <a:prstGeom prst="roundRect">
            <a:avLst>
              <a:gd fmla="val 6410"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ctivity" id="36" name="Google Shape;36;p5"/>
          <p:cNvPicPr preferRelativeResize="0"/>
          <p:nvPr/>
        </p:nvPicPr>
        <p:blipFill rotWithShape="1">
          <a:blip r:embed="rId3">
            <a:alphaModFix/>
          </a:blip>
          <a:srcRect b="0" l="0" r="0" t="0"/>
          <a:stretch/>
        </p:blipFill>
        <p:spPr>
          <a:xfrm>
            <a:off x="3644900" y="2159000"/>
            <a:ext cx="254000" cy="254000"/>
          </a:xfrm>
          <a:prstGeom prst="rect">
            <a:avLst/>
          </a:prstGeom>
          <a:noFill/>
          <a:ln>
            <a:noFill/>
          </a:ln>
        </p:spPr>
      </p:pic>
      <p:sp>
        <p:nvSpPr>
          <p:cNvPr id="37" name="Google Shape;37;p5"/>
          <p:cNvSpPr/>
          <p:nvPr/>
        </p:nvSpPr>
        <p:spPr>
          <a:xfrm>
            <a:off x="774700" y="2146300"/>
            <a:ext cx="2877820"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01C"/>
              </a:buClr>
              <a:buSzPts val="1600"/>
              <a:buFont typeface="Source Sans 3"/>
              <a:buNone/>
            </a:pPr>
            <a:r>
              <a:rPr b="1" i="0" lang="en-US" sz="1600" u="none" cap="none" strike="noStrike">
                <a:solidFill>
                  <a:srgbClr val="B5501C"/>
                </a:solidFill>
                <a:latin typeface="Source Sans 3"/>
                <a:ea typeface="Source Sans 3"/>
                <a:cs typeface="Source Sans 3"/>
                <a:sym typeface="Source Sans 3"/>
              </a:rPr>
              <a:t>Four faces of resilience</a:t>
            </a:r>
            <a:endParaRPr b="0" i="0" sz="1600" u="none" cap="none" strike="noStrike">
              <a:solidFill>
                <a:schemeClr val="dk1"/>
              </a:solidFill>
              <a:latin typeface="Calibri"/>
              <a:ea typeface="Calibri"/>
              <a:cs typeface="Calibri"/>
              <a:sym typeface="Calibri"/>
            </a:endParaRPr>
          </a:p>
        </p:txBody>
      </p:sp>
      <p:sp>
        <p:nvSpPr>
          <p:cNvPr id="38" name="Google Shape;38;p5"/>
          <p:cNvSpPr/>
          <p:nvPr/>
        </p:nvSpPr>
        <p:spPr>
          <a:xfrm>
            <a:off x="774700" y="2603500"/>
            <a:ext cx="3204845" cy="4876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400"/>
              <a:buFont typeface="Source Sans 3"/>
              <a:buNone/>
            </a:pPr>
            <a:r>
              <a:rPr b="0" i="0" lang="en-US" sz="1400" u="none" cap="none" strike="noStrike">
                <a:solidFill>
                  <a:srgbClr val="22332A"/>
                </a:solidFill>
                <a:latin typeface="Source Sans 3"/>
                <a:ea typeface="Source Sans 3"/>
                <a:cs typeface="Source Sans 3"/>
                <a:sym typeface="Source Sans 3"/>
              </a:rPr>
              <a:t>Stability, resistance, recovery and vulnerability, each measured separately.</a:t>
            </a:r>
            <a:endParaRPr b="0" i="0" sz="1400" u="none" cap="none" strike="noStrike">
              <a:solidFill>
                <a:schemeClr val="dk1"/>
              </a:solidFill>
              <a:latin typeface="Calibri"/>
              <a:ea typeface="Calibri"/>
              <a:cs typeface="Calibri"/>
              <a:sym typeface="Calibri"/>
            </a:endParaRPr>
          </a:p>
        </p:txBody>
      </p:sp>
      <p:sp>
        <p:nvSpPr>
          <p:cNvPr id="39" name="Google Shape;39;p5"/>
          <p:cNvSpPr/>
          <p:nvPr/>
        </p:nvSpPr>
        <p:spPr>
          <a:xfrm>
            <a:off x="4308475" y="2016125"/>
            <a:ext cx="3562350" cy="1733550"/>
          </a:xfrm>
          <a:prstGeom prst="roundRect">
            <a:avLst>
              <a:gd fmla="val 6410"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rt" id="40" name="Google Shape;40;p5"/>
          <p:cNvPicPr preferRelativeResize="0"/>
          <p:nvPr/>
        </p:nvPicPr>
        <p:blipFill rotWithShape="1">
          <a:blip r:embed="rId4">
            <a:alphaModFix/>
          </a:blip>
          <a:srcRect b="0" l="0" r="0" t="0"/>
          <a:stretch/>
        </p:blipFill>
        <p:spPr>
          <a:xfrm>
            <a:off x="7404100" y="2159000"/>
            <a:ext cx="254000" cy="254000"/>
          </a:xfrm>
          <a:prstGeom prst="rect">
            <a:avLst/>
          </a:prstGeom>
          <a:noFill/>
          <a:ln>
            <a:noFill/>
          </a:ln>
        </p:spPr>
      </p:pic>
      <p:sp>
        <p:nvSpPr>
          <p:cNvPr id="41" name="Google Shape;41;p5"/>
          <p:cNvSpPr/>
          <p:nvPr/>
        </p:nvSpPr>
        <p:spPr>
          <a:xfrm>
            <a:off x="4533900" y="2146300"/>
            <a:ext cx="2877820"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01C"/>
              </a:buClr>
              <a:buSzPts val="1600"/>
              <a:buFont typeface="Source Sans 3"/>
              <a:buNone/>
            </a:pPr>
            <a:r>
              <a:rPr b="1" i="0" lang="en-US" sz="1600" u="none" cap="none" strike="noStrike">
                <a:solidFill>
                  <a:srgbClr val="B5501C"/>
                </a:solidFill>
                <a:latin typeface="Source Sans 3"/>
                <a:ea typeface="Source Sans 3"/>
                <a:cs typeface="Source Sans 3"/>
                <a:sym typeface="Source Sans 3"/>
              </a:rPr>
              <a:t>Response diversity</a:t>
            </a:r>
            <a:endParaRPr b="0" i="0" sz="1600" u="none" cap="none" strike="noStrike">
              <a:solidFill>
                <a:schemeClr val="dk1"/>
              </a:solidFill>
              <a:latin typeface="Calibri"/>
              <a:ea typeface="Calibri"/>
              <a:cs typeface="Calibri"/>
              <a:sym typeface="Calibri"/>
            </a:endParaRPr>
          </a:p>
        </p:txBody>
      </p:sp>
      <p:sp>
        <p:nvSpPr>
          <p:cNvPr id="42" name="Google Shape;42;p5"/>
          <p:cNvSpPr/>
          <p:nvPr/>
        </p:nvSpPr>
        <p:spPr>
          <a:xfrm>
            <a:off x="4533900" y="2603500"/>
            <a:ext cx="3204845" cy="4876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400"/>
              <a:buFont typeface="Source Sans 3"/>
              <a:buNone/>
            </a:pPr>
            <a:r>
              <a:rPr b="0" i="0" lang="en-US" sz="1400" u="none" cap="none" strike="noStrike">
                <a:solidFill>
                  <a:srgbClr val="22332A"/>
                </a:solidFill>
                <a:latin typeface="Source Sans 3"/>
                <a:ea typeface="Source Sans 3"/>
                <a:cs typeface="Source Sans 3"/>
                <a:sym typeface="Source Sans 3"/>
              </a:rPr>
              <a:t>How differently a country’s crops react to drought, not only how many it grows.</a:t>
            </a:r>
            <a:endParaRPr b="0" i="0" sz="1400" u="none" cap="none" strike="noStrike">
              <a:solidFill>
                <a:schemeClr val="dk1"/>
              </a:solidFill>
              <a:latin typeface="Calibri"/>
              <a:ea typeface="Calibri"/>
              <a:cs typeface="Calibri"/>
              <a:sym typeface="Calibri"/>
            </a:endParaRPr>
          </a:p>
        </p:txBody>
      </p:sp>
      <p:sp>
        <p:nvSpPr>
          <p:cNvPr id="43" name="Google Shape;43;p5"/>
          <p:cNvSpPr/>
          <p:nvPr/>
        </p:nvSpPr>
        <p:spPr>
          <a:xfrm>
            <a:off x="8080375" y="2016125"/>
            <a:ext cx="3562350" cy="1733550"/>
          </a:xfrm>
          <a:prstGeom prst="roundRect">
            <a:avLst>
              <a:gd fmla="val 6410"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Globe" id="44" name="Google Shape;44;p5"/>
          <p:cNvPicPr preferRelativeResize="0"/>
          <p:nvPr/>
        </p:nvPicPr>
        <p:blipFill rotWithShape="1">
          <a:blip r:embed="rId5">
            <a:alphaModFix/>
          </a:blip>
          <a:srcRect b="0" l="0" r="0" t="0"/>
          <a:stretch/>
        </p:blipFill>
        <p:spPr>
          <a:xfrm>
            <a:off x="11176000" y="2159000"/>
            <a:ext cx="254000" cy="254000"/>
          </a:xfrm>
          <a:prstGeom prst="rect">
            <a:avLst/>
          </a:prstGeom>
          <a:noFill/>
          <a:ln>
            <a:noFill/>
          </a:ln>
        </p:spPr>
      </p:pic>
      <p:sp>
        <p:nvSpPr>
          <p:cNvPr id="45" name="Google Shape;45;p5"/>
          <p:cNvSpPr/>
          <p:nvPr/>
        </p:nvSpPr>
        <p:spPr>
          <a:xfrm>
            <a:off x="8305800" y="2146300"/>
            <a:ext cx="2877820"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01C"/>
              </a:buClr>
              <a:buSzPts val="1600"/>
              <a:buFont typeface="Source Sans 3"/>
              <a:buNone/>
            </a:pPr>
            <a:r>
              <a:rPr b="1" i="0" lang="en-US" sz="1600" u="none" cap="none" strike="noStrike">
                <a:solidFill>
                  <a:srgbClr val="B5501C"/>
                </a:solidFill>
                <a:latin typeface="Source Sans 3"/>
                <a:ea typeface="Source Sans 3"/>
                <a:cs typeface="Source Sans 3"/>
                <a:sym typeface="Source Sans 3"/>
              </a:rPr>
              <a:t>Cropland-weighted drought</a:t>
            </a:r>
            <a:endParaRPr b="0" i="0" sz="1600" u="none" cap="none" strike="noStrike">
              <a:solidFill>
                <a:schemeClr val="dk1"/>
              </a:solidFill>
              <a:latin typeface="Calibri"/>
              <a:ea typeface="Calibri"/>
              <a:cs typeface="Calibri"/>
              <a:sym typeface="Calibri"/>
            </a:endParaRPr>
          </a:p>
        </p:txBody>
      </p:sp>
      <p:sp>
        <p:nvSpPr>
          <p:cNvPr id="46" name="Google Shape;46;p5"/>
          <p:cNvSpPr/>
          <p:nvPr/>
        </p:nvSpPr>
        <p:spPr>
          <a:xfrm>
            <a:off x="8305800" y="2603500"/>
            <a:ext cx="3204845" cy="4876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400"/>
              <a:buFont typeface="Source Sans 3"/>
              <a:buNone/>
            </a:pPr>
            <a:r>
              <a:rPr b="0" i="0" lang="en-US" sz="1400" u="none" cap="none" strike="noStrike">
                <a:solidFill>
                  <a:srgbClr val="22332A"/>
                </a:solidFill>
                <a:latin typeface="Source Sans 3"/>
                <a:ea typeface="Source Sans 3"/>
                <a:cs typeface="Source Sans 3"/>
                <a:sym typeface="Source Sans 3"/>
              </a:rPr>
              <a:t>Drought averaged over where crops grow, not over whole countries.</a:t>
            </a:r>
            <a:endParaRPr b="0" i="0" sz="1400" u="none" cap="none" strike="noStrike">
              <a:solidFill>
                <a:schemeClr val="dk1"/>
              </a:solidFill>
              <a:latin typeface="Calibri"/>
              <a:ea typeface="Calibri"/>
              <a:cs typeface="Calibri"/>
              <a:sym typeface="Calibri"/>
            </a:endParaRPr>
          </a:p>
        </p:txBody>
      </p:sp>
      <p:pic>
        <p:nvPicPr>
          <p:cNvPr descr="line" id="47" name="Google Shape;47;p5"/>
          <p:cNvPicPr preferRelativeResize="0"/>
          <p:nvPr/>
        </p:nvPicPr>
        <p:blipFill rotWithShape="1">
          <a:blip r:embed="rId6">
            <a:alphaModFix/>
          </a:blip>
          <a:srcRect b="0" l="-12500" r="-12500" t="0"/>
          <a:stretch/>
        </p:blipFill>
        <p:spPr>
          <a:xfrm>
            <a:off x="546100" y="4038600"/>
            <a:ext cx="11093450" cy="10160"/>
          </a:xfrm>
          <a:prstGeom prst="rect">
            <a:avLst/>
          </a:prstGeom>
          <a:noFill/>
          <a:ln>
            <a:noFill/>
          </a:ln>
        </p:spPr>
      </p:pic>
      <p:sp>
        <p:nvSpPr>
          <p:cNvPr id="48" name="Google Shape;48;p5"/>
          <p:cNvSpPr/>
          <p:nvPr/>
        </p:nvSpPr>
        <p:spPr>
          <a:xfrm>
            <a:off x="546100" y="4254500"/>
            <a:ext cx="2485390" cy="584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D2F23"/>
              </a:buClr>
              <a:buSzPts val="4000"/>
              <a:buFont typeface="Source Serif 4"/>
              <a:buNone/>
            </a:pPr>
            <a:r>
              <a:rPr b="1" i="0" lang="en-US" sz="4000" u="none" cap="none" strike="noStrike">
                <a:solidFill>
                  <a:srgbClr val="1D2F23"/>
                </a:solidFill>
                <a:latin typeface="Source Serif 4"/>
                <a:ea typeface="Source Serif 4"/>
                <a:cs typeface="Source Serif 4"/>
                <a:sym typeface="Source Serif 4"/>
              </a:rPr>
              <a:t>107</a:t>
            </a:r>
            <a:endParaRPr b="0" i="0" sz="4000" u="none" cap="none" strike="noStrike">
              <a:solidFill>
                <a:schemeClr val="dk1"/>
              </a:solidFill>
              <a:latin typeface="Calibri"/>
              <a:ea typeface="Calibri"/>
              <a:cs typeface="Calibri"/>
              <a:sym typeface="Calibri"/>
            </a:endParaRPr>
          </a:p>
        </p:txBody>
      </p:sp>
      <p:sp>
        <p:nvSpPr>
          <p:cNvPr id="49" name="Google Shape;49;p5"/>
          <p:cNvSpPr/>
          <p:nvPr/>
        </p:nvSpPr>
        <p:spPr>
          <a:xfrm>
            <a:off x="546100" y="4984750"/>
            <a:ext cx="2485390" cy="27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A50"/>
              </a:buClr>
              <a:buSzPts val="1400"/>
              <a:buFont typeface="Source Sans 3"/>
              <a:buNone/>
            </a:pPr>
            <a:r>
              <a:rPr b="0" i="0" lang="en-US" sz="1400" u="none" cap="none" strike="noStrike">
                <a:solidFill>
                  <a:srgbClr val="4E5A50"/>
                </a:solidFill>
                <a:latin typeface="Source Sans 3"/>
                <a:ea typeface="Source Sans 3"/>
                <a:cs typeface="Source Sans 3"/>
                <a:sym typeface="Source Sans 3"/>
              </a:rPr>
              <a:t>countries</a:t>
            </a:r>
            <a:endParaRPr b="0" i="0" sz="1400" u="none" cap="none" strike="noStrike">
              <a:solidFill>
                <a:schemeClr val="dk1"/>
              </a:solidFill>
              <a:latin typeface="Calibri"/>
              <a:ea typeface="Calibri"/>
              <a:cs typeface="Calibri"/>
              <a:sym typeface="Calibri"/>
            </a:endParaRPr>
          </a:p>
        </p:txBody>
      </p:sp>
      <p:sp>
        <p:nvSpPr>
          <p:cNvPr id="50" name="Google Shape;50;p5"/>
          <p:cNvSpPr/>
          <p:nvPr/>
        </p:nvSpPr>
        <p:spPr>
          <a:xfrm>
            <a:off x="3384550" y="4254500"/>
            <a:ext cx="2485390" cy="584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D2F23"/>
              </a:buClr>
              <a:buSzPts val="4000"/>
              <a:buFont typeface="Source Serif 4"/>
              <a:buNone/>
            </a:pPr>
            <a:r>
              <a:rPr b="1" i="0" lang="en-US" sz="4000" u="none" cap="none" strike="noStrike">
                <a:solidFill>
                  <a:srgbClr val="1D2F23"/>
                </a:solidFill>
                <a:latin typeface="Source Serif 4"/>
                <a:ea typeface="Source Serif 4"/>
                <a:cs typeface="Source Serif 4"/>
                <a:sym typeface="Source Serif 4"/>
              </a:rPr>
              <a:t>157</a:t>
            </a:r>
            <a:endParaRPr b="0" i="0" sz="4000" u="none" cap="none" strike="noStrike">
              <a:solidFill>
                <a:schemeClr val="dk1"/>
              </a:solidFill>
              <a:latin typeface="Calibri"/>
              <a:ea typeface="Calibri"/>
              <a:cs typeface="Calibri"/>
              <a:sym typeface="Calibri"/>
            </a:endParaRPr>
          </a:p>
        </p:txBody>
      </p:sp>
      <p:sp>
        <p:nvSpPr>
          <p:cNvPr id="51" name="Google Shape;51;p5"/>
          <p:cNvSpPr/>
          <p:nvPr/>
        </p:nvSpPr>
        <p:spPr>
          <a:xfrm>
            <a:off x="3384550" y="4984750"/>
            <a:ext cx="2485390" cy="27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A50"/>
              </a:buClr>
              <a:buSzPts val="1400"/>
              <a:buFont typeface="Source Sans 3"/>
              <a:buNone/>
            </a:pPr>
            <a:r>
              <a:rPr b="0" i="0" lang="en-US" sz="1400" u="none" cap="none" strike="noStrike">
                <a:solidFill>
                  <a:srgbClr val="4E5A50"/>
                </a:solidFill>
                <a:latin typeface="Source Sans 3"/>
                <a:ea typeface="Source Sans 3"/>
                <a:cs typeface="Source Sans 3"/>
                <a:sym typeface="Source Sans 3"/>
              </a:rPr>
              <a:t>crops</a:t>
            </a:r>
            <a:endParaRPr b="0" i="0" sz="1400" u="none" cap="none" strike="noStrike">
              <a:solidFill>
                <a:schemeClr val="dk1"/>
              </a:solidFill>
              <a:latin typeface="Calibri"/>
              <a:ea typeface="Calibri"/>
              <a:cs typeface="Calibri"/>
              <a:sym typeface="Calibri"/>
            </a:endParaRPr>
          </a:p>
        </p:txBody>
      </p:sp>
      <p:sp>
        <p:nvSpPr>
          <p:cNvPr id="52" name="Google Shape;52;p5"/>
          <p:cNvSpPr/>
          <p:nvPr/>
        </p:nvSpPr>
        <p:spPr>
          <a:xfrm>
            <a:off x="6216650" y="4254500"/>
            <a:ext cx="2812415" cy="584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D2F23"/>
              </a:buClr>
              <a:buSzPts val="4000"/>
              <a:buFont typeface="Source Serif 4"/>
              <a:buNone/>
            </a:pPr>
            <a:r>
              <a:rPr b="1" i="0" lang="en-US" sz="4000" u="none" cap="none" strike="noStrike">
                <a:solidFill>
                  <a:srgbClr val="1D2F23"/>
                </a:solidFill>
                <a:latin typeface="Source Serif 4"/>
                <a:ea typeface="Source Serif 4"/>
                <a:cs typeface="Source Serif 4"/>
                <a:sym typeface="Source Serif 4"/>
              </a:rPr>
              <a:t>1993–2023</a:t>
            </a:r>
            <a:endParaRPr b="0" i="0" sz="4000" u="none" cap="none" strike="noStrike">
              <a:solidFill>
                <a:schemeClr val="dk1"/>
              </a:solidFill>
              <a:latin typeface="Calibri"/>
              <a:ea typeface="Calibri"/>
              <a:cs typeface="Calibri"/>
              <a:sym typeface="Calibri"/>
            </a:endParaRPr>
          </a:p>
        </p:txBody>
      </p:sp>
      <p:sp>
        <p:nvSpPr>
          <p:cNvPr id="53" name="Google Shape;53;p5"/>
          <p:cNvSpPr/>
          <p:nvPr/>
        </p:nvSpPr>
        <p:spPr>
          <a:xfrm>
            <a:off x="6216650" y="4984750"/>
            <a:ext cx="2485390" cy="27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A50"/>
              </a:buClr>
              <a:buSzPts val="1400"/>
              <a:buFont typeface="Source Sans 3"/>
              <a:buNone/>
            </a:pPr>
            <a:r>
              <a:rPr b="0" i="0" lang="en-US" sz="1400" u="none" cap="none" strike="noStrike">
                <a:solidFill>
                  <a:srgbClr val="4E5A50"/>
                </a:solidFill>
                <a:latin typeface="Source Sans 3"/>
                <a:ea typeface="Source Sans 3"/>
                <a:cs typeface="Source Sans 3"/>
                <a:sym typeface="Source Sans 3"/>
              </a:rPr>
              <a:t>31 years</a:t>
            </a:r>
            <a:endParaRPr b="0" i="0" sz="1400" u="none" cap="none" strike="noStrike">
              <a:solidFill>
                <a:schemeClr val="dk1"/>
              </a:solidFill>
              <a:latin typeface="Calibri"/>
              <a:ea typeface="Calibri"/>
              <a:cs typeface="Calibri"/>
              <a:sym typeface="Calibri"/>
            </a:endParaRPr>
          </a:p>
        </p:txBody>
      </p:sp>
      <p:sp>
        <p:nvSpPr>
          <p:cNvPr id="54" name="Google Shape;54;p5"/>
          <p:cNvSpPr/>
          <p:nvPr/>
        </p:nvSpPr>
        <p:spPr>
          <a:xfrm>
            <a:off x="9055100" y="4254500"/>
            <a:ext cx="2485390" cy="584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5501C"/>
              </a:buClr>
              <a:buSzPts val="4000"/>
              <a:buFont typeface="Source Serif 4"/>
              <a:buNone/>
            </a:pPr>
            <a:r>
              <a:rPr b="1" i="0" lang="en-US" sz="4000" u="none" cap="none" strike="noStrike">
                <a:solidFill>
                  <a:srgbClr val="B5501C"/>
                </a:solidFill>
                <a:latin typeface="Source Serif 4"/>
                <a:ea typeface="Source Serif 4"/>
                <a:cs typeface="Source Serif 4"/>
                <a:sym typeface="Source Serif 4"/>
              </a:rPr>
              <a:t>232</a:t>
            </a:r>
            <a:endParaRPr b="0" i="0" sz="4000" u="none" cap="none" strike="noStrike">
              <a:solidFill>
                <a:schemeClr val="dk1"/>
              </a:solidFill>
              <a:latin typeface="Calibri"/>
              <a:ea typeface="Calibri"/>
              <a:cs typeface="Calibri"/>
              <a:sym typeface="Calibri"/>
            </a:endParaRPr>
          </a:p>
        </p:txBody>
      </p:sp>
      <p:sp>
        <p:nvSpPr>
          <p:cNvPr id="55" name="Google Shape;55;p5"/>
          <p:cNvSpPr/>
          <p:nvPr/>
        </p:nvSpPr>
        <p:spPr>
          <a:xfrm>
            <a:off x="9055100" y="4984750"/>
            <a:ext cx="2485390" cy="2743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A50"/>
              </a:buClr>
              <a:buSzPts val="1400"/>
              <a:buFont typeface="Source Sans 3"/>
              <a:buNone/>
            </a:pPr>
            <a:r>
              <a:rPr b="0" i="0" lang="en-US" sz="1400" u="none" cap="none" strike="noStrike">
                <a:solidFill>
                  <a:srgbClr val="4E5A50"/>
                </a:solidFill>
                <a:latin typeface="Source Sans 3"/>
                <a:ea typeface="Source Sans 3"/>
                <a:cs typeface="Source Sans 3"/>
                <a:sym typeface="Source Sans 3"/>
              </a:rPr>
              <a:t>drought events analysed</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60" name="Shape 60"/>
        <p:cNvGrpSpPr/>
        <p:nvPr/>
      </p:nvGrpSpPr>
      <p:grpSpPr>
        <a:xfrm>
          <a:off x="0" y="0"/>
          <a:ext cx="0" cy="0"/>
          <a:chOff x="0" y="0"/>
          <a:chExt cx="0" cy="0"/>
        </a:xfrm>
      </p:grpSpPr>
      <p:sp>
        <p:nvSpPr>
          <p:cNvPr id="61" name="Google Shape;61;p6"/>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DATA USED</a:t>
            </a:r>
            <a:endParaRPr b="0" i="0" sz="1000" u="none" cap="none" strike="noStrike">
              <a:solidFill>
                <a:schemeClr val="dk1"/>
              </a:solidFill>
              <a:latin typeface="Calibri"/>
              <a:ea typeface="Calibri"/>
              <a:cs typeface="Calibri"/>
              <a:sym typeface="Calibri"/>
            </a:endParaRPr>
          </a:p>
        </p:txBody>
      </p:sp>
      <p:sp>
        <p:nvSpPr>
          <p:cNvPr id="63" name="Google Shape;63;p6"/>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03 / 26</a:t>
            </a:r>
            <a:endParaRPr b="0" i="0" sz="1000" u="none" cap="none" strike="noStrike">
              <a:solidFill>
                <a:schemeClr val="dk1"/>
              </a:solidFill>
              <a:latin typeface="Calibri"/>
              <a:ea typeface="Calibri"/>
              <a:cs typeface="Calibri"/>
              <a:sym typeface="Calibri"/>
            </a:endParaRPr>
          </a:p>
        </p:txBody>
      </p:sp>
      <p:sp>
        <p:nvSpPr>
          <p:cNvPr id="64" name="Google Shape;64;p6"/>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From four public datasets to country results</a:t>
            </a:r>
            <a:endParaRPr b="0" i="0" sz="2800" u="none" cap="none" strike="noStrike">
              <a:solidFill>
                <a:schemeClr val="dk1"/>
              </a:solidFill>
              <a:latin typeface="Calibri"/>
              <a:ea typeface="Calibri"/>
              <a:cs typeface="Calibri"/>
              <a:sym typeface="Calibri"/>
            </a:endParaRPr>
          </a:p>
        </p:txBody>
      </p:sp>
      <p:sp>
        <p:nvSpPr>
          <p:cNvPr id="65" name="Google Shape;65;p6"/>
          <p:cNvSpPr/>
          <p:nvPr/>
        </p:nvSpPr>
        <p:spPr>
          <a:xfrm>
            <a:off x="549275" y="1235075"/>
            <a:ext cx="4749800" cy="4794250"/>
          </a:xfrm>
          <a:prstGeom prst="roundRect">
            <a:avLst>
              <a:gd fmla="val 2340"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ipeline diagram: FAOSTAT, WDI, SPEIbase and MapSPAM feed three cleaning scripts, which write the crops, controls and climate tables; these feed the metrics engine, which produces the results and figures and the interactive explorer" id="66" name="Google Shape;66;p6"/>
          <p:cNvPicPr preferRelativeResize="0"/>
          <p:nvPr/>
        </p:nvPicPr>
        <p:blipFill rotWithShape="1">
          <a:blip r:embed="rId3">
            <a:alphaModFix/>
          </a:blip>
          <a:srcRect b="0" l="-36" r="-36" t="0"/>
          <a:stretch/>
        </p:blipFill>
        <p:spPr>
          <a:xfrm>
            <a:off x="679450" y="1346200"/>
            <a:ext cx="4508500" cy="4578350"/>
          </a:xfrm>
          <a:prstGeom prst="rect">
            <a:avLst/>
          </a:prstGeom>
          <a:noFill/>
          <a:ln>
            <a:noFill/>
          </a:ln>
        </p:spPr>
      </p:pic>
      <p:sp>
        <p:nvSpPr>
          <p:cNvPr id="67" name="Google Shape;67;p6"/>
          <p:cNvSpPr/>
          <p:nvPr/>
        </p:nvSpPr>
        <p:spPr>
          <a:xfrm>
            <a:off x="5670550" y="1282700"/>
            <a:ext cx="5943600" cy="1794510"/>
          </a:xfrm>
          <a:prstGeom prst="roundRect">
            <a:avLst>
              <a:gd fmla="val 4246" name="adj"/>
            </a:avLst>
          </a:prstGeom>
          <a:solidFill>
            <a:srgbClr val="FFFFFF"/>
          </a:solidFill>
          <a:ln>
            <a:noFill/>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a:off x="5670550" y="1282700"/>
            <a:ext cx="5943600" cy="1794510"/>
          </a:xfrm>
          <a:custGeom>
            <a:rect b="b" l="l" r="r" t="t"/>
            <a:pathLst>
              <a:path extrusionOk="0" h="1794510" w="5943600">
                <a:moveTo>
                  <a:pt x="76200" y="1794510"/>
                </a:moveTo>
                <a:lnTo>
                  <a:pt x="76200" y="1794510"/>
                </a:lnTo>
                <a:cubicBezTo>
                  <a:pt x="34116" y="1794510"/>
                  <a:pt x="0" y="1760394"/>
                  <a:pt x="0" y="1718310"/>
                </a:cubicBezTo>
                <a:lnTo>
                  <a:pt x="0" y="76200"/>
                </a:lnTo>
                <a:cubicBezTo>
                  <a:pt x="0" y="34116"/>
                  <a:pt x="34116" y="0"/>
                  <a:pt x="76200" y="0"/>
                </a:cubicBezTo>
                <a:lnTo>
                  <a:pt x="5867400" y="0"/>
                </a:lnTo>
                <a:cubicBezTo>
                  <a:pt x="5887609" y="0"/>
                  <a:pt x="5906991" y="8028"/>
                  <a:pt x="5921282" y="22318"/>
                </a:cubicBezTo>
                <a:cubicBezTo>
                  <a:pt x="5935572" y="36609"/>
                  <a:pt x="5943600" y="55991"/>
                  <a:pt x="5943600" y="76200"/>
                </a:cubicBezTo>
                <a:lnTo>
                  <a:pt x="5943600" y="76200"/>
                </a:lnTo>
                <a:cubicBezTo>
                  <a:pt x="5943600" y="39727"/>
                  <a:pt x="5909484" y="10160"/>
                  <a:pt x="5867400" y="10160"/>
                </a:cubicBezTo>
                <a:lnTo>
                  <a:pt x="76200" y="10160"/>
                </a:lnTo>
                <a:cubicBezTo>
                  <a:pt x="39727" y="10160"/>
                  <a:pt x="10160" y="39727"/>
                  <a:pt x="10160" y="76200"/>
                </a:cubicBezTo>
                <a:lnTo>
                  <a:pt x="10160" y="1718310"/>
                </a:lnTo>
                <a:cubicBezTo>
                  <a:pt x="10160" y="1760394"/>
                  <a:pt x="39727" y="1794510"/>
                  <a:pt x="76200" y="1794510"/>
                </a:cubicBezTo>
                <a:close/>
              </a:path>
            </a:pathLst>
          </a:custGeom>
          <a:solidFill>
            <a:srgbClr val="141413">
              <a:alpha val="2196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69" name="Google Shape;69;p6"/>
          <p:cNvGraphicFramePr/>
          <p:nvPr/>
        </p:nvGraphicFramePr>
        <p:xfrm>
          <a:off x="5680710" y="1292860"/>
          <a:ext cx="3000000" cy="3000000"/>
        </p:xfrm>
        <a:graphic>
          <a:graphicData uri="http://schemas.openxmlformats.org/drawingml/2006/table">
            <a:tbl>
              <a:tblPr>
                <a:noFill/>
                <a:tableStyleId>{6971264A-8B6E-4569-9D24-C3ED2D4DDA7A}</a:tableStyleId>
              </a:tblPr>
              <a:tblGrid>
                <a:gridCol w="2136050"/>
                <a:gridCol w="3797400"/>
              </a:tblGrid>
              <a:tr h="356875">
                <a:tc>
                  <a:txBody>
                    <a:bodyPr/>
                    <a:lstStyle/>
                    <a:p>
                      <a:pPr indent="0" lvl="0" marL="0" marR="0" rtl="0" algn="l">
                        <a:lnSpc>
                          <a:spcPct val="140000"/>
                        </a:lnSpc>
                        <a:spcBef>
                          <a:spcPts val="0"/>
                        </a:spcBef>
                        <a:spcAft>
                          <a:spcPts val="0"/>
                        </a:spcAft>
                        <a:buClr>
                          <a:srgbClr val="F1EEE4"/>
                        </a:buClr>
                        <a:buSzPts val="1300"/>
                        <a:buFont typeface="Source Sans 3"/>
                        <a:buNone/>
                      </a:pPr>
                      <a:r>
                        <a:rPr b="1" lang="en-US" sz="1300" u="none" cap="none" strike="noStrike">
                          <a:solidFill>
                            <a:srgbClr val="F1EEE4"/>
                          </a:solidFill>
                          <a:latin typeface="Source Sans 3"/>
                          <a:ea typeface="Source Sans 3"/>
                          <a:cs typeface="Source Sans 3"/>
                          <a:sym typeface="Source Sans 3"/>
                        </a:rPr>
                        <a:t>Source</a:t>
                      </a:r>
                      <a:endParaRPr sz="1300" u="none" cap="none" strike="noStrike">
                        <a:latin typeface="Source Sans 3"/>
                        <a:ea typeface="Source Sans 3"/>
                        <a:cs typeface="Source Sans 3"/>
                        <a:sym typeface="Source Sans 3"/>
                      </a:endParaRPr>
                    </a:p>
                  </a:txBody>
                  <a:tcPr marT="57775" marB="57775" marR="57775" marL="57775">
                    <a:lnL cap="flat" cmpd="sng" w="9525">
                      <a:solidFill>
                        <a:srgbClr val="000000">
                          <a:alpha val="0"/>
                        </a:srgbClr>
                      </a:solidFill>
                      <a:prstDash val="solid"/>
                      <a:round/>
                      <a:headEnd len="sm" w="sm" type="none"/>
                      <a:tailEnd len="sm" w="sm" type="none"/>
                    </a:lnL>
                    <a:lnR cap="flat" cmpd="sng" w="12700">
                      <a:solidFill>
                        <a:srgbClr val="1B291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1B291F"/>
                      </a:solidFill>
                      <a:prstDash val="solid"/>
                      <a:round/>
                      <a:headEnd len="sm" w="sm" type="none"/>
                      <a:tailEnd len="sm" w="sm" type="none"/>
                    </a:lnB>
                    <a:solidFill>
                      <a:srgbClr val="1D2F23"/>
                    </a:solidFill>
                  </a:tcPr>
                </a:tc>
                <a:tc>
                  <a:txBody>
                    <a:bodyPr/>
                    <a:lstStyle/>
                    <a:p>
                      <a:pPr indent="0" lvl="0" marL="0" marR="0" rtl="0" algn="l">
                        <a:lnSpc>
                          <a:spcPct val="140000"/>
                        </a:lnSpc>
                        <a:spcBef>
                          <a:spcPts val="0"/>
                        </a:spcBef>
                        <a:spcAft>
                          <a:spcPts val="0"/>
                        </a:spcAft>
                        <a:buClr>
                          <a:srgbClr val="F1EEE4"/>
                        </a:buClr>
                        <a:buSzPts val="1300"/>
                        <a:buFont typeface="Source Sans 3"/>
                        <a:buNone/>
                      </a:pPr>
                      <a:r>
                        <a:rPr b="1" lang="en-US" sz="1300" u="none" cap="none" strike="noStrike">
                          <a:solidFill>
                            <a:srgbClr val="F1EEE4"/>
                          </a:solidFill>
                          <a:latin typeface="Source Sans 3"/>
                          <a:ea typeface="Source Sans 3"/>
                          <a:cs typeface="Source Sans 3"/>
                          <a:sym typeface="Source Sans 3"/>
                        </a:rPr>
                        <a:t>Used for</a:t>
                      </a:r>
                      <a:endParaRPr sz="1300" u="none" cap="none" strike="noStrike">
                        <a:latin typeface="Source Sans 3"/>
                        <a:ea typeface="Source Sans 3"/>
                        <a:cs typeface="Source Sans 3"/>
                        <a:sym typeface="Source Sans 3"/>
                      </a:endParaRPr>
                    </a:p>
                  </a:txBody>
                  <a:tcPr marT="57775" marB="57775" marR="57775" marL="57775">
                    <a:lnL cap="flat" cmpd="sng" w="12700">
                      <a:solidFill>
                        <a:srgbClr val="1B291F"/>
                      </a:solidFill>
                      <a:prstDash val="solid"/>
                      <a:round/>
                      <a:headEnd len="sm" w="sm" type="none"/>
                      <a:tailEnd len="sm" w="sm" type="none"/>
                    </a:lnL>
                    <a:lnR cap="flat" cmpd="sng" w="12700">
                      <a:solidFill>
                        <a:srgbClr val="1B291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1B291F"/>
                      </a:solidFill>
                      <a:prstDash val="solid"/>
                      <a:round/>
                      <a:headEnd len="sm" w="sm" type="none"/>
                      <a:tailEnd len="sm" w="sm" type="none"/>
                    </a:lnB>
                    <a:solidFill>
                      <a:srgbClr val="1D2F23"/>
                    </a:solidFill>
                  </a:tcPr>
                </a:tc>
              </a:tr>
              <a:tr h="356875">
                <a:tc>
                  <a:txBody>
                    <a:bodyPr/>
                    <a:lstStyle/>
                    <a:p>
                      <a:pPr indent="0" lvl="0" marL="0" marR="0" rtl="0" algn="l">
                        <a:lnSpc>
                          <a:spcPct val="140000"/>
                        </a:lnSpc>
                        <a:spcBef>
                          <a:spcPts val="0"/>
                        </a:spcBef>
                        <a:spcAft>
                          <a:spcPts val="0"/>
                        </a:spcAft>
                        <a:buClr>
                          <a:srgbClr val="22332A"/>
                        </a:buClr>
                        <a:buSzPts val="1300"/>
                        <a:buFont typeface="Source Sans 3"/>
                        <a:buNone/>
                      </a:pPr>
                      <a:r>
                        <a:rPr lang="en-US" sz="1300" u="none" cap="none" strike="noStrike">
                          <a:solidFill>
                            <a:srgbClr val="22332A"/>
                          </a:solidFill>
                          <a:latin typeface="Source Sans 3"/>
                          <a:ea typeface="Source Sans 3"/>
                          <a:cs typeface="Source Sans 3"/>
                          <a:sym typeface="Source Sans 3"/>
                        </a:rPr>
                        <a:t>FAOSTAT</a:t>
                      </a:r>
                      <a:endParaRPr sz="1300" u="none" cap="none" strike="noStrike">
                        <a:latin typeface="Source Sans 3"/>
                        <a:ea typeface="Source Sans 3"/>
                        <a:cs typeface="Source Sans 3"/>
                        <a:sym typeface="Source Sans 3"/>
                      </a:endParaRPr>
                    </a:p>
                  </a:txBody>
                  <a:tcPr marT="57775" marB="57775" marR="57775" marL="57775">
                    <a:lnL cap="flat" cmpd="sng" w="9525">
                      <a:solidFill>
                        <a:srgbClr val="000000">
                          <a:alpha val="0"/>
                        </a:srgbClr>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B291F"/>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22332A"/>
                        </a:buClr>
                        <a:buSzPts val="1300"/>
                        <a:buFont typeface="Source Sans 3"/>
                        <a:buNone/>
                      </a:pPr>
                      <a:r>
                        <a:rPr lang="en-US" sz="1300" u="none" cap="none" strike="noStrike">
                          <a:solidFill>
                            <a:srgbClr val="22332A"/>
                          </a:solidFill>
                          <a:latin typeface="Source Sans 3"/>
                          <a:ea typeface="Source Sans 3"/>
                          <a:cs typeface="Source Sans 3"/>
                          <a:sym typeface="Source Sans 3"/>
                        </a:rPr>
                        <a:t>Crop area, production and value</a:t>
                      </a:r>
                      <a:endParaRPr sz="1300" u="none" cap="none" strike="noStrike">
                        <a:latin typeface="Source Sans 3"/>
                        <a:ea typeface="Source Sans 3"/>
                        <a:cs typeface="Source Sans 3"/>
                        <a:sym typeface="Source Sans 3"/>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B291F"/>
                      </a:solidFill>
                      <a:prstDash val="solid"/>
                      <a:round/>
                      <a:headEnd len="sm" w="sm" type="none"/>
                      <a:tailEnd len="sm" w="sm" type="none"/>
                    </a:lnT>
                    <a:lnB cap="flat" cmpd="sng" w="12700">
                      <a:solidFill>
                        <a:srgbClr val="CBCBCB"/>
                      </a:solidFill>
                      <a:prstDash val="solid"/>
                      <a:round/>
                      <a:headEnd len="sm" w="sm" type="none"/>
                      <a:tailEnd len="sm" w="sm" type="none"/>
                    </a:lnB>
                  </a:tcPr>
                </a:tc>
              </a:tr>
              <a:tr h="356875">
                <a:tc>
                  <a:txBody>
                    <a:bodyPr/>
                    <a:lstStyle/>
                    <a:p>
                      <a:pPr indent="0" lvl="0" marL="0" marR="0" rtl="0" algn="l">
                        <a:lnSpc>
                          <a:spcPct val="140000"/>
                        </a:lnSpc>
                        <a:spcBef>
                          <a:spcPts val="0"/>
                        </a:spcBef>
                        <a:spcAft>
                          <a:spcPts val="0"/>
                        </a:spcAft>
                        <a:buClr>
                          <a:srgbClr val="22332A"/>
                        </a:buClr>
                        <a:buSzPts val="1300"/>
                        <a:buFont typeface="Source Sans 3"/>
                        <a:buNone/>
                      </a:pPr>
                      <a:r>
                        <a:rPr lang="en-US" sz="1300" u="none" cap="none" strike="noStrike">
                          <a:solidFill>
                            <a:srgbClr val="22332A"/>
                          </a:solidFill>
                          <a:latin typeface="Source Sans 3"/>
                          <a:ea typeface="Source Sans 3"/>
                          <a:cs typeface="Source Sans 3"/>
                          <a:sym typeface="Source Sans 3"/>
                        </a:rPr>
                        <a:t>SPEIbase v2.10</a:t>
                      </a:r>
                      <a:endParaRPr sz="1300" u="none" cap="none" strike="noStrike">
                        <a:latin typeface="Source Sans 3"/>
                        <a:ea typeface="Source Sans 3"/>
                        <a:cs typeface="Source Sans 3"/>
                        <a:sym typeface="Source Sans 3"/>
                      </a:endParaRPr>
                    </a:p>
                  </a:txBody>
                  <a:tcPr marT="57775" marB="57775" marR="57775" marL="57775">
                    <a:lnL cap="flat" cmpd="sng" w="9525">
                      <a:solidFill>
                        <a:srgbClr val="000000">
                          <a:alpha val="0"/>
                        </a:srgbClr>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4C1BB"/>
                      </a:solidFill>
                      <a:prstDash val="solid"/>
                      <a:round/>
                      <a:headEnd len="sm" w="sm" type="none"/>
                      <a:tailEnd len="sm" w="sm" type="none"/>
                    </a:lnB>
                    <a:solidFill>
                      <a:srgbClr val="F5F2EA"/>
                    </a:solidFill>
                  </a:tcPr>
                </a:tc>
                <a:tc>
                  <a:txBody>
                    <a:bodyPr/>
                    <a:lstStyle/>
                    <a:p>
                      <a:pPr indent="0" lvl="0" marL="0" marR="0" rtl="0" algn="l">
                        <a:lnSpc>
                          <a:spcPct val="140000"/>
                        </a:lnSpc>
                        <a:spcBef>
                          <a:spcPts val="0"/>
                        </a:spcBef>
                        <a:spcAft>
                          <a:spcPts val="0"/>
                        </a:spcAft>
                        <a:buClr>
                          <a:srgbClr val="22332A"/>
                        </a:buClr>
                        <a:buSzPts val="1300"/>
                        <a:buFont typeface="Source Sans 3"/>
                        <a:buNone/>
                      </a:pPr>
                      <a:r>
                        <a:rPr lang="en-US" sz="1300" u="none" cap="none" strike="noStrike">
                          <a:solidFill>
                            <a:srgbClr val="22332A"/>
                          </a:solidFill>
                          <a:latin typeface="Source Sans 3"/>
                          <a:ea typeface="Source Sans 3"/>
                          <a:cs typeface="Source Sans 3"/>
                          <a:sym typeface="Source Sans 3"/>
                        </a:rPr>
                        <a:t>Drought index on a 0.5° grid</a:t>
                      </a:r>
                      <a:endParaRPr sz="1300" u="none" cap="none" strike="noStrike">
                        <a:latin typeface="Source Sans 3"/>
                        <a:ea typeface="Source Sans 3"/>
                        <a:cs typeface="Source Sans 3"/>
                        <a:sym typeface="Source Sans 3"/>
                      </a:endParaRPr>
                    </a:p>
                  </a:txBody>
                  <a:tcPr marT="57775" marB="57775" marR="57775" marL="57775">
                    <a:lnL cap="flat" cmpd="sng" w="12700">
                      <a:solidFill>
                        <a:srgbClr val="C4C1BB"/>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4C1BB"/>
                      </a:solidFill>
                      <a:prstDash val="solid"/>
                      <a:round/>
                      <a:headEnd len="sm" w="sm" type="none"/>
                      <a:tailEnd len="sm" w="sm" type="none"/>
                    </a:lnB>
                    <a:solidFill>
                      <a:srgbClr val="F5F2EA"/>
                    </a:solidFill>
                  </a:tcPr>
                </a:tc>
              </a:tr>
              <a:tr h="356875">
                <a:tc>
                  <a:txBody>
                    <a:bodyPr/>
                    <a:lstStyle/>
                    <a:p>
                      <a:pPr indent="0" lvl="0" marL="0" marR="0" rtl="0" algn="l">
                        <a:lnSpc>
                          <a:spcPct val="140000"/>
                        </a:lnSpc>
                        <a:spcBef>
                          <a:spcPts val="0"/>
                        </a:spcBef>
                        <a:spcAft>
                          <a:spcPts val="0"/>
                        </a:spcAft>
                        <a:buClr>
                          <a:srgbClr val="22332A"/>
                        </a:buClr>
                        <a:buSzPts val="1300"/>
                        <a:buFont typeface="Source Sans 3"/>
                        <a:buNone/>
                      </a:pPr>
                      <a:r>
                        <a:rPr lang="en-US" sz="1300" u="none" cap="none" strike="noStrike">
                          <a:solidFill>
                            <a:srgbClr val="22332A"/>
                          </a:solidFill>
                          <a:latin typeface="Source Sans 3"/>
                          <a:ea typeface="Source Sans 3"/>
                          <a:cs typeface="Source Sans 3"/>
                          <a:sym typeface="Source Sans 3"/>
                        </a:rPr>
                        <a:t>MapSPAM 2020</a:t>
                      </a:r>
                      <a:endParaRPr sz="1300" u="none" cap="none" strike="noStrike">
                        <a:latin typeface="Source Sans 3"/>
                        <a:ea typeface="Source Sans 3"/>
                        <a:cs typeface="Source Sans 3"/>
                        <a:sym typeface="Source Sans 3"/>
                      </a:endParaRPr>
                    </a:p>
                  </a:txBody>
                  <a:tcPr marT="57775" marB="57775" marR="57775" marL="57775">
                    <a:lnL cap="flat" cmpd="sng" w="9525">
                      <a:solidFill>
                        <a:srgbClr val="000000">
                          <a:alpha val="0"/>
                        </a:srgbClr>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4C1BB"/>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22332A"/>
                        </a:buClr>
                        <a:buSzPts val="1300"/>
                        <a:buFont typeface="Source Sans 3"/>
                        <a:buNone/>
                      </a:pPr>
                      <a:r>
                        <a:rPr lang="en-US" sz="1300" u="none" cap="none" strike="noStrike">
                          <a:solidFill>
                            <a:srgbClr val="22332A"/>
                          </a:solidFill>
                          <a:latin typeface="Source Sans 3"/>
                          <a:ea typeface="Source Sans 3"/>
                          <a:cs typeface="Source Sans 3"/>
                          <a:sym typeface="Source Sans 3"/>
                        </a:rPr>
                        <a:t>Where each of 46 crops grows</a:t>
                      </a:r>
                      <a:endParaRPr sz="1300" u="none" cap="none" strike="noStrike">
                        <a:latin typeface="Source Sans 3"/>
                        <a:ea typeface="Source Sans 3"/>
                        <a:cs typeface="Source Sans 3"/>
                        <a:sym typeface="Source Sans 3"/>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4C1BB"/>
                      </a:solidFill>
                      <a:prstDash val="solid"/>
                      <a:round/>
                      <a:headEnd len="sm" w="sm" type="none"/>
                      <a:tailEnd len="sm" w="sm" type="none"/>
                    </a:lnT>
                    <a:lnB cap="flat" cmpd="sng" w="12700">
                      <a:solidFill>
                        <a:srgbClr val="CBCBCB"/>
                      </a:solidFill>
                      <a:prstDash val="solid"/>
                      <a:round/>
                      <a:headEnd len="sm" w="sm" type="none"/>
                      <a:tailEnd len="sm" w="sm" type="none"/>
                    </a:lnB>
                  </a:tcPr>
                </a:tc>
              </a:tr>
              <a:tr h="356875">
                <a:tc>
                  <a:txBody>
                    <a:bodyPr/>
                    <a:lstStyle/>
                    <a:p>
                      <a:pPr indent="0" lvl="0" marL="0" marR="0" rtl="0" algn="l">
                        <a:lnSpc>
                          <a:spcPct val="140000"/>
                        </a:lnSpc>
                        <a:spcBef>
                          <a:spcPts val="0"/>
                        </a:spcBef>
                        <a:spcAft>
                          <a:spcPts val="0"/>
                        </a:spcAft>
                        <a:buClr>
                          <a:srgbClr val="22332A"/>
                        </a:buClr>
                        <a:buSzPts val="1300"/>
                        <a:buFont typeface="Source Sans 3"/>
                        <a:buNone/>
                      </a:pPr>
                      <a:r>
                        <a:rPr lang="en-US" sz="1300" u="none" cap="none" strike="noStrike">
                          <a:solidFill>
                            <a:srgbClr val="22332A"/>
                          </a:solidFill>
                          <a:latin typeface="Source Sans 3"/>
                          <a:ea typeface="Source Sans 3"/>
                          <a:cs typeface="Source Sans 3"/>
                          <a:sym typeface="Source Sans 3"/>
                        </a:rPr>
                        <a:t>World Bank WDI</a:t>
                      </a:r>
                      <a:endParaRPr sz="1300" u="none" cap="none" strike="noStrike">
                        <a:latin typeface="Source Sans 3"/>
                        <a:ea typeface="Source Sans 3"/>
                        <a:cs typeface="Source Sans 3"/>
                        <a:sym typeface="Source Sans 3"/>
                      </a:endParaRPr>
                    </a:p>
                  </a:txBody>
                  <a:tcPr marT="57775" marB="57775" marR="57775" marL="57775">
                    <a:lnL cap="flat" cmpd="sng" w="9525">
                      <a:solidFill>
                        <a:srgbClr val="000000">
                          <a:alpha val="0"/>
                        </a:srgbClr>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4C1BB"/>
                      </a:solidFill>
                      <a:prstDash val="solid"/>
                      <a:round/>
                      <a:headEnd len="sm" w="sm" type="none"/>
                      <a:tailEnd len="sm" w="sm" type="none"/>
                    </a:lnB>
                    <a:solidFill>
                      <a:srgbClr val="F5F2EA"/>
                    </a:solidFill>
                  </a:tcPr>
                </a:tc>
                <a:tc>
                  <a:txBody>
                    <a:bodyPr/>
                    <a:lstStyle/>
                    <a:p>
                      <a:pPr indent="0" lvl="0" marL="0" marR="0" rtl="0" algn="l">
                        <a:lnSpc>
                          <a:spcPct val="140000"/>
                        </a:lnSpc>
                        <a:spcBef>
                          <a:spcPts val="0"/>
                        </a:spcBef>
                        <a:spcAft>
                          <a:spcPts val="0"/>
                        </a:spcAft>
                        <a:buClr>
                          <a:srgbClr val="22332A"/>
                        </a:buClr>
                        <a:buSzPts val="1300"/>
                        <a:buFont typeface="Source Sans 3"/>
                        <a:buNone/>
                      </a:pPr>
                      <a:r>
                        <a:rPr lang="en-US" sz="1300" u="none" cap="none" strike="noStrike">
                          <a:solidFill>
                            <a:srgbClr val="22332A"/>
                          </a:solidFill>
                          <a:latin typeface="Source Sans 3"/>
                          <a:ea typeface="Source Sans 3"/>
                          <a:cs typeface="Source Sans 3"/>
                          <a:sym typeface="Source Sans 3"/>
                        </a:rPr>
                        <a:t>Income and fertiliser use</a:t>
                      </a:r>
                      <a:endParaRPr sz="1300" u="none" cap="none" strike="noStrike">
                        <a:latin typeface="Source Sans 3"/>
                        <a:ea typeface="Source Sans 3"/>
                        <a:cs typeface="Source Sans 3"/>
                        <a:sym typeface="Source Sans 3"/>
                      </a:endParaRPr>
                    </a:p>
                  </a:txBody>
                  <a:tcPr marT="57775" marB="57775" marR="57775" marL="57775">
                    <a:lnL cap="flat" cmpd="sng" w="12700">
                      <a:solidFill>
                        <a:srgbClr val="C4C1BB"/>
                      </a:solidFill>
                      <a:prstDash val="solid"/>
                      <a:round/>
                      <a:headEnd len="sm" w="sm" type="none"/>
                      <a:tailEnd len="sm" w="sm" type="none"/>
                    </a:lnL>
                    <a:lnR cap="flat" cmpd="sng" w="12700">
                      <a:solidFill>
                        <a:srgbClr val="C4C1B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4C1BB"/>
                      </a:solidFill>
                      <a:prstDash val="solid"/>
                      <a:round/>
                      <a:headEnd len="sm" w="sm" type="none"/>
                      <a:tailEnd len="sm" w="sm" type="none"/>
                    </a:lnB>
                    <a:solidFill>
                      <a:srgbClr val="F5F2EA"/>
                    </a:solidFill>
                  </a:tcPr>
                </a:tc>
              </a:tr>
            </a:tbl>
          </a:graphicData>
        </a:graphic>
      </p:graphicFrame>
      <p:sp>
        <p:nvSpPr>
          <p:cNvPr id="70" name="Google Shape;70;p6"/>
          <p:cNvSpPr/>
          <p:nvPr/>
        </p:nvSpPr>
        <p:spPr>
          <a:xfrm>
            <a:off x="5670550" y="3473450"/>
            <a:ext cx="6121908" cy="4876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400"/>
              <a:buFont typeface="Source Sans 3"/>
              <a:buNone/>
            </a:pPr>
            <a:r>
              <a:rPr b="0" i="0" lang="en-US" sz="1400" u="none" cap="none" strike="noStrike">
                <a:solidFill>
                  <a:srgbClr val="22332A"/>
                </a:solidFill>
                <a:latin typeface="Source Sans 3"/>
                <a:ea typeface="Source Sans 3"/>
                <a:cs typeface="Source Sans 3"/>
                <a:sym typeface="Source Sans 3"/>
              </a:rPr>
              <a:t>Every step is a script that checks its own output. The results feed the figures in this deck and an interactive country explorer.</a:t>
            </a:r>
            <a:endParaRPr b="0" i="0" sz="1400" u="none" cap="none" strike="noStrike">
              <a:solidFill>
                <a:schemeClr val="dk1"/>
              </a:solidFill>
              <a:latin typeface="Calibri"/>
              <a:ea typeface="Calibri"/>
              <a:cs typeface="Calibri"/>
              <a:sym typeface="Calibri"/>
            </a:endParaRPr>
          </a:p>
        </p:txBody>
      </p:sp>
      <p:sp>
        <p:nvSpPr>
          <p:cNvPr id="71" name="Google Shape;71;p6"/>
          <p:cNvSpPr/>
          <p:nvPr/>
        </p:nvSpPr>
        <p:spPr>
          <a:xfrm>
            <a:off x="5670550" y="4343400"/>
            <a:ext cx="6121908" cy="45466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B6B60"/>
              </a:buClr>
              <a:buSzPts val="1300"/>
              <a:buFont typeface="Source Sans 3"/>
              <a:buNone/>
            </a:pPr>
            <a:r>
              <a:rPr b="0" i="0" lang="en-US" sz="1300" u="none" cap="none" strike="noStrike">
                <a:solidFill>
                  <a:srgbClr val="6B6B60"/>
                </a:solidFill>
                <a:latin typeface="Source Sans 3"/>
                <a:ea typeface="Source Sans 3"/>
                <a:cs typeface="Source Sans 3"/>
                <a:sym typeface="Source Sans 3"/>
              </a:rPr>
              <a:t>Also used: Natural Earth admin-0 boundaries for country shapes. FAOSTAT supplies QCL (production), QV (value of production) and RL (land use).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76" name="Shape 76"/>
        <p:cNvGrpSpPr/>
        <p:nvPr/>
      </p:nvGrpSpPr>
      <p:grpSpPr>
        <a:xfrm>
          <a:off x="0" y="0"/>
          <a:ext cx="0" cy="0"/>
          <a:chOff x="0" y="0"/>
          <a:chExt cx="0" cy="0"/>
        </a:xfrm>
      </p:grpSpPr>
      <p:sp>
        <p:nvSpPr>
          <p:cNvPr id="77" name="Google Shape;77;p7"/>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7"/>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DATA USED</a:t>
            </a:r>
            <a:endParaRPr b="0" i="0" sz="1000" u="none" cap="none" strike="noStrike">
              <a:solidFill>
                <a:schemeClr val="dk1"/>
              </a:solidFill>
              <a:latin typeface="Calibri"/>
              <a:ea typeface="Calibri"/>
              <a:cs typeface="Calibri"/>
              <a:sym typeface="Calibri"/>
            </a:endParaRPr>
          </a:p>
        </p:txBody>
      </p:sp>
      <p:sp>
        <p:nvSpPr>
          <p:cNvPr id="79" name="Google Shape;79;p7"/>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04 / 26</a:t>
            </a:r>
            <a:endParaRPr b="0" i="0" sz="1000" u="none" cap="none" strike="noStrike">
              <a:solidFill>
                <a:schemeClr val="dk1"/>
              </a:solidFill>
              <a:latin typeface="Calibri"/>
              <a:ea typeface="Calibri"/>
              <a:cs typeface="Calibri"/>
              <a:sym typeface="Calibri"/>
            </a:endParaRPr>
          </a:p>
        </p:txBody>
      </p:sp>
      <p:sp>
        <p:nvSpPr>
          <p:cNvPr id="80" name="Google Shape;80;p7"/>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What each dataset contributes</a:t>
            </a:r>
            <a:endParaRPr b="0" i="0" sz="2800" u="none" cap="none" strike="noStrike">
              <a:solidFill>
                <a:schemeClr val="dk1"/>
              </a:solidFill>
              <a:latin typeface="Calibri"/>
              <a:ea typeface="Calibri"/>
              <a:cs typeface="Calibri"/>
              <a:sym typeface="Calibri"/>
            </a:endParaRPr>
          </a:p>
        </p:txBody>
      </p:sp>
      <p:sp>
        <p:nvSpPr>
          <p:cNvPr id="81" name="Google Shape;81;p7"/>
          <p:cNvSpPr/>
          <p:nvPr/>
        </p:nvSpPr>
        <p:spPr>
          <a:xfrm>
            <a:off x="549275" y="1190625"/>
            <a:ext cx="5435600" cy="2006600"/>
          </a:xfrm>
          <a:prstGeom prst="roundRect">
            <a:avLst>
              <a:gd fmla="val 5538"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atabase" id="82" name="Google Shape;82;p7"/>
          <p:cNvPicPr preferRelativeResize="0"/>
          <p:nvPr/>
        </p:nvPicPr>
        <p:blipFill rotWithShape="1">
          <a:blip r:embed="rId3">
            <a:alphaModFix/>
          </a:blip>
          <a:srcRect b="0" l="0" r="0" t="0"/>
          <a:stretch/>
        </p:blipFill>
        <p:spPr>
          <a:xfrm>
            <a:off x="5530850" y="1308100"/>
            <a:ext cx="254000" cy="254000"/>
          </a:xfrm>
          <a:prstGeom prst="rect">
            <a:avLst/>
          </a:prstGeom>
          <a:noFill/>
          <a:ln>
            <a:noFill/>
          </a:ln>
        </p:spPr>
      </p:pic>
      <p:sp>
        <p:nvSpPr>
          <p:cNvPr id="83" name="Google Shape;83;p7"/>
          <p:cNvSpPr/>
          <p:nvPr/>
        </p:nvSpPr>
        <p:spPr>
          <a:xfrm>
            <a:off x="774700" y="1295400"/>
            <a:ext cx="4709160"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01C"/>
              </a:buClr>
              <a:buSzPts val="1600"/>
              <a:buFont typeface="Source Sans 3"/>
              <a:buNone/>
            </a:pPr>
            <a:r>
              <a:rPr b="1" i="0" lang="en-US" sz="1600" u="none" cap="none" strike="noStrike">
                <a:solidFill>
                  <a:srgbClr val="B5501C"/>
                </a:solidFill>
                <a:latin typeface="Source Sans 3"/>
                <a:ea typeface="Source Sans 3"/>
                <a:cs typeface="Source Sans 3"/>
                <a:sym typeface="Source Sans 3"/>
              </a:rPr>
              <a:t>FAOSTAT</a:t>
            </a:r>
            <a:endParaRPr b="0" i="0" sz="1600" u="none" cap="none" strike="noStrike">
              <a:solidFill>
                <a:schemeClr val="dk1"/>
              </a:solidFill>
              <a:latin typeface="Calibri"/>
              <a:ea typeface="Calibri"/>
              <a:cs typeface="Calibri"/>
              <a:sym typeface="Calibri"/>
            </a:endParaRPr>
          </a:p>
        </p:txBody>
      </p:sp>
      <p:sp>
        <p:nvSpPr>
          <p:cNvPr id="84" name="Google Shape;84;p7"/>
          <p:cNvSpPr/>
          <p:nvPr/>
        </p:nvSpPr>
        <p:spPr>
          <a:xfrm>
            <a:off x="774700" y="1606550"/>
            <a:ext cx="5134293"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6B60"/>
              </a:buClr>
              <a:buSzPts val="1200"/>
              <a:buFont typeface="Source Sans 3"/>
              <a:buNone/>
            </a:pPr>
            <a:r>
              <a:rPr b="0" i="1" lang="en-US" sz="1200" u="none" cap="none" strike="noStrike">
                <a:solidFill>
                  <a:srgbClr val="6B6B60"/>
                </a:solidFill>
                <a:latin typeface="Source Sans 3"/>
                <a:ea typeface="Source Sans 3"/>
                <a:cs typeface="Source Sans 3"/>
                <a:sym typeface="Source Sans 3"/>
              </a:rPr>
              <a:t>Crop production and value, 1993–2023</a:t>
            </a:r>
            <a:endParaRPr b="0" i="0" sz="1200" u="none" cap="none" strike="noStrike">
              <a:solidFill>
                <a:schemeClr val="dk1"/>
              </a:solidFill>
              <a:latin typeface="Calibri"/>
              <a:ea typeface="Calibri"/>
              <a:cs typeface="Calibri"/>
              <a:sym typeface="Calibri"/>
            </a:endParaRPr>
          </a:p>
        </p:txBody>
      </p:sp>
      <p:sp>
        <p:nvSpPr>
          <p:cNvPr id="85" name="Google Shape;85;p7"/>
          <p:cNvSpPr/>
          <p:nvPr/>
        </p:nvSpPr>
        <p:spPr>
          <a:xfrm>
            <a:off x="774700" y="1892300"/>
            <a:ext cx="5134293" cy="1017588"/>
          </a:xfrm>
          <a:prstGeom prst="rect">
            <a:avLst/>
          </a:prstGeom>
          <a:noFill/>
          <a:ln>
            <a:noFill/>
          </a:ln>
        </p:spPr>
        <p:txBody>
          <a:bodyPr anchorCtr="0" anchor="t" bIns="0" lIns="0" spcFirstLastPara="1" rIns="0" wrap="square" tIns="0">
            <a:noAutofit/>
          </a:bodyPr>
          <a:lstStyle/>
          <a:p>
            <a:pPr indent="0" lvl="0" marL="0" marR="0" rtl="0" algn="l">
              <a:lnSpc>
                <a:spcPct val="125039"/>
              </a:lnSpc>
              <a:spcBef>
                <a:spcPts val="0"/>
              </a:spcBef>
              <a:spcAft>
                <a:spcPts val="0"/>
              </a:spcAft>
              <a:buClr>
                <a:srgbClr val="22332A"/>
              </a:buClr>
              <a:buSzPts val="1250"/>
              <a:buFont typeface="Source Sans 3"/>
              <a:buNone/>
            </a:pPr>
            <a:r>
              <a:rPr b="0" i="0" lang="en-US" sz="1250" u="none" cap="none" strike="noStrike">
                <a:solidFill>
                  <a:srgbClr val="22332A"/>
                </a:solidFill>
                <a:latin typeface="Source Sans 3"/>
                <a:ea typeface="Source Sans 3"/>
                <a:cs typeface="Source Sans 3"/>
                <a:sym typeface="Source Sans 3"/>
              </a:rPr>
              <a:t>QCL gives area harvested and production, QV the gross production value in constant 2014–16 international dollars, RL land use. After removing 11 aggregate items: 267,838 country-crop-years, 195 countries, 157 crops. 41% of rows carry an estimated or imputed flag. Where no value is published (3.8% of rows, 1.9% of value), we use production × the item’s price.</a:t>
            </a:r>
            <a:endParaRPr b="0" i="0" sz="1250" u="none" cap="none" strike="noStrike">
              <a:solidFill>
                <a:schemeClr val="dk1"/>
              </a:solidFill>
              <a:latin typeface="Calibri"/>
              <a:ea typeface="Calibri"/>
              <a:cs typeface="Calibri"/>
              <a:sym typeface="Calibri"/>
            </a:endParaRPr>
          </a:p>
        </p:txBody>
      </p:sp>
      <p:sp>
        <p:nvSpPr>
          <p:cNvPr id="86" name="Google Shape;86;p7"/>
          <p:cNvSpPr/>
          <p:nvPr/>
        </p:nvSpPr>
        <p:spPr>
          <a:xfrm>
            <a:off x="6200775" y="1190625"/>
            <a:ext cx="5435600" cy="2006600"/>
          </a:xfrm>
          <a:prstGeom prst="roundRect">
            <a:avLst>
              <a:gd fmla="val 5538"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loud" id="87" name="Google Shape;87;p7"/>
          <p:cNvPicPr preferRelativeResize="0"/>
          <p:nvPr/>
        </p:nvPicPr>
        <p:blipFill rotWithShape="1">
          <a:blip r:embed="rId4">
            <a:alphaModFix/>
          </a:blip>
          <a:srcRect b="0" l="0" r="0" t="0"/>
          <a:stretch/>
        </p:blipFill>
        <p:spPr>
          <a:xfrm>
            <a:off x="11182350" y="1308100"/>
            <a:ext cx="254000" cy="254000"/>
          </a:xfrm>
          <a:prstGeom prst="rect">
            <a:avLst/>
          </a:prstGeom>
          <a:noFill/>
          <a:ln>
            <a:noFill/>
          </a:ln>
        </p:spPr>
      </p:pic>
      <p:sp>
        <p:nvSpPr>
          <p:cNvPr id="88" name="Google Shape;88;p7"/>
          <p:cNvSpPr/>
          <p:nvPr/>
        </p:nvSpPr>
        <p:spPr>
          <a:xfrm>
            <a:off x="6426200" y="1295400"/>
            <a:ext cx="4709160"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01C"/>
              </a:buClr>
              <a:buSzPts val="1600"/>
              <a:buFont typeface="Source Sans 3"/>
              <a:buNone/>
            </a:pPr>
            <a:r>
              <a:rPr b="1" i="0" lang="en-US" sz="1600" u="none" cap="none" strike="noStrike">
                <a:solidFill>
                  <a:srgbClr val="B5501C"/>
                </a:solidFill>
                <a:latin typeface="Source Sans 3"/>
                <a:ea typeface="Source Sans 3"/>
                <a:cs typeface="Source Sans 3"/>
                <a:sym typeface="Source Sans 3"/>
              </a:rPr>
              <a:t>SPEIbase v2.10</a:t>
            </a:r>
            <a:endParaRPr b="0" i="0" sz="1600" u="none" cap="none" strike="noStrike">
              <a:solidFill>
                <a:schemeClr val="dk1"/>
              </a:solidFill>
              <a:latin typeface="Calibri"/>
              <a:ea typeface="Calibri"/>
              <a:cs typeface="Calibri"/>
              <a:sym typeface="Calibri"/>
            </a:endParaRPr>
          </a:p>
        </p:txBody>
      </p:sp>
      <p:sp>
        <p:nvSpPr>
          <p:cNvPr id="89" name="Google Shape;89;p7"/>
          <p:cNvSpPr/>
          <p:nvPr/>
        </p:nvSpPr>
        <p:spPr>
          <a:xfrm>
            <a:off x="6426200" y="1606550"/>
            <a:ext cx="5134293"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6B60"/>
              </a:buClr>
              <a:buSzPts val="1200"/>
              <a:buFont typeface="Source Sans 3"/>
              <a:buNone/>
            </a:pPr>
            <a:r>
              <a:rPr b="0" i="1" lang="en-US" sz="1200" u="none" cap="none" strike="noStrike">
                <a:solidFill>
                  <a:srgbClr val="6B6B60"/>
                </a:solidFill>
                <a:latin typeface="Source Sans 3"/>
                <a:ea typeface="Source Sans 3"/>
                <a:cs typeface="Source Sans 3"/>
                <a:sym typeface="Source Sans 3"/>
              </a:rPr>
              <a:t>Drought index, monthly on a 0.5° grid to December 2023</a:t>
            </a:r>
            <a:endParaRPr b="0" i="0" sz="1200" u="none" cap="none" strike="noStrike">
              <a:solidFill>
                <a:schemeClr val="dk1"/>
              </a:solidFill>
              <a:latin typeface="Calibri"/>
              <a:ea typeface="Calibri"/>
              <a:cs typeface="Calibri"/>
              <a:sym typeface="Calibri"/>
            </a:endParaRPr>
          </a:p>
        </p:txBody>
      </p:sp>
      <p:sp>
        <p:nvSpPr>
          <p:cNvPr id="90" name="Google Shape;90;p7"/>
          <p:cNvSpPr/>
          <p:nvPr/>
        </p:nvSpPr>
        <p:spPr>
          <a:xfrm>
            <a:off x="6426200" y="1892300"/>
            <a:ext cx="5134293" cy="819150"/>
          </a:xfrm>
          <a:prstGeom prst="rect">
            <a:avLst/>
          </a:prstGeom>
          <a:noFill/>
          <a:ln>
            <a:noFill/>
          </a:ln>
        </p:spPr>
        <p:txBody>
          <a:bodyPr anchorCtr="0" anchor="t" bIns="0" lIns="0" spcFirstLastPara="1" rIns="0" wrap="square" tIns="0">
            <a:noAutofit/>
          </a:bodyPr>
          <a:lstStyle/>
          <a:p>
            <a:pPr indent="0" lvl="0" marL="0" marR="0" rtl="0" algn="l">
              <a:lnSpc>
                <a:spcPct val="125039"/>
              </a:lnSpc>
              <a:spcBef>
                <a:spcPts val="0"/>
              </a:spcBef>
              <a:spcAft>
                <a:spcPts val="0"/>
              </a:spcAft>
              <a:buClr>
                <a:srgbClr val="22332A"/>
              </a:buClr>
              <a:buSzPts val="1250"/>
              <a:buFont typeface="Source Sans 3"/>
              <a:buNone/>
            </a:pPr>
            <a:r>
              <a:rPr b="0" i="0" lang="en-US" sz="1250" u="none" cap="none" strike="noStrike">
                <a:solidFill>
                  <a:srgbClr val="22332A"/>
                </a:solidFill>
                <a:latin typeface="Source Sans 3"/>
                <a:ea typeface="Source Sans 3"/>
                <a:cs typeface="Source Sans 3"/>
                <a:sym typeface="Source Sans 3"/>
              </a:rPr>
              <a:t>SPEI is precipitation minus potential evapotranspiration, standardised, so 0 is normal and −1 or below is drought. We use the 12-month index at December and the 6-month index, averaged per country and year: 7,130 country-years for 230 countries.</a:t>
            </a:r>
            <a:endParaRPr b="0" i="0" sz="1250" u="none" cap="none" strike="noStrike">
              <a:solidFill>
                <a:schemeClr val="dk1"/>
              </a:solidFill>
              <a:latin typeface="Calibri"/>
              <a:ea typeface="Calibri"/>
              <a:cs typeface="Calibri"/>
              <a:sym typeface="Calibri"/>
            </a:endParaRPr>
          </a:p>
        </p:txBody>
      </p:sp>
      <p:sp>
        <p:nvSpPr>
          <p:cNvPr id="91" name="Google Shape;91;p7"/>
          <p:cNvSpPr/>
          <p:nvPr/>
        </p:nvSpPr>
        <p:spPr>
          <a:xfrm>
            <a:off x="549275" y="3387725"/>
            <a:ext cx="5435600" cy="2006600"/>
          </a:xfrm>
          <a:prstGeom prst="roundRect">
            <a:avLst>
              <a:gd fmla="val 5538"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Globe" id="92" name="Google Shape;92;p7"/>
          <p:cNvPicPr preferRelativeResize="0"/>
          <p:nvPr/>
        </p:nvPicPr>
        <p:blipFill rotWithShape="1">
          <a:blip r:embed="rId5">
            <a:alphaModFix/>
          </a:blip>
          <a:srcRect b="0" l="0" r="0" t="0"/>
          <a:stretch/>
        </p:blipFill>
        <p:spPr>
          <a:xfrm>
            <a:off x="5530850" y="3505200"/>
            <a:ext cx="254000" cy="254000"/>
          </a:xfrm>
          <a:prstGeom prst="rect">
            <a:avLst/>
          </a:prstGeom>
          <a:noFill/>
          <a:ln>
            <a:noFill/>
          </a:ln>
        </p:spPr>
      </p:pic>
      <p:sp>
        <p:nvSpPr>
          <p:cNvPr id="93" name="Google Shape;93;p7"/>
          <p:cNvSpPr/>
          <p:nvPr/>
        </p:nvSpPr>
        <p:spPr>
          <a:xfrm>
            <a:off x="774700" y="3492500"/>
            <a:ext cx="4709160"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01C"/>
              </a:buClr>
              <a:buSzPts val="1600"/>
              <a:buFont typeface="Source Sans 3"/>
              <a:buNone/>
            </a:pPr>
            <a:r>
              <a:rPr b="1" i="0" lang="en-US" sz="1600" u="none" cap="none" strike="noStrike">
                <a:solidFill>
                  <a:srgbClr val="B5501C"/>
                </a:solidFill>
                <a:latin typeface="Source Sans 3"/>
                <a:ea typeface="Source Sans 3"/>
                <a:cs typeface="Source Sans 3"/>
                <a:sym typeface="Source Sans 3"/>
              </a:rPr>
              <a:t>MapSPAM 2020 v2</a:t>
            </a:r>
            <a:endParaRPr b="0" i="0" sz="1600" u="none" cap="none" strike="noStrike">
              <a:solidFill>
                <a:schemeClr val="dk1"/>
              </a:solidFill>
              <a:latin typeface="Calibri"/>
              <a:ea typeface="Calibri"/>
              <a:cs typeface="Calibri"/>
              <a:sym typeface="Calibri"/>
            </a:endParaRPr>
          </a:p>
        </p:txBody>
      </p:sp>
      <p:sp>
        <p:nvSpPr>
          <p:cNvPr id="94" name="Google Shape;94;p7"/>
          <p:cNvSpPr/>
          <p:nvPr/>
        </p:nvSpPr>
        <p:spPr>
          <a:xfrm>
            <a:off x="774700" y="3803650"/>
            <a:ext cx="5134293"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6B60"/>
              </a:buClr>
              <a:buSzPts val="1200"/>
              <a:buFont typeface="Source Sans 3"/>
              <a:buNone/>
            </a:pPr>
            <a:r>
              <a:rPr b="0" i="1" lang="en-US" sz="1200" u="none" cap="none" strike="noStrike">
                <a:solidFill>
                  <a:srgbClr val="6B6B60"/>
                </a:solidFill>
                <a:latin typeface="Source Sans 3"/>
                <a:ea typeface="Source Sans 3"/>
                <a:cs typeface="Source Sans 3"/>
                <a:sym typeface="Source Sans 3"/>
              </a:rPr>
              <a:t>Where 46 crops grow, 5 arc-minute grid</a:t>
            </a:r>
            <a:endParaRPr b="0" i="0" sz="1200" u="none" cap="none" strike="noStrike">
              <a:solidFill>
                <a:schemeClr val="dk1"/>
              </a:solidFill>
              <a:latin typeface="Calibri"/>
              <a:ea typeface="Calibri"/>
              <a:cs typeface="Calibri"/>
              <a:sym typeface="Calibri"/>
            </a:endParaRPr>
          </a:p>
        </p:txBody>
      </p:sp>
      <p:sp>
        <p:nvSpPr>
          <p:cNvPr id="95" name="Google Shape;95;p7"/>
          <p:cNvSpPr/>
          <p:nvPr/>
        </p:nvSpPr>
        <p:spPr>
          <a:xfrm>
            <a:off x="774700" y="4089400"/>
            <a:ext cx="5134293" cy="819150"/>
          </a:xfrm>
          <a:prstGeom prst="rect">
            <a:avLst/>
          </a:prstGeom>
          <a:noFill/>
          <a:ln>
            <a:noFill/>
          </a:ln>
        </p:spPr>
        <p:txBody>
          <a:bodyPr anchorCtr="0" anchor="t" bIns="0" lIns="0" spcFirstLastPara="1" rIns="0" wrap="square" tIns="0">
            <a:noAutofit/>
          </a:bodyPr>
          <a:lstStyle/>
          <a:p>
            <a:pPr indent="0" lvl="0" marL="0" marR="0" rtl="0" algn="l">
              <a:lnSpc>
                <a:spcPct val="125039"/>
              </a:lnSpc>
              <a:spcBef>
                <a:spcPts val="0"/>
              </a:spcBef>
              <a:spcAft>
                <a:spcPts val="0"/>
              </a:spcAft>
              <a:buClr>
                <a:srgbClr val="22332A"/>
              </a:buClr>
              <a:buSzPts val="1250"/>
              <a:buFont typeface="Source Sans 3"/>
              <a:buNone/>
            </a:pPr>
            <a:r>
              <a:rPr b="0" i="0" lang="en-US" sz="1250" u="none" cap="none" strike="noStrike">
                <a:solidFill>
                  <a:srgbClr val="22332A"/>
                </a:solidFill>
                <a:latin typeface="Source Sans 3"/>
                <a:ea typeface="Source Sans 3"/>
                <a:cs typeface="Source Sans 3"/>
                <a:sym typeface="Source Sans 3"/>
              </a:rPr>
              <a:t>Physical harvested area, all technologies, summed to 1,274 million ha on the 0.5° grid (38,162 cells with cropland). It is one snapshot, used as the weight for the whole window, so we assume cropland does not move much between 1993 and 2023.</a:t>
            </a:r>
            <a:endParaRPr b="0" i="0" sz="1250" u="none" cap="none" strike="noStrike">
              <a:solidFill>
                <a:schemeClr val="dk1"/>
              </a:solidFill>
              <a:latin typeface="Calibri"/>
              <a:ea typeface="Calibri"/>
              <a:cs typeface="Calibri"/>
              <a:sym typeface="Calibri"/>
            </a:endParaRPr>
          </a:p>
        </p:txBody>
      </p:sp>
      <p:sp>
        <p:nvSpPr>
          <p:cNvPr id="96" name="Google Shape;96;p7"/>
          <p:cNvSpPr/>
          <p:nvPr/>
        </p:nvSpPr>
        <p:spPr>
          <a:xfrm>
            <a:off x="6200775" y="3387725"/>
            <a:ext cx="5435600" cy="2006600"/>
          </a:xfrm>
          <a:prstGeom prst="roundRect">
            <a:avLst>
              <a:gd fmla="val 5538"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rt" id="97" name="Google Shape;97;p7"/>
          <p:cNvPicPr preferRelativeResize="0"/>
          <p:nvPr/>
        </p:nvPicPr>
        <p:blipFill rotWithShape="1">
          <a:blip r:embed="rId6">
            <a:alphaModFix/>
          </a:blip>
          <a:srcRect b="0" l="0" r="0" t="0"/>
          <a:stretch/>
        </p:blipFill>
        <p:spPr>
          <a:xfrm>
            <a:off x="11182350" y="3505200"/>
            <a:ext cx="254000" cy="254000"/>
          </a:xfrm>
          <a:prstGeom prst="rect">
            <a:avLst/>
          </a:prstGeom>
          <a:noFill/>
          <a:ln>
            <a:noFill/>
          </a:ln>
        </p:spPr>
      </p:pic>
      <p:sp>
        <p:nvSpPr>
          <p:cNvPr id="98" name="Google Shape;98;p7"/>
          <p:cNvSpPr/>
          <p:nvPr/>
        </p:nvSpPr>
        <p:spPr>
          <a:xfrm>
            <a:off x="6426200" y="3492500"/>
            <a:ext cx="4709160"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01C"/>
              </a:buClr>
              <a:buSzPts val="1600"/>
              <a:buFont typeface="Source Sans 3"/>
              <a:buNone/>
            </a:pPr>
            <a:r>
              <a:rPr b="1" i="0" lang="en-US" sz="1600" u="none" cap="none" strike="noStrike">
                <a:solidFill>
                  <a:srgbClr val="B5501C"/>
                </a:solidFill>
                <a:latin typeface="Source Sans 3"/>
                <a:ea typeface="Source Sans 3"/>
                <a:cs typeface="Source Sans 3"/>
                <a:sym typeface="Source Sans 3"/>
              </a:rPr>
              <a:t>World Bank WDI + FAOSTAT RL</a:t>
            </a:r>
            <a:endParaRPr b="0" i="0" sz="1600" u="none" cap="none" strike="noStrike">
              <a:solidFill>
                <a:schemeClr val="dk1"/>
              </a:solidFill>
              <a:latin typeface="Calibri"/>
              <a:ea typeface="Calibri"/>
              <a:cs typeface="Calibri"/>
              <a:sym typeface="Calibri"/>
            </a:endParaRPr>
          </a:p>
        </p:txBody>
      </p:sp>
      <p:sp>
        <p:nvSpPr>
          <p:cNvPr id="99" name="Google Shape;99;p7"/>
          <p:cNvSpPr/>
          <p:nvPr/>
        </p:nvSpPr>
        <p:spPr>
          <a:xfrm>
            <a:off x="6426200" y="3803650"/>
            <a:ext cx="5134293"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6B60"/>
              </a:buClr>
              <a:buSzPts val="1200"/>
              <a:buFont typeface="Source Sans 3"/>
              <a:buNone/>
            </a:pPr>
            <a:r>
              <a:rPr b="0" i="1" lang="en-US" sz="1200" u="none" cap="none" strike="noStrike">
                <a:solidFill>
                  <a:srgbClr val="6B6B60"/>
                </a:solidFill>
                <a:latin typeface="Source Sans 3"/>
                <a:ea typeface="Source Sans 3"/>
                <a:cs typeface="Source Sans 3"/>
                <a:sym typeface="Source Sans 3"/>
              </a:rPr>
              <a:t>Control variables for the regressions</a:t>
            </a:r>
            <a:endParaRPr b="0" i="0" sz="1200" u="none" cap="none" strike="noStrike">
              <a:solidFill>
                <a:schemeClr val="dk1"/>
              </a:solidFill>
              <a:latin typeface="Calibri"/>
              <a:ea typeface="Calibri"/>
              <a:cs typeface="Calibri"/>
              <a:sym typeface="Calibri"/>
            </a:endParaRPr>
          </a:p>
        </p:txBody>
      </p:sp>
      <p:sp>
        <p:nvSpPr>
          <p:cNvPr id="100" name="Google Shape;100;p7"/>
          <p:cNvSpPr/>
          <p:nvPr/>
        </p:nvSpPr>
        <p:spPr>
          <a:xfrm>
            <a:off x="6426200" y="4089400"/>
            <a:ext cx="5134293" cy="819150"/>
          </a:xfrm>
          <a:prstGeom prst="rect">
            <a:avLst/>
          </a:prstGeom>
          <a:noFill/>
          <a:ln>
            <a:noFill/>
          </a:ln>
        </p:spPr>
        <p:txBody>
          <a:bodyPr anchorCtr="0" anchor="t" bIns="0" lIns="0" spcFirstLastPara="1" rIns="0" wrap="square" tIns="0">
            <a:noAutofit/>
          </a:bodyPr>
          <a:lstStyle/>
          <a:p>
            <a:pPr indent="0" lvl="0" marL="0" marR="0" rtl="0" algn="l">
              <a:lnSpc>
                <a:spcPct val="125039"/>
              </a:lnSpc>
              <a:spcBef>
                <a:spcPts val="0"/>
              </a:spcBef>
              <a:spcAft>
                <a:spcPts val="0"/>
              </a:spcAft>
              <a:buClr>
                <a:srgbClr val="22332A"/>
              </a:buClr>
              <a:buSzPts val="1250"/>
              <a:buFont typeface="Source Sans 3"/>
              <a:buNone/>
            </a:pPr>
            <a:r>
              <a:rPr b="0" i="0" lang="en-US" sz="1250" u="none" cap="none" strike="noStrike">
                <a:solidFill>
                  <a:srgbClr val="22332A"/>
                </a:solidFill>
                <a:latin typeface="Source Sans 3"/>
                <a:ea typeface="Source Sans 3"/>
                <a:cs typeface="Source Sans 3"/>
                <a:sym typeface="Source Sans 3"/>
              </a:rPr>
              <a:t>GDP per capita and fertiliser use (kg/ha) from WDI; irrigation share is irrigated land divided by cropland from FAOSTAT. Coverage is 95%, 91% and 90% of country-years. Merged entities (BLX, SCG, SDX) and Taiwan have no WDI series.</a:t>
            </a:r>
            <a:endParaRPr b="0" i="0" sz="1250" u="none" cap="none" strike="noStrike">
              <a:solidFill>
                <a:schemeClr val="dk1"/>
              </a:solidFill>
              <a:latin typeface="Calibri"/>
              <a:ea typeface="Calibri"/>
              <a:cs typeface="Calibri"/>
              <a:sym typeface="Calibri"/>
            </a:endParaRPr>
          </a:p>
        </p:txBody>
      </p:sp>
      <p:sp>
        <p:nvSpPr>
          <p:cNvPr id="101" name="Google Shape;101;p7"/>
          <p:cNvSpPr/>
          <p:nvPr/>
        </p:nvSpPr>
        <p:spPr>
          <a:xfrm>
            <a:off x="546100" y="5530850"/>
            <a:ext cx="11093450" cy="660400"/>
          </a:xfrm>
          <a:prstGeom prst="roundRect">
            <a:avLst>
              <a:gd fmla="val 17308"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7"/>
          <p:cNvSpPr/>
          <p:nvPr/>
        </p:nvSpPr>
        <p:spPr>
          <a:xfrm>
            <a:off x="774700" y="5645150"/>
            <a:ext cx="10955338" cy="42164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200"/>
              <a:buFont typeface="Source Sans 3"/>
              <a:buNone/>
            </a:pPr>
            <a:r>
              <a:rPr b="1" i="0" lang="en-US" sz="1200" u="none" cap="none" strike="noStrike">
                <a:solidFill>
                  <a:srgbClr val="22332A"/>
                </a:solidFill>
                <a:latin typeface="Source Sans 3"/>
                <a:ea typeface="Source Sans 3"/>
                <a:cs typeface="Source Sans 3"/>
                <a:sym typeface="Source Sans 3"/>
              </a:rPr>
              <a:t>Country shapes and merged entities.</a:t>
            </a:r>
            <a:r>
              <a:rPr b="0" i="0" lang="en-US" sz="1200" u="none" cap="none" strike="noStrike">
                <a:solidFill>
                  <a:srgbClr val="22332A"/>
                </a:solidFill>
                <a:latin typeface="Source Sans 3"/>
                <a:ea typeface="Source Sans 3"/>
                <a:cs typeface="Source Sans 3"/>
                <a:sym typeface="Source Sans 3"/>
              </a:rPr>
              <a:t> Natural Earth 1:10m boundaries are dissolved to our codes. Belgium–Luxembourg (BLX), Serbia–Montenegro (SCG) and Sudan (SDX) are merged to keep series continuous across 1993–2023.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107" name="Shape 107"/>
        <p:cNvGrpSpPr/>
        <p:nvPr/>
      </p:nvGrpSpPr>
      <p:grpSpPr>
        <a:xfrm>
          <a:off x="0" y="0"/>
          <a:ext cx="0" cy="0"/>
          <a:chOff x="0" y="0"/>
          <a:chExt cx="0" cy="0"/>
        </a:xfrm>
      </p:grpSpPr>
      <p:sp>
        <p:nvSpPr>
          <p:cNvPr id="108" name="Google Shape;108;p8"/>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8"/>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DATA USED</a:t>
            </a:r>
            <a:endParaRPr b="0" i="0" sz="1000" u="none" cap="none" strike="noStrike">
              <a:solidFill>
                <a:schemeClr val="dk1"/>
              </a:solidFill>
              <a:latin typeface="Calibri"/>
              <a:ea typeface="Calibri"/>
              <a:cs typeface="Calibri"/>
              <a:sym typeface="Calibri"/>
            </a:endParaRPr>
          </a:p>
        </p:txBody>
      </p:sp>
      <p:sp>
        <p:nvSpPr>
          <p:cNvPr id="110" name="Google Shape;110;p8"/>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05 / 26</a:t>
            </a:r>
            <a:endParaRPr b="0" i="0" sz="1000" u="none" cap="none" strike="noStrike">
              <a:solidFill>
                <a:schemeClr val="dk1"/>
              </a:solidFill>
              <a:latin typeface="Calibri"/>
              <a:ea typeface="Calibri"/>
              <a:cs typeface="Calibri"/>
              <a:sym typeface="Calibri"/>
            </a:endParaRPr>
          </a:p>
        </p:txBody>
      </p:sp>
      <p:sp>
        <p:nvSpPr>
          <p:cNvPr id="111" name="Google Shape;111;p8"/>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Which countries have data we can trust</a:t>
            </a:r>
            <a:endParaRPr b="0" i="0" sz="2800" u="none" cap="none" strike="noStrike">
              <a:solidFill>
                <a:schemeClr val="dk1"/>
              </a:solidFill>
              <a:latin typeface="Calibri"/>
              <a:ea typeface="Calibri"/>
              <a:cs typeface="Calibri"/>
              <a:sym typeface="Calibri"/>
            </a:endParaRPr>
          </a:p>
        </p:txBody>
      </p:sp>
      <p:sp>
        <p:nvSpPr>
          <p:cNvPr id="112" name="Google Shape;112;p8"/>
          <p:cNvSpPr/>
          <p:nvPr/>
        </p:nvSpPr>
        <p:spPr>
          <a:xfrm>
            <a:off x="549275" y="1235075"/>
            <a:ext cx="7219950" cy="4794250"/>
          </a:xfrm>
          <a:prstGeom prst="roundRect">
            <a:avLst>
              <a:gd fmla="val 2318"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orld map of the share of each country's crop value that FAOSTAT marks as estimated or imputed; highest in parts of Africa and the Pacific, lowest in the Americas and Europe" id="113" name="Google Shape;113;p8"/>
          <p:cNvPicPr preferRelativeResize="0"/>
          <p:nvPr/>
        </p:nvPicPr>
        <p:blipFill rotWithShape="1">
          <a:blip r:embed="rId3">
            <a:alphaModFix/>
          </a:blip>
          <a:srcRect b="-2269" l="0" r="0" t="-2269"/>
          <a:stretch/>
        </p:blipFill>
        <p:spPr>
          <a:xfrm>
            <a:off x="660400" y="1346200"/>
            <a:ext cx="6997700" cy="4572000"/>
          </a:xfrm>
          <a:prstGeom prst="rect">
            <a:avLst/>
          </a:prstGeom>
          <a:noFill/>
          <a:ln>
            <a:noFill/>
          </a:ln>
        </p:spPr>
      </p:pic>
      <p:sp>
        <p:nvSpPr>
          <p:cNvPr id="114" name="Google Shape;114;p8"/>
          <p:cNvSpPr/>
          <p:nvPr/>
        </p:nvSpPr>
        <p:spPr>
          <a:xfrm>
            <a:off x="7937500" y="1231900"/>
            <a:ext cx="3708400" cy="4800600"/>
          </a:xfrm>
          <a:prstGeom prst="roundRect">
            <a:avLst>
              <a:gd fmla="val 3082"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
          <p:cNvSpPr/>
          <p:nvPr/>
        </p:nvSpPr>
        <p:spPr>
          <a:xfrm>
            <a:off x="8140700" y="1435100"/>
            <a:ext cx="3440303" cy="6680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5501C"/>
              </a:buClr>
              <a:buSzPts val="4600"/>
              <a:buFont typeface="Source Serif 4"/>
              <a:buNone/>
            </a:pPr>
            <a:r>
              <a:rPr b="1" i="0" lang="en-US" sz="4600" u="none" cap="none" strike="noStrike">
                <a:solidFill>
                  <a:srgbClr val="B5501C"/>
                </a:solidFill>
                <a:latin typeface="Source Serif 4"/>
                <a:ea typeface="Source Serif 4"/>
                <a:cs typeface="Source Serif 4"/>
                <a:sym typeface="Source Serif 4"/>
              </a:rPr>
              <a:t>107</a:t>
            </a:r>
            <a:endParaRPr b="0" i="0" sz="4600" u="none" cap="none" strike="noStrike">
              <a:solidFill>
                <a:schemeClr val="dk1"/>
              </a:solidFill>
              <a:latin typeface="Calibri"/>
              <a:ea typeface="Calibri"/>
              <a:cs typeface="Calibri"/>
              <a:sym typeface="Calibri"/>
            </a:endParaRPr>
          </a:p>
        </p:txBody>
      </p:sp>
      <p:sp>
        <p:nvSpPr>
          <p:cNvPr id="116" name="Google Shape;116;p8"/>
          <p:cNvSpPr/>
          <p:nvPr/>
        </p:nvSpPr>
        <p:spPr>
          <a:xfrm>
            <a:off x="8140700" y="2197100"/>
            <a:ext cx="3440303" cy="263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D2F23"/>
              </a:buClr>
              <a:buSzPts val="1500"/>
              <a:buFont typeface="Source Sans 3"/>
              <a:buNone/>
            </a:pPr>
            <a:r>
              <a:rPr b="1" i="0" lang="en-US" sz="1500" u="none" cap="none" strike="noStrike">
                <a:solidFill>
                  <a:srgbClr val="1D2F23"/>
                </a:solidFill>
                <a:latin typeface="Source Sans 3"/>
                <a:ea typeface="Source Sans 3"/>
                <a:cs typeface="Source Sans 3"/>
                <a:sym typeface="Source Sans 3"/>
              </a:rPr>
              <a:t>of 195 countries included</a:t>
            </a:r>
            <a:endParaRPr b="0" i="0" sz="1500" u="none" cap="none" strike="noStrike">
              <a:solidFill>
                <a:schemeClr val="dk1"/>
              </a:solidFill>
              <a:latin typeface="Calibri"/>
              <a:ea typeface="Calibri"/>
              <a:cs typeface="Calibri"/>
              <a:sym typeface="Calibri"/>
            </a:endParaRPr>
          </a:p>
        </p:txBody>
      </p:sp>
      <p:sp>
        <p:nvSpPr>
          <p:cNvPr id="117" name="Google Shape;117;p8"/>
          <p:cNvSpPr/>
          <p:nvPr/>
        </p:nvSpPr>
        <p:spPr>
          <a:xfrm>
            <a:off x="8140700" y="2787650"/>
            <a:ext cx="3440303" cy="152781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300"/>
              <a:buFont typeface="Source Sans 3"/>
              <a:buNone/>
            </a:pPr>
            <a:r>
              <a:rPr b="0" i="0" lang="en-US" sz="1300" u="none" cap="none" strike="noStrike">
                <a:solidFill>
                  <a:srgbClr val="22332A"/>
                </a:solidFill>
                <a:latin typeface="Source Sans 3"/>
                <a:ea typeface="Source Sans 3"/>
                <a:cs typeface="Source Sans 3"/>
                <a:sym typeface="Source Sans 3"/>
              </a:rPr>
              <a:t>A country needs 100,000 ha harvested, 5 crops and 25 years of mostly reported data. The map shades each country by the share of its crop value that FAOSTAT marks as estimated or imputed (dark = mostly reported); grey countries failed the rules. The 107 included countries hold 91% of global crop value.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122" name="Shape 122"/>
        <p:cNvGrpSpPr/>
        <p:nvPr/>
      </p:nvGrpSpPr>
      <p:grpSpPr>
        <a:xfrm>
          <a:off x="0" y="0"/>
          <a:ext cx="0" cy="0"/>
          <a:chOff x="0" y="0"/>
          <a:chExt cx="0" cy="0"/>
        </a:xfrm>
      </p:grpSpPr>
      <p:sp>
        <p:nvSpPr>
          <p:cNvPr id="123" name="Google Shape;123;p9"/>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9"/>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DATA USED</a:t>
            </a:r>
            <a:endParaRPr b="0" i="0" sz="1000" u="none" cap="none" strike="noStrike">
              <a:solidFill>
                <a:schemeClr val="dk1"/>
              </a:solidFill>
              <a:latin typeface="Calibri"/>
              <a:ea typeface="Calibri"/>
              <a:cs typeface="Calibri"/>
              <a:sym typeface="Calibri"/>
            </a:endParaRPr>
          </a:p>
        </p:txBody>
      </p:sp>
      <p:sp>
        <p:nvSpPr>
          <p:cNvPr id="125" name="Google Shape;125;p9"/>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06 / 26</a:t>
            </a:r>
            <a:endParaRPr b="0" i="0" sz="1000" u="none" cap="none" strike="noStrike">
              <a:solidFill>
                <a:schemeClr val="dk1"/>
              </a:solidFill>
              <a:latin typeface="Calibri"/>
              <a:ea typeface="Calibri"/>
              <a:cs typeface="Calibri"/>
              <a:sym typeface="Calibri"/>
            </a:endParaRPr>
          </a:p>
        </p:txBody>
      </p:sp>
      <p:sp>
        <p:nvSpPr>
          <p:cNvPr id="126" name="Google Shape;126;p9"/>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Why imputed data had to be screened</a:t>
            </a:r>
            <a:endParaRPr b="0" i="0" sz="2800" u="none" cap="none" strike="noStrike">
              <a:solidFill>
                <a:schemeClr val="dk1"/>
              </a:solidFill>
              <a:latin typeface="Calibri"/>
              <a:ea typeface="Calibri"/>
              <a:cs typeface="Calibri"/>
              <a:sym typeface="Calibri"/>
            </a:endParaRPr>
          </a:p>
        </p:txBody>
      </p:sp>
      <p:sp>
        <p:nvSpPr>
          <p:cNvPr id="127" name="Google Shape;127;p9"/>
          <p:cNvSpPr/>
          <p:nvPr/>
        </p:nvSpPr>
        <p:spPr>
          <a:xfrm>
            <a:off x="549275" y="1235075"/>
            <a:ext cx="7219950" cy="4794250"/>
          </a:xfrm>
          <a:prstGeom prst="roundRect">
            <a:avLst>
              <a:gd fmla="val 2318"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ne chart of four crop production series relative to their own mean: three fully imputed series are smooth or repeat the same value for years, while India's reported chilli series varies from year to year" id="128" name="Google Shape;128;p9"/>
          <p:cNvPicPr preferRelativeResize="0"/>
          <p:nvPr/>
        </p:nvPicPr>
        <p:blipFill rotWithShape="1">
          <a:blip r:embed="rId3">
            <a:alphaModFix/>
          </a:blip>
          <a:srcRect b="-2269" l="0" r="0" t="-2269"/>
          <a:stretch/>
        </p:blipFill>
        <p:spPr>
          <a:xfrm>
            <a:off x="660400" y="1346200"/>
            <a:ext cx="6997700" cy="4572000"/>
          </a:xfrm>
          <a:prstGeom prst="rect">
            <a:avLst/>
          </a:prstGeom>
          <a:noFill/>
          <a:ln>
            <a:noFill/>
          </a:ln>
        </p:spPr>
      </p:pic>
      <p:sp>
        <p:nvSpPr>
          <p:cNvPr id="129" name="Google Shape;129;p9"/>
          <p:cNvSpPr/>
          <p:nvPr/>
        </p:nvSpPr>
        <p:spPr>
          <a:xfrm>
            <a:off x="7937500" y="1231900"/>
            <a:ext cx="3708400" cy="4800600"/>
          </a:xfrm>
          <a:prstGeom prst="roundRect">
            <a:avLst>
              <a:gd fmla="val 3082"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a:off x="8140700" y="1435100"/>
            <a:ext cx="3440303" cy="6680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5501C"/>
              </a:buClr>
              <a:buSzPts val="4600"/>
              <a:buFont typeface="Source Serif 4"/>
              <a:buNone/>
            </a:pPr>
            <a:r>
              <a:rPr b="1" i="0" lang="en-US" sz="4600" u="none" cap="none" strike="noStrike">
                <a:solidFill>
                  <a:srgbClr val="B5501C"/>
                </a:solidFill>
                <a:latin typeface="Source Serif 4"/>
                <a:ea typeface="Source Serif 4"/>
                <a:cs typeface="Source Serif 4"/>
                <a:sym typeface="Source Serif 4"/>
              </a:rPr>
              <a:t>719</a:t>
            </a:r>
            <a:endParaRPr b="0" i="0" sz="4600" u="none" cap="none" strike="noStrike">
              <a:solidFill>
                <a:schemeClr val="dk1"/>
              </a:solidFill>
              <a:latin typeface="Calibri"/>
              <a:ea typeface="Calibri"/>
              <a:cs typeface="Calibri"/>
              <a:sym typeface="Calibri"/>
            </a:endParaRPr>
          </a:p>
        </p:txBody>
      </p:sp>
      <p:sp>
        <p:nvSpPr>
          <p:cNvPr id="131" name="Google Shape;131;p9"/>
          <p:cNvSpPr/>
          <p:nvPr/>
        </p:nvSpPr>
        <p:spPr>
          <a:xfrm>
            <a:off x="8140700" y="2197100"/>
            <a:ext cx="3440303" cy="263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D2F23"/>
              </a:buClr>
              <a:buSzPts val="1500"/>
              <a:buFont typeface="Source Sans 3"/>
              <a:buNone/>
            </a:pPr>
            <a:r>
              <a:rPr b="1" i="0" lang="en-US" sz="1500" u="none" cap="none" strike="noStrike">
                <a:solidFill>
                  <a:srgbClr val="1D2F23"/>
                </a:solidFill>
                <a:latin typeface="Source Sans 3"/>
                <a:ea typeface="Source Sans 3"/>
                <a:cs typeface="Source Sans 3"/>
                <a:sym typeface="Source Sans 3"/>
              </a:rPr>
              <a:t>crop series flagged as flat</a:t>
            </a:r>
            <a:endParaRPr b="0" i="0" sz="1500" u="none" cap="none" strike="noStrike">
              <a:solidFill>
                <a:schemeClr val="dk1"/>
              </a:solidFill>
              <a:latin typeface="Calibri"/>
              <a:ea typeface="Calibri"/>
              <a:cs typeface="Calibri"/>
              <a:sym typeface="Calibri"/>
            </a:endParaRPr>
          </a:p>
        </p:txBody>
      </p:sp>
      <p:sp>
        <p:nvSpPr>
          <p:cNvPr id="132" name="Google Shape;132;p9"/>
          <p:cNvSpPr/>
          <p:nvPr/>
        </p:nvSpPr>
        <p:spPr>
          <a:xfrm>
            <a:off x="8140700" y="2787650"/>
            <a:ext cx="3440303" cy="152781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300"/>
              <a:buFont typeface="Source Sans 3"/>
              <a:buNone/>
            </a:pPr>
            <a:r>
              <a:rPr b="0" i="0" lang="en-US" sz="1300" u="none" cap="none" strike="noStrike">
                <a:solidFill>
                  <a:srgbClr val="22332A"/>
                </a:solidFill>
                <a:latin typeface="Source Sans 3"/>
                <a:ea typeface="Source Sans 3"/>
                <a:cs typeface="Source Sans 3"/>
                <a:sym typeface="Source Sans 3"/>
              </a:rPr>
              <a:t>Each line is one crop’s production relative to its own mean; hollow markers are imputed years. The imputed series run smooth or repeat one value, which would look like stability when nothing was measured. We keep them in national totals but fit crop drought responses on reported years only.</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137" name="Shape 137"/>
        <p:cNvGrpSpPr/>
        <p:nvPr/>
      </p:nvGrpSpPr>
      <p:grpSpPr>
        <a:xfrm>
          <a:off x="0" y="0"/>
          <a:ext cx="0" cy="0"/>
          <a:chOff x="0" y="0"/>
          <a:chExt cx="0" cy="0"/>
        </a:xfrm>
      </p:grpSpPr>
      <p:sp>
        <p:nvSpPr>
          <p:cNvPr id="138" name="Google Shape;138;p10"/>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0"/>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DATA USED</a:t>
            </a:r>
            <a:endParaRPr b="0" i="0" sz="1000" u="none" cap="none" strike="noStrike">
              <a:solidFill>
                <a:schemeClr val="dk1"/>
              </a:solidFill>
              <a:latin typeface="Calibri"/>
              <a:ea typeface="Calibri"/>
              <a:cs typeface="Calibri"/>
              <a:sym typeface="Calibri"/>
            </a:endParaRPr>
          </a:p>
        </p:txBody>
      </p:sp>
      <p:sp>
        <p:nvSpPr>
          <p:cNvPr id="140" name="Google Shape;140;p10"/>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07 / 26</a:t>
            </a:r>
            <a:endParaRPr b="0" i="0" sz="1000" u="none" cap="none" strike="noStrike">
              <a:solidFill>
                <a:schemeClr val="dk1"/>
              </a:solidFill>
              <a:latin typeface="Calibri"/>
              <a:ea typeface="Calibri"/>
              <a:cs typeface="Calibri"/>
              <a:sym typeface="Calibri"/>
            </a:endParaRPr>
          </a:p>
        </p:txBody>
      </p:sp>
      <p:sp>
        <p:nvSpPr>
          <p:cNvPr id="141" name="Google Shape;141;p10"/>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Where the world’s crops grow</a:t>
            </a:r>
            <a:endParaRPr b="0" i="0" sz="2800" u="none" cap="none" strike="noStrike">
              <a:solidFill>
                <a:schemeClr val="dk1"/>
              </a:solidFill>
              <a:latin typeface="Calibri"/>
              <a:ea typeface="Calibri"/>
              <a:cs typeface="Calibri"/>
              <a:sym typeface="Calibri"/>
            </a:endParaRPr>
          </a:p>
        </p:txBody>
      </p:sp>
      <p:sp>
        <p:nvSpPr>
          <p:cNvPr id="142" name="Google Shape;142;p10"/>
          <p:cNvSpPr/>
          <p:nvPr/>
        </p:nvSpPr>
        <p:spPr>
          <a:xfrm>
            <a:off x="549275" y="1235075"/>
            <a:ext cx="7219950" cy="4794250"/>
          </a:xfrm>
          <a:prstGeom prst="roundRect">
            <a:avLst>
              <a:gd fmla="val 2318"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orld map of physical crop area per half-degree grid cell on a log scale; densest in India, eastern China, the US Midwest, Europe and the Sahel" id="143" name="Google Shape;143;p10"/>
          <p:cNvPicPr preferRelativeResize="0"/>
          <p:nvPr/>
        </p:nvPicPr>
        <p:blipFill rotWithShape="1">
          <a:blip r:embed="rId3">
            <a:alphaModFix/>
          </a:blip>
          <a:srcRect b="-2269" l="0" r="0" t="-2269"/>
          <a:stretch/>
        </p:blipFill>
        <p:spPr>
          <a:xfrm>
            <a:off x="660400" y="1346200"/>
            <a:ext cx="6997700" cy="4572000"/>
          </a:xfrm>
          <a:prstGeom prst="rect">
            <a:avLst/>
          </a:prstGeom>
          <a:noFill/>
          <a:ln>
            <a:noFill/>
          </a:ln>
        </p:spPr>
      </p:pic>
      <p:sp>
        <p:nvSpPr>
          <p:cNvPr id="144" name="Google Shape;144;p10"/>
          <p:cNvSpPr/>
          <p:nvPr/>
        </p:nvSpPr>
        <p:spPr>
          <a:xfrm>
            <a:off x="7937500" y="1231900"/>
            <a:ext cx="3708400" cy="4800600"/>
          </a:xfrm>
          <a:prstGeom prst="roundRect">
            <a:avLst>
              <a:gd fmla="val 3082"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0"/>
          <p:cNvSpPr/>
          <p:nvPr/>
        </p:nvSpPr>
        <p:spPr>
          <a:xfrm>
            <a:off x="8140700" y="1435100"/>
            <a:ext cx="3440303" cy="6680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5501C"/>
              </a:buClr>
              <a:buSzPts val="4600"/>
              <a:buFont typeface="Source Serif 4"/>
              <a:buNone/>
            </a:pPr>
            <a:r>
              <a:rPr b="1" i="0" lang="en-US" sz="4600" u="none" cap="none" strike="noStrike">
                <a:solidFill>
                  <a:srgbClr val="B5501C"/>
                </a:solidFill>
                <a:latin typeface="Source Serif 4"/>
                <a:ea typeface="Source Serif 4"/>
                <a:cs typeface="Source Serif 4"/>
                <a:sym typeface="Source Serif 4"/>
              </a:rPr>
              <a:t>1,274</a:t>
            </a:r>
            <a:endParaRPr b="0" i="0" sz="4600" u="none" cap="none" strike="noStrike">
              <a:solidFill>
                <a:schemeClr val="dk1"/>
              </a:solidFill>
              <a:latin typeface="Calibri"/>
              <a:ea typeface="Calibri"/>
              <a:cs typeface="Calibri"/>
              <a:sym typeface="Calibri"/>
            </a:endParaRPr>
          </a:p>
        </p:txBody>
      </p:sp>
      <p:sp>
        <p:nvSpPr>
          <p:cNvPr id="146" name="Google Shape;146;p10"/>
          <p:cNvSpPr/>
          <p:nvPr/>
        </p:nvSpPr>
        <p:spPr>
          <a:xfrm>
            <a:off x="8140700" y="2197100"/>
            <a:ext cx="3440303" cy="263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D2F23"/>
              </a:buClr>
              <a:buSzPts val="1500"/>
              <a:buFont typeface="Source Sans 3"/>
              <a:buNone/>
            </a:pPr>
            <a:r>
              <a:rPr b="1" i="0" lang="en-US" sz="1500" u="none" cap="none" strike="noStrike">
                <a:solidFill>
                  <a:srgbClr val="1D2F23"/>
                </a:solidFill>
                <a:latin typeface="Source Sans 3"/>
                <a:ea typeface="Source Sans 3"/>
                <a:cs typeface="Source Sans 3"/>
                <a:sym typeface="Source Sans 3"/>
              </a:rPr>
              <a:t>million hectares of cropland</a:t>
            </a:r>
            <a:endParaRPr b="0" i="0" sz="1500" u="none" cap="none" strike="noStrike">
              <a:solidFill>
                <a:schemeClr val="dk1"/>
              </a:solidFill>
              <a:latin typeface="Calibri"/>
              <a:ea typeface="Calibri"/>
              <a:cs typeface="Calibri"/>
              <a:sym typeface="Calibri"/>
            </a:endParaRPr>
          </a:p>
        </p:txBody>
      </p:sp>
      <p:sp>
        <p:nvSpPr>
          <p:cNvPr id="147" name="Google Shape;147;p10"/>
          <p:cNvSpPr/>
          <p:nvPr/>
        </p:nvSpPr>
        <p:spPr>
          <a:xfrm>
            <a:off x="8140700" y="2787650"/>
            <a:ext cx="3440303" cy="10985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300"/>
              <a:buFont typeface="Source Sans 3"/>
              <a:buNone/>
            </a:pPr>
            <a:r>
              <a:rPr b="0" i="0" lang="en-US" sz="1300" u="none" cap="none" strike="noStrike">
                <a:solidFill>
                  <a:srgbClr val="22332A"/>
                </a:solidFill>
                <a:latin typeface="Source Sans 3"/>
                <a:ea typeface="Source Sans 3"/>
                <a:cs typeface="Source Sans 3"/>
                <a:sym typeface="Source Sans 3"/>
              </a:rPr>
              <a:t>Each 0.5° grid cell is coloured by the physical area of 46 MapSPAM crops (log scale); 38,162 of 259,200 cells hold cropland. This area is the weight in every drought average, so deserts and ice count for nothing.</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152" name="Shape 152"/>
        <p:cNvGrpSpPr/>
        <p:nvPr/>
      </p:nvGrpSpPr>
      <p:grpSpPr>
        <a:xfrm>
          <a:off x="0" y="0"/>
          <a:ext cx="0" cy="0"/>
          <a:chOff x="0" y="0"/>
          <a:chExt cx="0" cy="0"/>
        </a:xfrm>
      </p:grpSpPr>
      <p:sp>
        <p:nvSpPr>
          <p:cNvPr id="153" name="Google Shape;153;p11"/>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METHODOLOGY</a:t>
            </a:r>
            <a:endParaRPr b="0" i="0" sz="1000" u="none" cap="none" strike="noStrike">
              <a:solidFill>
                <a:schemeClr val="dk1"/>
              </a:solidFill>
              <a:latin typeface="Calibri"/>
              <a:ea typeface="Calibri"/>
              <a:cs typeface="Calibri"/>
              <a:sym typeface="Calibri"/>
            </a:endParaRPr>
          </a:p>
        </p:txBody>
      </p:sp>
      <p:sp>
        <p:nvSpPr>
          <p:cNvPr id="155" name="Google Shape;155;p11"/>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08 / 26</a:t>
            </a:r>
            <a:endParaRPr b="0" i="0" sz="1000" u="none" cap="none" strike="noStrike">
              <a:solidFill>
                <a:schemeClr val="dk1"/>
              </a:solidFill>
              <a:latin typeface="Calibri"/>
              <a:ea typeface="Calibri"/>
              <a:cs typeface="Calibri"/>
              <a:sym typeface="Calibri"/>
            </a:endParaRPr>
          </a:p>
        </p:txBody>
      </p:sp>
      <p:sp>
        <p:nvSpPr>
          <p:cNvPr id="156" name="Google Shape;156;p11"/>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Drought measured over cropland, not whole countries</a:t>
            </a:r>
            <a:endParaRPr b="0" i="0" sz="2800" u="none" cap="none" strike="noStrike">
              <a:solidFill>
                <a:schemeClr val="dk1"/>
              </a:solidFill>
              <a:latin typeface="Calibri"/>
              <a:ea typeface="Calibri"/>
              <a:cs typeface="Calibri"/>
              <a:sym typeface="Calibri"/>
            </a:endParaRPr>
          </a:p>
        </p:txBody>
      </p:sp>
      <p:sp>
        <p:nvSpPr>
          <p:cNvPr id="157" name="Google Shape;157;p11"/>
          <p:cNvSpPr/>
          <p:nvPr/>
        </p:nvSpPr>
        <p:spPr>
          <a:xfrm>
            <a:off x="549275" y="1235075"/>
            <a:ext cx="7219950" cy="4794250"/>
          </a:xfrm>
          <a:prstGeom prst="roundRect">
            <a:avLst>
              <a:gd fmla="val 2318"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ix time-series panels for Russia, Australia, Brazil, India, the USA and China comparing cropland-weighted and unweighted SPEI-12, with drought years shaded" id="158" name="Google Shape;158;p11"/>
          <p:cNvPicPr preferRelativeResize="0"/>
          <p:nvPr/>
        </p:nvPicPr>
        <p:blipFill rotWithShape="1">
          <a:blip r:embed="rId3">
            <a:alphaModFix/>
          </a:blip>
          <a:srcRect b="0" l="-1019" r="-1019" t="0"/>
          <a:stretch/>
        </p:blipFill>
        <p:spPr>
          <a:xfrm>
            <a:off x="674007" y="1346200"/>
            <a:ext cx="6997699" cy="4571998"/>
          </a:xfrm>
          <a:prstGeom prst="rect">
            <a:avLst/>
          </a:prstGeom>
          <a:noFill/>
          <a:ln>
            <a:noFill/>
          </a:ln>
        </p:spPr>
      </p:pic>
      <p:sp>
        <p:nvSpPr>
          <p:cNvPr id="159" name="Google Shape;159;p11"/>
          <p:cNvSpPr/>
          <p:nvPr/>
        </p:nvSpPr>
        <p:spPr>
          <a:xfrm>
            <a:off x="7937500" y="1231900"/>
            <a:ext cx="3708400" cy="4800600"/>
          </a:xfrm>
          <a:prstGeom prst="roundRect">
            <a:avLst>
              <a:gd fmla="val 3082"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1"/>
          <p:cNvSpPr/>
          <p:nvPr/>
        </p:nvSpPr>
        <p:spPr>
          <a:xfrm>
            <a:off x="8140700" y="1498600"/>
            <a:ext cx="3440303" cy="528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5501C"/>
              </a:buClr>
              <a:buSzPts val="3600"/>
              <a:buFont typeface="Source Serif 4"/>
              <a:buNone/>
            </a:pPr>
            <a:r>
              <a:rPr b="1" i="0" lang="en-US" sz="3600" u="none" cap="none" strike="noStrike">
                <a:solidFill>
                  <a:srgbClr val="B5501C"/>
                </a:solidFill>
                <a:latin typeface="Source Serif 4"/>
                <a:ea typeface="Source Serif 4"/>
                <a:cs typeface="Source Serif 4"/>
                <a:sym typeface="Source Serif 4"/>
              </a:rPr>
              <a:t>SPEI-12</a:t>
            </a:r>
            <a:endParaRPr b="0" i="0" sz="3600" u="none" cap="none" strike="noStrike">
              <a:solidFill>
                <a:schemeClr val="dk1"/>
              </a:solidFill>
              <a:latin typeface="Calibri"/>
              <a:ea typeface="Calibri"/>
              <a:cs typeface="Calibri"/>
              <a:sym typeface="Calibri"/>
            </a:endParaRPr>
          </a:p>
        </p:txBody>
      </p:sp>
      <p:sp>
        <p:nvSpPr>
          <p:cNvPr id="161" name="Google Shape;161;p11"/>
          <p:cNvSpPr/>
          <p:nvPr/>
        </p:nvSpPr>
        <p:spPr>
          <a:xfrm>
            <a:off x="8140700" y="2197100"/>
            <a:ext cx="3440303" cy="263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D2F23"/>
              </a:buClr>
              <a:buSzPts val="1500"/>
              <a:buFont typeface="Source Sans 3"/>
              <a:buNone/>
            </a:pPr>
            <a:r>
              <a:rPr b="1" i="0" lang="en-US" sz="1500" u="none" cap="none" strike="noStrike">
                <a:solidFill>
                  <a:srgbClr val="1D2F23"/>
                </a:solidFill>
                <a:latin typeface="Source Sans 3"/>
                <a:ea typeface="Source Sans 3"/>
                <a:cs typeface="Source Sans 3"/>
                <a:sym typeface="Source Sans 3"/>
              </a:rPr>
              <a:t>drought index, cropland-weighted</a:t>
            </a:r>
            <a:endParaRPr b="0" i="0" sz="1500" u="none" cap="none" strike="noStrike">
              <a:solidFill>
                <a:schemeClr val="dk1"/>
              </a:solidFill>
              <a:latin typeface="Calibri"/>
              <a:ea typeface="Calibri"/>
              <a:cs typeface="Calibri"/>
              <a:sym typeface="Calibri"/>
            </a:endParaRPr>
          </a:p>
        </p:txBody>
      </p:sp>
      <p:sp>
        <p:nvSpPr>
          <p:cNvPr id="162" name="Google Shape;162;p11"/>
          <p:cNvSpPr/>
          <p:nvPr/>
        </p:nvSpPr>
        <p:spPr>
          <a:xfrm>
            <a:off x="8140700" y="2832100"/>
            <a:ext cx="3440303" cy="152781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300"/>
              <a:buFont typeface="Source Sans 3"/>
              <a:buNone/>
            </a:pPr>
            <a:r>
              <a:rPr b="0" i="0" lang="en-US" sz="1300" u="none" cap="none" strike="noStrike">
                <a:solidFill>
                  <a:srgbClr val="22332A"/>
                </a:solidFill>
                <a:latin typeface="Source Sans 3"/>
                <a:ea typeface="Source Sans 3"/>
                <a:cs typeface="Source Sans 3"/>
                <a:sym typeface="Source Sans 3"/>
              </a:rPr>
              <a:t>Blue is the drought index averaged where crops grow; orange is the same index averaged over the whole country; shaded years have SPEI-12 at or below −1. The two differ most where farmland is concentrated, as in Russia and Australia. In the USA only the cropland-weighted line marks 2012 as a drought.</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167" name="Shape 167"/>
        <p:cNvGrpSpPr/>
        <p:nvPr/>
      </p:nvGrpSpPr>
      <p:grpSpPr>
        <a:xfrm>
          <a:off x="0" y="0"/>
          <a:ext cx="0" cy="0"/>
          <a:chOff x="0" y="0"/>
          <a:chExt cx="0" cy="0"/>
        </a:xfrm>
      </p:grpSpPr>
      <p:sp>
        <p:nvSpPr>
          <p:cNvPr id="168" name="Google Shape;168;p12"/>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2"/>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METHODOLOGY</a:t>
            </a:r>
            <a:endParaRPr b="0" i="0" sz="1000" u="none" cap="none" strike="noStrike">
              <a:solidFill>
                <a:schemeClr val="dk1"/>
              </a:solidFill>
              <a:latin typeface="Calibri"/>
              <a:ea typeface="Calibri"/>
              <a:cs typeface="Calibri"/>
              <a:sym typeface="Calibri"/>
            </a:endParaRPr>
          </a:p>
        </p:txBody>
      </p:sp>
      <p:sp>
        <p:nvSpPr>
          <p:cNvPr id="170" name="Google Shape;170;p12"/>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09 / 26</a:t>
            </a:r>
            <a:endParaRPr b="0" i="0" sz="1000" u="none" cap="none" strike="noStrike">
              <a:solidFill>
                <a:schemeClr val="dk1"/>
              </a:solidFill>
              <a:latin typeface="Calibri"/>
              <a:ea typeface="Calibri"/>
              <a:cs typeface="Calibri"/>
              <a:sym typeface="Calibri"/>
            </a:endParaRPr>
          </a:p>
        </p:txBody>
      </p:sp>
      <p:sp>
        <p:nvSpPr>
          <p:cNvPr id="171" name="Google Shape;171;p12"/>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Drought events, 1993–2023</a:t>
            </a:r>
            <a:endParaRPr b="0" i="0" sz="2800" u="none" cap="none" strike="noStrike">
              <a:solidFill>
                <a:schemeClr val="dk1"/>
              </a:solidFill>
              <a:latin typeface="Calibri"/>
              <a:ea typeface="Calibri"/>
              <a:cs typeface="Calibri"/>
              <a:sym typeface="Calibri"/>
            </a:endParaRPr>
          </a:p>
        </p:txBody>
      </p:sp>
      <p:sp>
        <p:nvSpPr>
          <p:cNvPr id="172" name="Google Shape;172;p12"/>
          <p:cNvSpPr/>
          <p:nvPr/>
        </p:nvSpPr>
        <p:spPr>
          <a:xfrm>
            <a:off x="549275" y="1235075"/>
            <a:ext cx="7219950" cy="4794250"/>
          </a:xfrm>
          <a:prstGeom prst="roundRect">
            <a:avLst>
              <a:gd fmla="val 2318"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orld map of the number of drought events per country from 0 to 5; Australia, Saudi Arabia, Türkiye and Venezuela are among the highest" id="173" name="Google Shape;173;p12"/>
          <p:cNvPicPr preferRelativeResize="0"/>
          <p:nvPr/>
        </p:nvPicPr>
        <p:blipFill rotWithShape="1">
          <a:blip r:embed="rId3">
            <a:alphaModFix/>
          </a:blip>
          <a:srcRect b="-2269" l="0" r="0" t="-2269"/>
          <a:stretch/>
        </p:blipFill>
        <p:spPr>
          <a:xfrm>
            <a:off x="660400" y="1346200"/>
            <a:ext cx="6997700" cy="4572000"/>
          </a:xfrm>
          <a:prstGeom prst="rect">
            <a:avLst/>
          </a:prstGeom>
          <a:noFill/>
          <a:ln>
            <a:noFill/>
          </a:ln>
        </p:spPr>
      </p:pic>
      <p:sp>
        <p:nvSpPr>
          <p:cNvPr id="174" name="Google Shape;174;p12"/>
          <p:cNvSpPr/>
          <p:nvPr/>
        </p:nvSpPr>
        <p:spPr>
          <a:xfrm>
            <a:off x="7937500" y="1231900"/>
            <a:ext cx="3708400" cy="4800600"/>
          </a:xfrm>
          <a:prstGeom prst="roundRect">
            <a:avLst>
              <a:gd fmla="val 3082"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2"/>
          <p:cNvSpPr/>
          <p:nvPr/>
        </p:nvSpPr>
        <p:spPr>
          <a:xfrm>
            <a:off x="8140700" y="1435100"/>
            <a:ext cx="3440303" cy="6680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5501C"/>
              </a:buClr>
              <a:buSzPts val="4600"/>
              <a:buFont typeface="Source Serif 4"/>
              <a:buNone/>
            </a:pPr>
            <a:r>
              <a:rPr b="1" i="0" lang="en-US" sz="4600" u="none" cap="none" strike="noStrike">
                <a:solidFill>
                  <a:srgbClr val="B5501C"/>
                </a:solidFill>
                <a:latin typeface="Source Serif 4"/>
                <a:ea typeface="Source Serif 4"/>
                <a:cs typeface="Source Serif 4"/>
                <a:sym typeface="Source Serif 4"/>
              </a:rPr>
              <a:t>431</a:t>
            </a:r>
            <a:endParaRPr b="0" i="0" sz="4600" u="none" cap="none" strike="noStrike">
              <a:solidFill>
                <a:schemeClr val="dk1"/>
              </a:solidFill>
              <a:latin typeface="Calibri"/>
              <a:ea typeface="Calibri"/>
              <a:cs typeface="Calibri"/>
              <a:sym typeface="Calibri"/>
            </a:endParaRPr>
          </a:p>
        </p:txBody>
      </p:sp>
      <p:sp>
        <p:nvSpPr>
          <p:cNvPr id="176" name="Google Shape;176;p12"/>
          <p:cNvSpPr/>
          <p:nvPr/>
        </p:nvSpPr>
        <p:spPr>
          <a:xfrm>
            <a:off x="8140700" y="2197100"/>
            <a:ext cx="3440303" cy="263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D2F23"/>
              </a:buClr>
              <a:buSzPts val="1500"/>
              <a:buFont typeface="Source Sans 3"/>
              <a:buNone/>
            </a:pPr>
            <a:r>
              <a:rPr b="1" i="0" lang="en-US" sz="1500" u="none" cap="none" strike="noStrike">
                <a:solidFill>
                  <a:srgbClr val="1D2F23"/>
                </a:solidFill>
                <a:latin typeface="Source Sans 3"/>
                <a:ea typeface="Source Sans 3"/>
                <a:cs typeface="Source Sans 3"/>
                <a:sym typeface="Source Sans 3"/>
              </a:rPr>
              <a:t>events in 187 countries</a:t>
            </a:r>
            <a:endParaRPr b="0" i="0" sz="1500" u="none" cap="none" strike="noStrike">
              <a:solidFill>
                <a:schemeClr val="dk1"/>
              </a:solidFill>
              <a:latin typeface="Calibri"/>
              <a:ea typeface="Calibri"/>
              <a:cs typeface="Calibri"/>
              <a:sym typeface="Calibri"/>
            </a:endParaRPr>
          </a:p>
        </p:txBody>
      </p:sp>
      <p:sp>
        <p:nvSpPr>
          <p:cNvPr id="177" name="Google Shape;177;p12"/>
          <p:cNvSpPr/>
          <p:nvPr/>
        </p:nvSpPr>
        <p:spPr>
          <a:xfrm>
            <a:off x="8140700" y="2787650"/>
            <a:ext cx="3440400" cy="1470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300"/>
              <a:buFont typeface="Source Sans 3"/>
              <a:buNone/>
            </a:pPr>
            <a:r>
              <a:rPr b="0" i="0" lang="en-US" sz="1300" u="none" cap="none" strike="noStrike">
                <a:solidFill>
                  <a:srgbClr val="22332A"/>
                </a:solidFill>
                <a:latin typeface="Source Sans 3"/>
                <a:ea typeface="Source Sans 3"/>
                <a:cs typeface="Source Sans 3"/>
                <a:sym typeface="Source Sans 3"/>
              </a:rPr>
              <a:t>An event is the first year of a run of drought years (December SPEI-12 ≤ −1), kept only if the three years before were drought-free and three years after fall inside the window. The map counts events per country; 232 events fall in the 107 countries analysed.</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182" name="Shape 182"/>
        <p:cNvGrpSpPr/>
        <p:nvPr/>
      </p:nvGrpSpPr>
      <p:grpSpPr>
        <a:xfrm>
          <a:off x="0" y="0"/>
          <a:ext cx="0" cy="0"/>
          <a:chOff x="0" y="0"/>
          <a:chExt cx="0" cy="0"/>
        </a:xfrm>
      </p:grpSpPr>
      <p:sp>
        <p:nvSpPr>
          <p:cNvPr id="183" name="Google Shape;183;p13"/>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3"/>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METHODOLOGY</a:t>
            </a:r>
            <a:endParaRPr b="0" i="0" sz="1000" u="none" cap="none" strike="noStrike">
              <a:solidFill>
                <a:schemeClr val="dk1"/>
              </a:solidFill>
              <a:latin typeface="Calibri"/>
              <a:ea typeface="Calibri"/>
              <a:cs typeface="Calibri"/>
              <a:sym typeface="Calibri"/>
            </a:endParaRPr>
          </a:p>
        </p:txBody>
      </p:sp>
      <p:sp>
        <p:nvSpPr>
          <p:cNvPr id="185" name="Google Shape;185;p13"/>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10 / 26</a:t>
            </a:r>
            <a:endParaRPr b="0" i="0" sz="1000" u="none" cap="none" strike="noStrike">
              <a:solidFill>
                <a:schemeClr val="dk1"/>
              </a:solidFill>
              <a:latin typeface="Calibri"/>
              <a:ea typeface="Calibri"/>
              <a:cs typeface="Calibri"/>
              <a:sym typeface="Calibri"/>
            </a:endParaRPr>
          </a:p>
        </p:txBody>
      </p:sp>
      <p:sp>
        <p:nvSpPr>
          <p:cNvPr id="186" name="Google Shape;186;p13"/>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Check against 12 documented droughts</a:t>
            </a:r>
            <a:endParaRPr b="0" i="0" sz="2800" u="none" cap="none" strike="noStrike">
              <a:solidFill>
                <a:schemeClr val="dk1"/>
              </a:solidFill>
              <a:latin typeface="Calibri"/>
              <a:ea typeface="Calibri"/>
              <a:cs typeface="Calibri"/>
              <a:sym typeface="Calibri"/>
            </a:endParaRPr>
          </a:p>
        </p:txBody>
      </p:sp>
      <p:sp>
        <p:nvSpPr>
          <p:cNvPr id="187" name="Google Shape;187;p13"/>
          <p:cNvSpPr/>
          <p:nvPr/>
        </p:nvSpPr>
        <p:spPr>
          <a:xfrm>
            <a:off x="549275" y="1235075"/>
            <a:ext cx="7219950" cy="4794250"/>
          </a:xfrm>
          <a:prstGeom prst="roundRect">
            <a:avLst>
              <a:gd fmla="val 2318"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eft: bar chart of hit rate, 6 of 12 for cropland-weighted and 5 of 12 for unweighted SPEI, against a base rate near 0.2. Right: SPEI-12 for each known drought year under both weightings" id="188" name="Google Shape;188;p13"/>
          <p:cNvPicPr preferRelativeResize="0"/>
          <p:nvPr/>
        </p:nvPicPr>
        <p:blipFill rotWithShape="1">
          <a:blip r:embed="rId3">
            <a:alphaModFix/>
          </a:blip>
          <a:srcRect b="-2269" l="0" r="0" t="-2269"/>
          <a:stretch/>
        </p:blipFill>
        <p:spPr>
          <a:xfrm>
            <a:off x="660400" y="1346200"/>
            <a:ext cx="6997700" cy="4572000"/>
          </a:xfrm>
          <a:prstGeom prst="rect">
            <a:avLst/>
          </a:prstGeom>
          <a:noFill/>
          <a:ln>
            <a:noFill/>
          </a:ln>
        </p:spPr>
      </p:pic>
      <p:sp>
        <p:nvSpPr>
          <p:cNvPr id="189" name="Google Shape;189;p13"/>
          <p:cNvSpPr/>
          <p:nvPr/>
        </p:nvSpPr>
        <p:spPr>
          <a:xfrm>
            <a:off x="7937500" y="1231900"/>
            <a:ext cx="3708400" cy="4800600"/>
          </a:xfrm>
          <a:prstGeom prst="roundRect">
            <a:avLst>
              <a:gd fmla="val 3082"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3"/>
          <p:cNvSpPr/>
          <p:nvPr/>
        </p:nvSpPr>
        <p:spPr>
          <a:xfrm>
            <a:off x="8140700" y="1435100"/>
            <a:ext cx="3440303" cy="6680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5501C"/>
              </a:buClr>
              <a:buSzPts val="4600"/>
              <a:buFont typeface="Source Serif 4"/>
              <a:buNone/>
            </a:pPr>
            <a:r>
              <a:rPr b="1" i="0" lang="en-US" sz="4600" u="none" cap="none" strike="noStrike">
                <a:solidFill>
                  <a:srgbClr val="B5501C"/>
                </a:solidFill>
                <a:latin typeface="Source Serif 4"/>
                <a:ea typeface="Source Serif 4"/>
                <a:cs typeface="Source Serif 4"/>
                <a:sym typeface="Source Serif 4"/>
              </a:rPr>
              <a:t>6 / 12</a:t>
            </a:r>
            <a:endParaRPr b="0" i="0" sz="4600" u="none" cap="none" strike="noStrike">
              <a:solidFill>
                <a:schemeClr val="dk1"/>
              </a:solidFill>
              <a:latin typeface="Calibri"/>
              <a:ea typeface="Calibri"/>
              <a:cs typeface="Calibri"/>
              <a:sym typeface="Calibri"/>
            </a:endParaRPr>
          </a:p>
        </p:txBody>
      </p:sp>
      <p:sp>
        <p:nvSpPr>
          <p:cNvPr id="191" name="Google Shape;191;p13"/>
          <p:cNvSpPr/>
          <p:nvPr/>
        </p:nvSpPr>
        <p:spPr>
          <a:xfrm>
            <a:off x="8140700" y="2197100"/>
            <a:ext cx="3440303" cy="263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D2F23"/>
              </a:buClr>
              <a:buSzPts val="1500"/>
              <a:buFont typeface="Source Sans 3"/>
              <a:buNone/>
            </a:pPr>
            <a:r>
              <a:rPr b="1" i="0" lang="en-US" sz="1500" u="none" cap="none" strike="noStrike">
                <a:solidFill>
                  <a:srgbClr val="1D2F23"/>
                </a:solidFill>
                <a:latin typeface="Source Sans 3"/>
                <a:ea typeface="Source Sans 3"/>
                <a:cs typeface="Source Sans 3"/>
                <a:sym typeface="Source Sans 3"/>
              </a:rPr>
              <a:t>flagged with cropland weights</a:t>
            </a:r>
            <a:endParaRPr b="0" i="0" sz="1500" u="none" cap="none" strike="noStrike">
              <a:solidFill>
                <a:schemeClr val="dk1"/>
              </a:solidFill>
              <a:latin typeface="Calibri"/>
              <a:ea typeface="Calibri"/>
              <a:cs typeface="Calibri"/>
              <a:sym typeface="Calibri"/>
            </a:endParaRPr>
          </a:p>
        </p:txBody>
      </p:sp>
      <p:sp>
        <p:nvSpPr>
          <p:cNvPr id="192" name="Google Shape;192;p13"/>
          <p:cNvSpPr/>
          <p:nvPr/>
        </p:nvSpPr>
        <p:spPr>
          <a:xfrm>
            <a:off x="8140700" y="2787650"/>
            <a:ext cx="3440303" cy="16764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250"/>
              <a:buFont typeface="Source Sans 3"/>
              <a:buNone/>
            </a:pPr>
            <a:r>
              <a:rPr b="0" i="0" lang="en-US" sz="1250" u="none" cap="none" strike="noStrike">
                <a:solidFill>
                  <a:srgbClr val="22332A"/>
                </a:solidFill>
                <a:latin typeface="Source Sans 3"/>
                <a:ea typeface="Source Sans 3"/>
                <a:cs typeface="Source Sans 3"/>
                <a:sym typeface="Source Sans 3"/>
              </a:rPr>
              <a:t>Left: share of 12 documented droughts flagged; the dashed line is the share of all country-years flagged (about 20%), so both versions beat chance. Right: SPEI-12 in each drought year, flagged when left of −1. Whole-country SPEI flags 5 of 12; allowing ±1 year the weighted index reaches 7 of 12. East Africa 2011 and Brazil 2015 are missed.</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197" name="Shape 197"/>
        <p:cNvGrpSpPr/>
        <p:nvPr/>
      </p:nvGrpSpPr>
      <p:grpSpPr>
        <a:xfrm>
          <a:off x="0" y="0"/>
          <a:ext cx="0" cy="0"/>
          <a:chOff x="0" y="0"/>
          <a:chExt cx="0" cy="0"/>
        </a:xfrm>
      </p:grpSpPr>
      <p:sp>
        <p:nvSpPr>
          <p:cNvPr id="198" name="Google Shape;198;p14"/>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4"/>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METHODOLOGY</a:t>
            </a:r>
            <a:endParaRPr b="0" i="0" sz="1000" u="none" cap="none" strike="noStrike">
              <a:solidFill>
                <a:schemeClr val="dk1"/>
              </a:solidFill>
              <a:latin typeface="Calibri"/>
              <a:ea typeface="Calibri"/>
              <a:cs typeface="Calibri"/>
              <a:sym typeface="Calibri"/>
            </a:endParaRPr>
          </a:p>
        </p:txBody>
      </p:sp>
      <p:sp>
        <p:nvSpPr>
          <p:cNvPr id="200" name="Google Shape;200;p14"/>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11 / 26</a:t>
            </a:r>
            <a:endParaRPr b="0" i="0" sz="1000" u="none" cap="none" strike="noStrike">
              <a:solidFill>
                <a:schemeClr val="dk1"/>
              </a:solidFill>
              <a:latin typeface="Calibri"/>
              <a:ea typeface="Calibri"/>
              <a:cs typeface="Calibri"/>
              <a:sym typeface="Calibri"/>
            </a:endParaRPr>
          </a:p>
        </p:txBody>
      </p:sp>
      <p:sp>
        <p:nvSpPr>
          <p:cNvPr id="201" name="Google Shape;201;p14"/>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How we calculate: diversity and the value index</a:t>
            </a:r>
            <a:endParaRPr b="0" i="0" sz="2800" u="none" cap="none" strike="noStrike">
              <a:solidFill>
                <a:schemeClr val="dk1"/>
              </a:solidFill>
              <a:latin typeface="Calibri"/>
              <a:ea typeface="Calibri"/>
              <a:cs typeface="Calibri"/>
              <a:sym typeface="Calibri"/>
            </a:endParaRPr>
          </a:p>
        </p:txBody>
      </p:sp>
      <p:sp>
        <p:nvSpPr>
          <p:cNvPr id="202" name="Google Shape;202;p14"/>
          <p:cNvSpPr/>
          <p:nvPr/>
        </p:nvSpPr>
        <p:spPr>
          <a:xfrm>
            <a:off x="549275" y="1235075"/>
            <a:ext cx="5480050" cy="1593850"/>
          </a:xfrm>
          <a:prstGeom prst="roundRect">
            <a:avLst>
              <a:gd fmla="val 6972"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4"/>
          <p:cNvSpPr/>
          <p:nvPr/>
        </p:nvSpPr>
        <p:spPr>
          <a:xfrm>
            <a:off x="730250" y="1416050"/>
            <a:ext cx="381000" cy="380444"/>
          </a:xfrm>
          <a:custGeom>
            <a:rect b="b" l="l" r="r" t="t"/>
            <a:pathLst>
              <a:path extrusionOk="0" h="380444" w="381000">
                <a:moveTo>
                  <a:pt x="190222" y="0"/>
                </a:moveTo>
                <a:lnTo>
                  <a:pt x="190778" y="0"/>
                </a:lnTo>
                <a:cubicBezTo>
                  <a:pt x="241228" y="0"/>
                  <a:pt x="289612" y="20041"/>
                  <a:pt x="325285" y="55715"/>
                </a:cubicBezTo>
                <a:cubicBezTo>
                  <a:pt x="360959" y="91388"/>
                  <a:pt x="381000" y="139772"/>
                  <a:pt x="381000" y="190222"/>
                </a:cubicBezTo>
                <a:lnTo>
                  <a:pt x="381000" y="190222"/>
                </a:lnTo>
                <a:cubicBezTo>
                  <a:pt x="381000" y="295279"/>
                  <a:pt x="295835" y="380444"/>
                  <a:pt x="190778" y="380444"/>
                </a:cubicBezTo>
                <a:lnTo>
                  <a:pt x="190222" y="380444"/>
                </a:lnTo>
                <a:cubicBezTo>
                  <a:pt x="85165" y="380444"/>
                  <a:pt x="0" y="295279"/>
                  <a:pt x="0" y="190222"/>
                </a:cubicBezTo>
                <a:lnTo>
                  <a:pt x="0" y="190222"/>
                </a:lnTo>
                <a:cubicBezTo>
                  <a:pt x="0" y="85165"/>
                  <a:pt x="85165" y="0"/>
                  <a:pt x="190222" y="0"/>
                </a:cubicBezTo>
                <a:close/>
              </a:path>
            </a:pathLst>
          </a:custGeom>
          <a:solidFill>
            <a:srgbClr val="B5501C"/>
          </a:solidFill>
          <a:ln>
            <a:noFill/>
          </a:ln>
        </p:spPr>
        <p:txBody>
          <a:bodyPr anchorCtr="0" anchor="t" bIns="0" lIns="0" spcFirstLastPara="1" rIns="0" wrap="square" tIns="0">
            <a:noAutofit/>
          </a:bodyPr>
          <a:lstStyle/>
          <a:p>
            <a:pPr indent="0" lvl="0" marL="0" marR="0" rtl="0" algn="ctr">
              <a:lnSpc>
                <a:spcPct val="214000"/>
              </a:lnSpc>
              <a:spcBef>
                <a:spcPts val="0"/>
              </a:spcBef>
              <a:spcAft>
                <a:spcPts val="0"/>
              </a:spcAft>
              <a:buClr>
                <a:srgbClr val="FFFFFF"/>
              </a:buClr>
              <a:buSzPts val="1400"/>
              <a:buFont typeface="Source Sans 3"/>
              <a:buNone/>
            </a:pPr>
            <a:r>
              <a:rPr b="1" i="0" lang="en-US" sz="1400" u="none" cap="none" strike="noStrike">
                <a:solidFill>
                  <a:srgbClr val="FFFFFF"/>
                </a:solidFill>
                <a:latin typeface="Source Sans 3"/>
                <a:ea typeface="Source Sans 3"/>
                <a:cs typeface="Source Sans 3"/>
                <a:sym typeface="Source Sans 3"/>
              </a:rPr>
              <a:t>1</a:t>
            </a:r>
            <a:endParaRPr b="0" i="0" sz="1400" u="none" cap="none" strike="noStrike">
              <a:solidFill>
                <a:schemeClr val="dk1"/>
              </a:solidFill>
              <a:latin typeface="Calibri"/>
              <a:ea typeface="Calibri"/>
              <a:cs typeface="Calibri"/>
              <a:sym typeface="Calibri"/>
            </a:endParaRPr>
          </a:p>
        </p:txBody>
      </p:sp>
      <p:sp>
        <p:nvSpPr>
          <p:cNvPr id="204" name="Google Shape;204;p14"/>
          <p:cNvSpPr/>
          <p:nvPr/>
        </p:nvSpPr>
        <p:spPr>
          <a:xfrm>
            <a:off x="1282700" y="1485900"/>
            <a:ext cx="2158365" cy="263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D2F23"/>
              </a:buClr>
              <a:buSzPts val="1500"/>
              <a:buFont typeface="Source Sans 3"/>
              <a:buNone/>
            </a:pPr>
            <a:r>
              <a:rPr b="1" i="0" lang="en-US" sz="1500" u="none" cap="none" strike="noStrike">
                <a:solidFill>
                  <a:srgbClr val="1D2F23"/>
                </a:solidFill>
                <a:latin typeface="Source Sans 3"/>
                <a:ea typeface="Source Sans 3"/>
                <a:cs typeface="Source Sans 3"/>
                <a:sym typeface="Source Sans 3"/>
              </a:rPr>
              <a:t>Crop diversity, hill1</a:t>
            </a:r>
            <a:endParaRPr b="0" i="0" sz="1500" u="none" cap="none" strike="noStrike">
              <a:solidFill>
                <a:schemeClr val="dk1"/>
              </a:solidFill>
              <a:latin typeface="Calibri"/>
              <a:ea typeface="Calibri"/>
              <a:cs typeface="Calibri"/>
              <a:sym typeface="Calibri"/>
            </a:endParaRPr>
          </a:p>
        </p:txBody>
      </p:sp>
      <p:sp>
        <p:nvSpPr>
          <p:cNvPr id="205" name="Google Shape;205;p14"/>
          <p:cNvSpPr/>
          <p:nvPr/>
        </p:nvSpPr>
        <p:spPr>
          <a:xfrm>
            <a:off x="3310255" y="1498600"/>
            <a:ext cx="2550795" cy="25654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5501C"/>
              </a:buClr>
              <a:buSzPts val="1300"/>
              <a:buFont typeface="Source Serif 4"/>
              <a:buNone/>
            </a:pPr>
            <a:r>
              <a:rPr b="0" i="1" lang="en-US" sz="1300" u="none" cap="none" strike="noStrike">
                <a:solidFill>
                  <a:srgbClr val="B5501C"/>
                </a:solidFill>
                <a:latin typeface="Source Serif 4"/>
                <a:ea typeface="Source Serif 4"/>
                <a:cs typeface="Source Serif 4"/>
                <a:sym typeface="Source Serif 4"/>
              </a:rPr>
              <a:t>hill1 = exp( −Σ pᵢ ln pᵢ )</a:t>
            </a:r>
            <a:endParaRPr b="0" i="0" sz="1300" u="none" cap="none" strike="noStrike">
              <a:solidFill>
                <a:schemeClr val="dk1"/>
              </a:solidFill>
              <a:latin typeface="Calibri"/>
              <a:ea typeface="Calibri"/>
              <a:cs typeface="Calibri"/>
              <a:sym typeface="Calibri"/>
            </a:endParaRPr>
          </a:p>
        </p:txBody>
      </p:sp>
      <p:sp>
        <p:nvSpPr>
          <p:cNvPr id="206" name="Google Shape;206;p14"/>
          <p:cNvSpPr/>
          <p:nvPr/>
        </p:nvSpPr>
        <p:spPr>
          <a:xfrm>
            <a:off x="1282700" y="1854200"/>
            <a:ext cx="4709160" cy="620713"/>
          </a:xfrm>
          <a:prstGeom prst="rect">
            <a:avLst/>
          </a:prstGeom>
          <a:noFill/>
          <a:ln>
            <a:noFill/>
          </a:ln>
        </p:spPr>
        <p:txBody>
          <a:bodyPr anchorCtr="0" anchor="t" bIns="0" lIns="0" spcFirstLastPara="1" rIns="0" wrap="square" tIns="0">
            <a:noAutofit/>
          </a:bodyPr>
          <a:lstStyle/>
          <a:p>
            <a:pPr indent="0" lvl="0" marL="0" marR="0" rtl="0" algn="l">
              <a:lnSpc>
                <a:spcPct val="125039"/>
              </a:lnSpc>
              <a:spcBef>
                <a:spcPts val="0"/>
              </a:spcBef>
              <a:spcAft>
                <a:spcPts val="0"/>
              </a:spcAft>
              <a:buClr>
                <a:srgbClr val="22332A"/>
              </a:buClr>
              <a:buSzPts val="1250"/>
              <a:buFont typeface="Source Sans 3"/>
              <a:buNone/>
            </a:pPr>
            <a:r>
              <a:rPr b="0" i="0" lang="en-US" sz="1250" u="none" cap="none" strike="noStrike">
                <a:solidFill>
                  <a:srgbClr val="22332A"/>
                </a:solidFill>
                <a:latin typeface="Source Sans 3"/>
                <a:ea typeface="Source Sans 3"/>
                <a:cs typeface="Source Sans 3"/>
                <a:sym typeface="Source Sans 3"/>
              </a:rPr>
              <a:t>pᵢ = crop i’s share of mean harvested area, 1993–2023. It is the effective number of crops: it equals the crop count if all share area equally and falls when a few crops dominate. India: 18.9; median 9.2.</a:t>
            </a:r>
            <a:endParaRPr b="0" i="0" sz="1250" u="none" cap="none" strike="noStrike">
              <a:solidFill>
                <a:schemeClr val="dk1"/>
              </a:solidFill>
              <a:latin typeface="Calibri"/>
              <a:ea typeface="Calibri"/>
              <a:cs typeface="Calibri"/>
              <a:sym typeface="Calibri"/>
            </a:endParaRPr>
          </a:p>
        </p:txBody>
      </p:sp>
      <p:sp>
        <p:nvSpPr>
          <p:cNvPr id="207" name="Google Shape;207;p14"/>
          <p:cNvSpPr/>
          <p:nvPr/>
        </p:nvSpPr>
        <p:spPr>
          <a:xfrm>
            <a:off x="549275" y="2974975"/>
            <a:ext cx="5480050" cy="1320800"/>
          </a:xfrm>
          <a:prstGeom prst="roundRect">
            <a:avLst>
              <a:gd fmla="val 8413"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4"/>
          <p:cNvSpPr/>
          <p:nvPr/>
        </p:nvSpPr>
        <p:spPr>
          <a:xfrm>
            <a:off x="730250" y="3155950"/>
            <a:ext cx="381000" cy="380444"/>
          </a:xfrm>
          <a:custGeom>
            <a:rect b="b" l="l" r="r" t="t"/>
            <a:pathLst>
              <a:path extrusionOk="0" h="380444" w="381000">
                <a:moveTo>
                  <a:pt x="190222" y="0"/>
                </a:moveTo>
                <a:lnTo>
                  <a:pt x="190778" y="0"/>
                </a:lnTo>
                <a:cubicBezTo>
                  <a:pt x="241228" y="0"/>
                  <a:pt x="289612" y="20041"/>
                  <a:pt x="325285" y="55715"/>
                </a:cubicBezTo>
                <a:cubicBezTo>
                  <a:pt x="360959" y="91388"/>
                  <a:pt x="381000" y="139772"/>
                  <a:pt x="381000" y="190222"/>
                </a:cubicBezTo>
                <a:lnTo>
                  <a:pt x="381000" y="190222"/>
                </a:lnTo>
                <a:cubicBezTo>
                  <a:pt x="381000" y="295279"/>
                  <a:pt x="295835" y="380444"/>
                  <a:pt x="190778" y="380444"/>
                </a:cubicBezTo>
                <a:lnTo>
                  <a:pt x="190222" y="380444"/>
                </a:lnTo>
                <a:cubicBezTo>
                  <a:pt x="85165" y="380444"/>
                  <a:pt x="0" y="295279"/>
                  <a:pt x="0" y="190222"/>
                </a:cubicBezTo>
                <a:lnTo>
                  <a:pt x="0" y="190222"/>
                </a:lnTo>
                <a:cubicBezTo>
                  <a:pt x="0" y="85165"/>
                  <a:pt x="85165" y="0"/>
                  <a:pt x="190222" y="0"/>
                </a:cubicBezTo>
                <a:close/>
              </a:path>
            </a:pathLst>
          </a:custGeom>
          <a:solidFill>
            <a:srgbClr val="B5501C"/>
          </a:solidFill>
          <a:ln>
            <a:noFill/>
          </a:ln>
        </p:spPr>
        <p:txBody>
          <a:bodyPr anchorCtr="0" anchor="t" bIns="0" lIns="0" spcFirstLastPara="1" rIns="0" wrap="square" tIns="0">
            <a:noAutofit/>
          </a:bodyPr>
          <a:lstStyle/>
          <a:p>
            <a:pPr indent="0" lvl="0" marL="0" marR="0" rtl="0" algn="ctr">
              <a:lnSpc>
                <a:spcPct val="214000"/>
              </a:lnSpc>
              <a:spcBef>
                <a:spcPts val="0"/>
              </a:spcBef>
              <a:spcAft>
                <a:spcPts val="0"/>
              </a:spcAft>
              <a:buClr>
                <a:srgbClr val="FFFFFF"/>
              </a:buClr>
              <a:buSzPts val="1400"/>
              <a:buFont typeface="Source Sans 3"/>
              <a:buNone/>
            </a:pPr>
            <a:r>
              <a:rPr b="1" i="0" lang="en-US" sz="1400" u="none" cap="none" strike="noStrike">
                <a:solidFill>
                  <a:srgbClr val="FFFFFF"/>
                </a:solidFill>
                <a:latin typeface="Source Sans 3"/>
                <a:ea typeface="Source Sans 3"/>
                <a:cs typeface="Source Sans 3"/>
                <a:sym typeface="Source Sans 3"/>
              </a:rPr>
              <a:t>2</a:t>
            </a:r>
            <a:endParaRPr b="0" i="0" sz="1400" u="none" cap="none" strike="noStrike">
              <a:solidFill>
                <a:schemeClr val="dk1"/>
              </a:solidFill>
              <a:latin typeface="Calibri"/>
              <a:ea typeface="Calibri"/>
              <a:cs typeface="Calibri"/>
              <a:sym typeface="Calibri"/>
            </a:endParaRPr>
          </a:p>
        </p:txBody>
      </p:sp>
      <p:sp>
        <p:nvSpPr>
          <p:cNvPr id="209" name="Google Shape;209;p14"/>
          <p:cNvSpPr/>
          <p:nvPr/>
        </p:nvSpPr>
        <p:spPr>
          <a:xfrm>
            <a:off x="1282700" y="3225800"/>
            <a:ext cx="2158365" cy="263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D2F23"/>
              </a:buClr>
              <a:buSzPts val="1500"/>
              <a:buFont typeface="Source Sans 3"/>
              <a:buNone/>
            </a:pPr>
            <a:r>
              <a:rPr b="1" i="0" lang="en-US" sz="1500" u="none" cap="none" strike="noStrike">
                <a:solidFill>
                  <a:srgbClr val="1D2F23"/>
                </a:solidFill>
                <a:latin typeface="Source Sans 3"/>
                <a:ea typeface="Source Sans 3"/>
                <a:cs typeface="Source Sans 3"/>
                <a:sym typeface="Source Sans 3"/>
              </a:rPr>
              <a:t>National value, yₜ</a:t>
            </a:r>
            <a:endParaRPr b="0" i="0" sz="1500" u="none" cap="none" strike="noStrike">
              <a:solidFill>
                <a:schemeClr val="dk1"/>
              </a:solidFill>
              <a:latin typeface="Calibri"/>
              <a:ea typeface="Calibri"/>
              <a:cs typeface="Calibri"/>
              <a:sym typeface="Calibri"/>
            </a:endParaRPr>
          </a:p>
        </p:txBody>
      </p:sp>
      <p:sp>
        <p:nvSpPr>
          <p:cNvPr id="210" name="Google Shape;210;p14"/>
          <p:cNvSpPr/>
          <p:nvPr/>
        </p:nvSpPr>
        <p:spPr>
          <a:xfrm>
            <a:off x="3310255" y="3238500"/>
            <a:ext cx="2550795" cy="25654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5501C"/>
              </a:buClr>
              <a:buSzPts val="1300"/>
              <a:buFont typeface="Source Serif 4"/>
              <a:buNone/>
            </a:pPr>
            <a:r>
              <a:rPr b="0" i="1" lang="en-US" sz="1300" u="none" cap="none" strike="noStrike">
                <a:solidFill>
                  <a:srgbClr val="B5501C"/>
                </a:solidFill>
                <a:latin typeface="Source Serif 4"/>
                <a:ea typeface="Source Serif 4"/>
                <a:cs typeface="Source Serif 4"/>
                <a:sym typeface="Source Serif 4"/>
              </a:rPr>
              <a:t>yₜ = Σ value_const over crops</a:t>
            </a:r>
            <a:endParaRPr b="0" i="0" sz="1300" u="none" cap="none" strike="noStrike">
              <a:solidFill>
                <a:schemeClr val="dk1"/>
              </a:solidFill>
              <a:latin typeface="Calibri"/>
              <a:ea typeface="Calibri"/>
              <a:cs typeface="Calibri"/>
              <a:sym typeface="Calibri"/>
            </a:endParaRPr>
          </a:p>
        </p:txBody>
      </p:sp>
      <p:sp>
        <p:nvSpPr>
          <p:cNvPr id="211" name="Google Shape;211;p14"/>
          <p:cNvSpPr/>
          <p:nvPr/>
        </p:nvSpPr>
        <p:spPr>
          <a:xfrm>
            <a:off x="1282700" y="3594100"/>
            <a:ext cx="4709160" cy="422275"/>
          </a:xfrm>
          <a:prstGeom prst="rect">
            <a:avLst/>
          </a:prstGeom>
          <a:noFill/>
          <a:ln>
            <a:noFill/>
          </a:ln>
        </p:spPr>
        <p:txBody>
          <a:bodyPr anchorCtr="0" anchor="t" bIns="0" lIns="0" spcFirstLastPara="1" rIns="0" wrap="square" tIns="0">
            <a:noAutofit/>
          </a:bodyPr>
          <a:lstStyle/>
          <a:p>
            <a:pPr indent="0" lvl="0" marL="0" marR="0" rtl="0" algn="l">
              <a:lnSpc>
                <a:spcPct val="125039"/>
              </a:lnSpc>
              <a:spcBef>
                <a:spcPts val="0"/>
              </a:spcBef>
              <a:spcAft>
                <a:spcPts val="0"/>
              </a:spcAft>
              <a:buClr>
                <a:srgbClr val="22332A"/>
              </a:buClr>
              <a:buSzPts val="1250"/>
              <a:buFont typeface="Source Sans 3"/>
              <a:buNone/>
            </a:pPr>
            <a:r>
              <a:rPr b="0" i="0" lang="en-US" sz="1250" u="none" cap="none" strike="noStrike">
                <a:solidFill>
                  <a:srgbClr val="22332A"/>
                </a:solidFill>
                <a:latin typeface="Source Sans 3"/>
                <a:ea typeface="Source Sans 3"/>
                <a:cs typeface="Source Sans 3"/>
                <a:sym typeface="Source Sans 3"/>
              </a:rPr>
              <a:t>Gross production value in constant 2014–16 international dollars, so crops can be added. Tonnes are never summed across crops.</a:t>
            </a:r>
            <a:endParaRPr b="0" i="0" sz="1250" u="none" cap="none" strike="noStrike">
              <a:solidFill>
                <a:schemeClr val="dk1"/>
              </a:solidFill>
              <a:latin typeface="Calibri"/>
              <a:ea typeface="Calibri"/>
              <a:cs typeface="Calibri"/>
              <a:sym typeface="Calibri"/>
            </a:endParaRPr>
          </a:p>
        </p:txBody>
      </p:sp>
      <p:sp>
        <p:nvSpPr>
          <p:cNvPr id="212" name="Google Shape;212;p14"/>
          <p:cNvSpPr/>
          <p:nvPr/>
        </p:nvSpPr>
        <p:spPr>
          <a:xfrm>
            <a:off x="549275" y="4435475"/>
            <a:ext cx="5480050" cy="1593850"/>
          </a:xfrm>
          <a:prstGeom prst="roundRect">
            <a:avLst>
              <a:gd fmla="val 6972"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4"/>
          <p:cNvSpPr/>
          <p:nvPr/>
        </p:nvSpPr>
        <p:spPr>
          <a:xfrm>
            <a:off x="730250" y="4616450"/>
            <a:ext cx="381000" cy="380444"/>
          </a:xfrm>
          <a:custGeom>
            <a:rect b="b" l="l" r="r" t="t"/>
            <a:pathLst>
              <a:path extrusionOk="0" h="380444" w="381000">
                <a:moveTo>
                  <a:pt x="190222" y="0"/>
                </a:moveTo>
                <a:lnTo>
                  <a:pt x="190778" y="0"/>
                </a:lnTo>
                <a:cubicBezTo>
                  <a:pt x="241228" y="0"/>
                  <a:pt x="289612" y="20041"/>
                  <a:pt x="325285" y="55715"/>
                </a:cubicBezTo>
                <a:cubicBezTo>
                  <a:pt x="360959" y="91388"/>
                  <a:pt x="381000" y="139772"/>
                  <a:pt x="381000" y="190222"/>
                </a:cubicBezTo>
                <a:lnTo>
                  <a:pt x="381000" y="190222"/>
                </a:lnTo>
                <a:cubicBezTo>
                  <a:pt x="381000" y="295279"/>
                  <a:pt x="295835" y="380444"/>
                  <a:pt x="190778" y="380444"/>
                </a:cubicBezTo>
                <a:lnTo>
                  <a:pt x="190222" y="380444"/>
                </a:lnTo>
                <a:cubicBezTo>
                  <a:pt x="85165" y="380444"/>
                  <a:pt x="0" y="295279"/>
                  <a:pt x="0" y="190222"/>
                </a:cubicBezTo>
                <a:lnTo>
                  <a:pt x="0" y="190222"/>
                </a:lnTo>
                <a:cubicBezTo>
                  <a:pt x="0" y="85165"/>
                  <a:pt x="85165" y="0"/>
                  <a:pt x="190222" y="0"/>
                </a:cubicBezTo>
                <a:close/>
              </a:path>
            </a:pathLst>
          </a:custGeom>
          <a:solidFill>
            <a:srgbClr val="B5501C"/>
          </a:solidFill>
          <a:ln>
            <a:noFill/>
          </a:ln>
        </p:spPr>
        <p:txBody>
          <a:bodyPr anchorCtr="0" anchor="t" bIns="0" lIns="0" spcFirstLastPara="1" rIns="0" wrap="square" tIns="0">
            <a:noAutofit/>
          </a:bodyPr>
          <a:lstStyle/>
          <a:p>
            <a:pPr indent="0" lvl="0" marL="0" marR="0" rtl="0" algn="ctr">
              <a:lnSpc>
                <a:spcPct val="214000"/>
              </a:lnSpc>
              <a:spcBef>
                <a:spcPts val="0"/>
              </a:spcBef>
              <a:spcAft>
                <a:spcPts val="0"/>
              </a:spcAft>
              <a:buClr>
                <a:srgbClr val="FFFFFF"/>
              </a:buClr>
              <a:buSzPts val="1400"/>
              <a:buFont typeface="Source Sans 3"/>
              <a:buNone/>
            </a:pPr>
            <a:r>
              <a:rPr b="1" i="0" lang="en-US" sz="1400" u="none" cap="none" strike="noStrike">
                <a:solidFill>
                  <a:srgbClr val="FFFFFF"/>
                </a:solidFill>
                <a:latin typeface="Source Sans 3"/>
                <a:ea typeface="Source Sans 3"/>
                <a:cs typeface="Source Sans 3"/>
                <a:sym typeface="Source Sans 3"/>
              </a:rPr>
              <a:t>3</a:t>
            </a:r>
            <a:endParaRPr b="0" i="0" sz="1400" u="none" cap="none" strike="noStrike">
              <a:solidFill>
                <a:schemeClr val="dk1"/>
              </a:solidFill>
              <a:latin typeface="Calibri"/>
              <a:ea typeface="Calibri"/>
              <a:cs typeface="Calibri"/>
              <a:sym typeface="Calibri"/>
            </a:endParaRPr>
          </a:p>
        </p:txBody>
      </p:sp>
      <p:sp>
        <p:nvSpPr>
          <p:cNvPr id="214" name="Google Shape;214;p14"/>
          <p:cNvSpPr/>
          <p:nvPr/>
        </p:nvSpPr>
        <p:spPr>
          <a:xfrm>
            <a:off x="1282700" y="4686300"/>
            <a:ext cx="2158365" cy="263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D2F23"/>
              </a:buClr>
              <a:buSzPts val="1500"/>
              <a:buFont typeface="Source Sans 3"/>
              <a:buNone/>
            </a:pPr>
            <a:r>
              <a:rPr b="1" i="0" lang="en-US" sz="1500" u="none" cap="none" strike="noStrike">
                <a:solidFill>
                  <a:srgbClr val="1D2F23"/>
                </a:solidFill>
                <a:latin typeface="Source Sans 3"/>
                <a:ea typeface="Source Sans 3"/>
                <a:cs typeface="Source Sans 3"/>
                <a:sym typeface="Source Sans 3"/>
              </a:rPr>
              <a:t>Detrend to get Iₜ</a:t>
            </a:r>
            <a:endParaRPr b="0" i="0" sz="1500" u="none" cap="none" strike="noStrike">
              <a:solidFill>
                <a:schemeClr val="dk1"/>
              </a:solidFill>
              <a:latin typeface="Calibri"/>
              <a:ea typeface="Calibri"/>
              <a:cs typeface="Calibri"/>
              <a:sym typeface="Calibri"/>
            </a:endParaRPr>
          </a:p>
        </p:txBody>
      </p:sp>
      <p:sp>
        <p:nvSpPr>
          <p:cNvPr id="215" name="Google Shape;215;p14"/>
          <p:cNvSpPr/>
          <p:nvPr/>
        </p:nvSpPr>
        <p:spPr>
          <a:xfrm>
            <a:off x="3310255" y="4699000"/>
            <a:ext cx="2550795" cy="25654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B5501C"/>
              </a:buClr>
              <a:buSzPts val="1300"/>
              <a:buFont typeface="Source Serif 4"/>
              <a:buNone/>
            </a:pPr>
            <a:r>
              <a:rPr b="0" i="1" lang="en-US" sz="1300" u="none" cap="none" strike="noStrike">
                <a:solidFill>
                  <a:srgbClr val="B5501C"/>
                </a:solidFill>
                <a:latin typeface="Source Serif 4"/>
                <a:ea typeface="Source Serif 4"/>
                <a:cs typeface="Source Serif 4"/>
                <a:sym typeface="Source Serif 4"/>
              </a:rPr>
              <a:t>Iₜ = yₜ / trendₜ</a:t>
            </a:r>
            <a:endParaRPr b="0" i="0" sz="1300" u="none" cap="none" strike="noStrike">
              <a:solidFill>
                <a:schemeClr val="dk1"/>
              </a:solidFill>
              <a:latin typeface="Calibri"/>
              <a:ea typeface="Calibri"/>
              <a:cs typeface="Calibri"/>
              <a:sym typeface="Calibri"/>
            </a:endParaRPr>
          </a:p>
        </p:txBody>
      </p:sp>
      <p:sp>
        <p:nvSpPr>
          <p:cNvPr id="216" name="Google Shape;216;p14"/>
          <p:cNvSpPr/>
          <p:nvPr/>
        </p:nvSpPr>
        <p:spPr>
          <a:xfrm>
            <a:off x="1282700" y="5054600"/>
            <a:ext cx="4709160" cy="422275"/>
          </a:xfrm>
          <a:prstGeom prst="rect">
            <a:avLst/>
          </a:prstGeom>
          <a:noFill/>
          <a:ln>
            <a:noFill/>
          </a:ln>
        </p:spPr>
        <p:txBody>
          <a:bodyPr anchorCtr="0" anchor="t" bIns="0" lIns="0" spcFirstLastPara="1" rIns="0" wrap="square" tIns="0">
            <a:noAutofit/>
          </a:bodyPr>
          <a:lstStyle/>
          <a:p>
            <a:pPr indent="0" lvl="0" marL="0" marR="0" rtl="0" algn="l">
              <a:lnSpc>
                <a:spcPct val="125039"/>
              </a:lnSpc>
              <a:spcBef>
                <a:spcPts val="0"/>
              </a:spcBef>
              <a:spcAft>
                <a:spcPts val="0"/>
              </a:spcAft>
              <a:buClr>
                <a:srgbClr val="22332A"/>
              </a:buClr>
              <a:buSzPts val="1250"/>
              <a:buFont typeface="Source Sans 3"/>
              <a:buNone/>
            </a:pPr>
            <a:r>
              <a:rPr b="0" i="0" lang="en-US" sz="1250" u="none" cap="none" strike="noStrike">
                <a:solidFill>
                  <a:srgbClr val="22332A"/>
                </a:solidFill>
                <a:latin typeface="Source Sans 3"/>
                <a:ea typeface="Source Sans 3"/>
                <a:cs typeface="Source Sans 3"/>
                <a:sym typeface="Source Sans 3"/>
              </a:rPr>
              <a:t>Trend is LOWESS (frac 0.5) on 1993–2023. Iₜ = 1 is on trend, 0.9 is 10% below. Anomaly aₜ = (yₜ − trendₜ) / trendₜ.</a:t>
            </a:r>
            <a:endParaRPr b="0" i="0" sz="1250" u="none" cap="none" strike="noStrike">
              <a:solidFill>
                <a:schemeClr val="dk1"/>
              </a:solidFill>
              <a:latin typeface="Calibri"/>
              <a:ea typeface="Calibri"/>
              <a:cs typeface="Calibri"/>
              <a:sym typeface="Calibri"/>
            </a:endParaRPr>
          </a:p>
        </p:txBody>
      </p:sp>
      <p:sp>
        <p:nvSpPr>
          <p:cNvPr id="217" name="Google Shape;217;p14"/>
          <p:cNvSpPr/>
          <p:nvPr/>
        </p:nvSpPr>
        <p:spPr>
          <a:xfrm>
            <a:off x="6315075" y="1235075"/>
            <a:ext cx="5327650" cy="4794250"/>
          </a:xfrm>
          <a:prstGeom prst="roundRect">
            <a:avLst>
              <a:gd fmla="val 2318"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4"/>
          <p:cNvSpPr/>
          <p:nvPr/>
        </p:nvSpPr>
        <p:spPr>
          <a:xfrm>
            <a:off x="6489700" y="1346200"/>
            <a:ext cx="5088509" cy="24765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D2F23"/>
              </a:buClr>
              <a:buSzPts val="1400"/>
              <a:buFont typeface="Source Sans 3"/>
              <a:buNone/>
            </a:pPr>
            <a:r>
              <a:rPr b="1" i="0" lang="en-US" sz="1400" u="none" cap="none" strike="noStrike">
                <a:solidFill>
                  <a:srgbClr val="1D2F23"/>
                </a:solidFill>
                <a:latin typeface="Source Sans 3"/>
                <a:ea typeface="Source Sans 3"/>
                <a:cs typeface="Source Sans 3"/>
                <a:sym typeface="Source Sans 3"/>
              </a:rPr>
              <a:t>India: national crop value and its LOWESS trend</a:t>
            </a:r>
            <a:endParaRPr b="0" i="0" sz="1400" u="none" cap="none" strike="noStrike">
              <a:solidFill>
                <a:schemeClr val="dk1"/>
              </a:solidFill>
              <a:latin typeface="Calibri"/>
              <a:ea typeface="Calibri"/>
              <a:cs typeface="Calibri"/>
              <a:sym typeface="Calibri"/>
            </a:endParaRPr>
          </a:p>
        </p:txBody>
      </p:sp>
      <p:pic>
        <p:nvPicPr>
          <p:cNvPr descr="Line chart of India's national crop value from 1993 to 2023, rising from about 165 to 360 billion international dollars, with its smooth LOWESS trend; the 2002 drought year dips below the trend" id="219" name="Google Shape;219;p14"/>
          <p:cNvPicPr preferRelativeResize="0"/>
          <p:nvPr/>
        </p:nvPicPr>
        <p:blipFill rotWithShape="1">
          <a:blip r:embed="rId3">
            <a:alphaModFix/>
          </a:blip>
          <a:srcRect b="-55" l="0" r="0" t="-55"/>
          <a:stretch/>
        </p:blipFill>
        <p:spPr>
          <a:xfrm>
            <a:off x="6381750" y="1644650"/>
            <a:ext cx="5181600" cy="3568700"/>
          </a:xfrm>
          <a:prstGeom prst="rect">
            <a:avLst/>
          </a:prstGeom>
          <a:noFill/>
          <a:ln>
            <a:noFill/>
          </a:ln>
        </p:spPr>
      </p:pic>
      <p:sp>
        <p:nvSpPr>
          <p:cNvPr id="220" name="Google Shape;220;p14"/>
          <p:cNvSpPr/>
          <p:nvPr/>
        </p:nvSpPr>
        <p:spPr>
          <a:xfrm>
            <a:off x="6489700" y="5257800"/>
            <a:ext cx="5134293" cy="573088"/>
          </a:xfrm>
          <a:prstGeom prst="rect">
            <a:avLst/>
          </a:prstGeom>
          <a:noFill/>
          <a:ln>
            <a:noFill/>
          </a:ln>
        </p:spPr>
        <p:txBody>
          <a:bodyPr anchorCtr="0" anchor="t" bIns="0" lIns="0" spcFirstLastPara="1" rIns="0" wrap="square" tIns="0">
            <a:noAutofit/>
          </a:bodyPr>
          <a:lstStyle/>
          <a:p>
            <a:pPr indent="0" lvl="0" marL="0" marR="0" rtl="0" algn="l">
              <a:lnSpc>
                <a:spcPct val="125043"/>
              </a:lnSpc>
              <a:spcBef>
                <a:spcPts val="0"/>
              </a:spcBef>
              <a:spcAft>
                <a:spcPts val="0"/>
              </a:spcAft>
              <a:buClr>
                <a:srgbClr val="22332A"/>
              </a:buClr>
              <a:buSzPts val="1150"/>
              <a:buFont typeface="Source Sans 3"/>
              <a:buNone/>
            </a:pPr>
            <a:r>
              <a:rPr b="0" i="0" lang="en-US" sz="1150" u="none" cap="none" strike="noStrike">
                <a:solidFill>
                  <a:srgbClr val="22332A"/>
                </a:solidFill>
                <a:latin typeface="Source Sans 3"/>
                <a:ea typeface="Source Sans 3"/>
                <a:cs typeface="Source Sans 3"/>
                <a:sym typeface="Source Sans 3"/>
              </a:rPr>
              <a:t>The dip below the trend in 2002 gives Iₜ = 0.895. Everything that follows is measured on Iₜ, so long-run growth from better inputs is not mistaken for resilience.</a:t>
            </a:r>
            <a:endParaRPr b="0" i="0" sz="1150" u="none" cap="none" strike="noStrike">
              <a:solidFill>
                <a:schemeClr val="dk1"/>
              </a:solidFill>
              <a:latin typeface="Calibri"/>
              <a:ea typeface="Calibri"/>
              <a:cs typeface="Calibri"/>
              <a:sym typeface="Calibri"/>
            </a:endParaRPr>
          </a:p>
        </p:txBody>
      </p:sp>
      <p:sp>
        <p:nvSpPr>
          <p:cNvPr id="221" name="Google Shape;221;p14"/>
          <p:cNvSpPr/>
          <p:nvPr/>
        </p:nvSpPr>
        <p:spPr>
          <a:xfrm>
            <a:off x="6489700" y="5829300"/>
            <a:ext cx="5134293" cy="1854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6B60"/>
              </a:buClr>
              <a:buSzPts val="900"/>
              <a:buFont typeface="Source Sans 3"/>
              <a:buNone/>
            </a:pPr>
            <a:r>
              <a:rPr b="0" i="0" lang="en-US" sz="900" u="none" cap="none" strike="noStrike">
                <a:solidFill>
                  <a:srgbClr val="6B6B60"/>
                </a:solidFill>
                <a:latin typeface="Source Sans 3"/>
                <a:ea typeface="Source Sans 3"/>
                <a:cs typeface="Source Sans 3"/>
                <a:sym typeface="Source Sans 3"/>
              </a:rPr>
              <a:t>Source: FAOSTAT QV; India series from outputs/metrics_national.parquet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226" name="Shape 226"/>
        <p:cNvGrpSpPr/>
        <p:nvPr/>
      </p:nvGrpSpPr>
      <p:grpSpPr>
        <a:xfrm>
          <a:off x="0" y="0"/>
          <a:ext cx="0" cy="0"/>
          <a:chOff x="0" y="0"/>
          <a:chExt cx="0" cy="0"/>
        </a:xfrm>
      </p:grpSpPr>
      <p:sp>
        <p:nvSpPr>
          <p:cNvPr id="227" name="Google Shape;227;p15"/>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5"/>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METHODOLOGY</a:t>
            </a:r>
            <a:endParaRPr b="0" i="0" sz="1000" u="none" cap="none" strike="noStrike">
              <a:solidFill>
                <a:schemeClr val="dk1"/>
              </a:solidFill>
              <a:latin typeface="Calibri"/>
              <a:ea typeface="Calibri"/>
              <a:cs typeface="Calibri"/>
              <a:sym typeface="Calibri"/>
            </a:endParaRPr>
          </a:p>
        </p:txBody>
      </p:sp>
      <p:sp>
        <p:nvSpPr>
          <p:cNvPr id="229" name="Google Shape;229;p15"/>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12 / 26</a:t>
            </a:r>
            <a:endParaRPr b="0" i="0" sz="1000" u="none" cap="none" strike="noStrike">
              <a:solidFill>
                <a:schemeClr val="dk1"/>
              </a:solidFill>
              <a:latin typeface="Calibri"/>
              <a:ea typeface="Calibri"/>
              <a:cs typeface="Calibri"/>
              <a:sym typeface="Calibri"/>
            </a:endParaRPr>
          </a:p>
        </p:txBody>
      </p:sp>
      <p:sp>
        <p:nvSpPr>
          <p:cNvPr id="230" name="Google Shape;230;p15"/>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The four faces of resilience: how each is calculated</a:t>
            </a:r>
            <a:endParaRPr b="0" i="0" sz="2800" u="none" cap="none" strike="noStrike">
              <a:solidFill>
                <a:schemeClr val="dk1"/>
              </a:solidFill>
              <a:latin typeface="Calibri"/>
              <a:ea typeface="Calibri"/>
              <a:cs typeface="Calibri"/>
              <a:sym typeface="Calibri"/>
            </a:endParaRPr>
          </a:p>
        </p:txBody>
      </p:sp>
      <p:sp>
        <p:nvSpPr>
          <p:cNvPr id="231" name="Google Shape;231;p15"/>
          <p:cNvSpPr/>
          <p:nvPr/>
        </p:nvSpPr>
        <p:spPr>
          <a:xfrm>
            <a:off x="549275" y="1235075"/>
            <a:ext cx="2597150" cy="3651250"/>
          </a:xfrm>
          <a:prstGeom prst="roundRect">
            <a:avLst>
              <a:gd fmla="val 4279"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5"/>
          <p:cNvSpPr/>
          <p:nvPr/>
        </p:nvSpPr>
        <p:spPr>
          <a:xfrm>
            <a:off x="730250" y="1371600"/>
            <a:ext cx="2308796"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01C"/>
              </a:buClr>
              <a:buSzPts val="1700"/>
              <a:buFont typeface="Source Sans 3"/>
              <a:buNone/>
            </a:pPr>
            <a:r>
              <a:rPr b="1" i="0" lang="en-US" sz="1700" u="none" cap="none" strike="noStrike">
                <a:solidFill>
                  <a:srgbClr val="B5501C"/>
                </a:solidFill>
                <a:latin typeface="Source Sans 3"/>
                <a:ea typeface="Source Sans 3"/>
                <a:cs typeface="Source Sans 3"/>
                <a:sym typeface="Source Sans 3"/>
              </a:rPr>
              <a:t>Stability</a:t>
            </a:r>
            <a:endParaRPr b="0" i="0" sz="1700" u="none" cap="none" strike="noStrike">
              <a:solidFill>
                <a:schemeClr val="dk1"/>
              </a:solidFill>
              <a:latin typeface="Calibri"/>
              <a:ea typeface="Calibri"/>
              <a:cs typeface="Calibri"/>
              <a:sym typeface="Calibri"/>
            </a:endParaRPr>
          </a:p>
        </p:txBody>
      </p:sp>
      <p:sp>
        <p:nvSpPr>
          <p:cNvPr id="233" name="Google Shape;233;p15"/>
          <p:cNvSpPr/>
          <p:nvPr/>
        </p:nvSpPr>
        <p:spPr>
          <a:xfrm>
            <a:off x="730250" y="1809750"/>
            <a:ext cx="2308796" cy="25654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D2F23"/>
              </a:buClr>
              <a:buSzPts val="1400"/>
              <a:buFont typeface="Source Serif 4"/>
              <a:buNone/>
            </a:pPr>
            <a:r>
              <a:rPr b="0" i="1" lang="en-US" sz="1400" u="none" cap="none" strike="noStrike">
                <a:solidFill>
                  <a:srgbClr val="1D2F23"/>
                </a:solidFill>
                <a:latin typeface="Source Serif 4"/>
                <a:ea typeface="Source Serif 4"/>
                <a:cs typeface="Source Serif 4"/>
                <a:sym typeface="Source Serif 4"/>
              </a:rPr>
              <a:t>1 / CV</a:t>
            </a:r>
            <a:endParaRPr b="0" i="0" sz="1400" u="none" cap="none" strike="noStrike">
              <a:solidFill>
                <a:schemeClr val="dk1"/>
              </a:solidFill>
              <a:latin typeface="Calibri"/>
              <a:ea typeface="Calibri"/>
              <a:cs typeface="Calibri"/>
              <a:sym typeface="Calibri"/>
            </a:endParaRPr>
          </a:p>
        </p:txBody>
      </p:sp>
      <p:sp>
        <p:nvSpPr>
          <p:cNvPr id="234" name="Google Shape;234;p15"/>
          <p:cNvSpPr/>
          <p:nvPr/>
        </p:nvSpPr>
        <p:spPr>
          <a:xfrm>
            <a:off x="730250" y="2603500"/>
            <a:ext cx="2308796" cy="207963"/>
          </a:xfrm>
          <a:prstGeom prst="rect">
            <a:avLst/>
          </a:prstGeom>
          <a:noFill/>
          <a:ln>
            <a:noFill/>
          </a:ln>
        </p:spPr>
        <p:txBody>
          <a:bodyPr anchorCtr="0" anchor="t" bIns="0" lIns="0" spcFirstLastPara="1" rIns="0" wrap="square" tIns="0">
            <a:noAutofit/>
          </a:bodyPr>
          <a:lstStyle/>
          <a:p>
            <a:pPr indent="0" lvl="0" marL="0" marR="0" rtl="0" algn="l">
              <a:lnSpc>
                <a:spcPct val="125043"/>
              </a:lnSpc>
              <a:spcBef>
                <a:spcPts val="0"/>
              </a:spcBef>
              <a:spcAft>
                <a:spcPts val="0"/>
              </a:spcAft>
              <a:buClr>
                <a:srgbClr val="6B6B60"/>
              </a:buClr>
              <a:buSzPts val="1150"/>
              <a:buFont typeface="Source Sans 3"/>
              <a:buNone/>
            </a:pPr>
            <a:r>
              <a:rPr b="0" i="0" lang="en-US" sz="1150" u="none" cap="none" strike="noStrike">
                <a:solidFill>
                  <a:srgbClr val="6B6B60"/>
                </a:solidFill>
                <a:latin typeface="Source Sans 3"/>
                <a:ea typeface="Source Sans 3"/>
                <a:cs typeface="Source Sans 3"/>
                <a:sym typeface="Source Sans 3"/>
              </a:rPr>
              <a:t>CV = sd( yₜ − trendₜ ) / mean( yₜ )</a:t>
            </a:r>
            <a:endParaRPr b="0" i="0" sz="1150" u="none" cap="none" strike="noStrike">
              <a:solidFill>
                <a:schemeClr val="dk1"/>
              </a:solidFill>
              <a:latin typeface="Calibri"/>
              <a:ea typeface="Calibri"/>
              <a:cs typeface="Calibri"/>
              <a:sym typeface="Calibri"/>
            </a:endParaRPr>
          </a:p>
        </p:txBody>
      </p:sp>
      <p:sp>
        <p:nvSpPr>
          <p:cNvPr id="235" name="Google Shape;235;p15"/>
          <p:cNvSpPr/>
          <p:nvPr/>
        </p:nvSpPr>
        <p:spPr>
          <a:xfrm>
            <a:off x="730250" y="3155950"/>
            <a:ext cx="2308796" cy="644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2332A"/>
              </a:buClr>
              <a:buSzPts val="1300"/>
              <a:buFont typeface="Source Sans 3"/>
              <a:buNone/>
            </a:pPr>
            <a:r>
              <a:rPr b="0" i="0" lang="en-US" sz="1300" u="none" cap="none" strike="noStrike">
                <a:solidFill>
                  <a:srgbClr val="22332A"/>
                </a:solidFill>
                <a:latin typeface="Source Sans 3"/>
                <a:ea typeface="Source Sans 3"/>
                <a:cs typeface="Source Sans 3"/>
                <a:sym typeface="Source Sans 3"/>
              </a:rPr>
              <a:t>Higher means smaller swings around the trend. Uses all 31 years.</a:t>
            </a:r>
            <a:endParaRPr b="0" i="0" sz="1300" u="none" cap="none" strike="noStrike">
              <a:solidFill>
                <a:schemeClr val="dk1"/>
              </a:solidFill>
              <a:latin typeface="Calibri"/>
              <a:ea typeface="Calibri"/>
              <a:cs typeface="Calibri"/>
              <a:sym typeface="Calibri"/>
            </a:endParaRPr>
          </a:p>
        </p:txBody>
      </p:sp>
      <p:sp>
        <p:nvSpPr>
          <p:cNvPr id="236" name="Google Shape;236;p15"/>
          <p:cNvSpPr/>
          <p:nvPr/>
        </p:nvSpPr>
        <p:spPr>
          <a:xfrm>
            <a:off x="679450" y="4038600"/>
            <a:ext cx="2336800" cy="711200"/>
          </a:xfrm>
          <a:prstGeom prst="roundRect">
            <a:avLst>
              <a:gd fmla="val 10714"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5"/>
          <p:cNvSpPr/>
          <p:nvPr/>
        </p:nvSpPr>
        <p:spPr>
          <a:xfrm>
            <a:off x="793750" y="4114800"/>
            <a:ext cx="2177987" cy="299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1800"/>
              <a:buFont typeface="Source Serif 4"/>
              <a:buNone/>
            </a:pPr>
            <a:r>
              <a:rPr b="1" i="0" lang="en-US" sz="1800" u="none" cap="none" strike="noStrike">
                <a:solidFill>
                  <a:srgbClr val="1D2F23"/>
                </a:solidFill>
                <a:latin typeface="Source Serif 4"/>
                <a:ea typeface="Source Serif 4"/>
                <a:cs typeface="Source Serif 4"/>
                <a:sym typeface="Source Serif 4"/>
              </a:rPr>
              <a:t>India 34.7</a:t>
            </a:r>
            <a:endParaRPr b="0" i="0" sz="1800" u="none" cap="none" strike="noStrike">
              <a:solidFill>
                <a:schemeClr val="dk1"/>
              </a:solidFill>
              <a:latin typeface="Calibri"/>
              <a:ea typeface="Calibri"/>
              <a:cs typeface="Calibri"/>
              <a:sym typeface="Calibri"/>
            </a:endParaRPr>
          </a:p>
        </p:txBody>
      </p:sp>
      <p:sp>
        <p:nvSpPr>
          <p:cNvPr id="238" name="Google Shape;238;p15"/>
          <p:cNvSpPr/>
          <p:nvPr/>
        </p:nvSpPr>
        <p:spPr>
          <a:xfrm>
            <a:off x="793750" y="4457700"/>
            <a:ext cx="2177987" cy="2298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A50"/>
              </a:buClr>
              <a:buSzPts val="1150"/>
              <a:buFont typeface="Source Sans 3"/>
              <a:buNone/>
            </a:pPr>
            <a:r>
              <a:rPr b="0" i="0" lang="en-US" sz="1150" u="none" cap="none" strike="noStrike">
                <a:solidFill>
                  <a:srgbClr val="4E5A50"/>
                </a:solidFill>
                <a:latin typeface="Source Sans 3"/>
                <a:ea typeface="Source Sans 3"/>
                <a:cs typeface="Source Sans 3"/>
                <a:sym typeface="Source Sans 3"/>
              </a:rPr>
              <a:t>median 13.0</a:t>
            </a:r>
            <a:endParaRPr b="0" i="0" sz="1150" u="none" cap="none" strike="noStrike">
              <a:solidFill>
                <a:schemeClr val="dk1"/>
              </a:solidFill>
              <a:latin typeface="Calibri"/>
              <a:ea typeface="Calibri"/>
              <a:cs typeface="Calibri"/>
              <a:sym typeface="Calibri"/>
            </a:endParaRPr>
          </a:p>
        </p:txBody>
      </p:sp>
      <p:sp>
        <p:nvSpPr>
          <p:cNvPr id="239" name="Google Shape;239;p15"/>
          <p:cNvSpPr/>
          <p:nvPr/>
        </p:nvSpPr>
        <p:spPr>
          <a:xfrm>
            <a:off x="3375025" y="1235075"/>
            <a:ext cx="2597150" cy="3651250"/>
          </a:xfrm>
          <a:prstGeom prst="roundRect">
            <a:avLst>
              <a:gd fmla="val 4279"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5"/>
          <p:cNvSpPr/>
          <p:nvPr/>
        </p:nvSpPr>
        <p:spPr>
          <a:xfrm>
            <a:off x="3556000" y="1371600"/>
            <a:ext cx="2308796"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01C"/>
              </a:buClr>
              <a:buSzPts val="1700"/>
              <a:buFont typeface="Source Sans 3"/>
              <a:buNone/>
            </a:pPr>
            <a:r>
              <a:rPr b="1" i="0" lang="en-US" sz="1700" u="none" cap="none" strike="noStrike">
                <a:solidFill>
                  <a:srgbClr val="B5501C"/>
                </a:solidFill>
                <a:latin typeface="Source Sans 3"/>
                <a:ea typeface="Source Sans 3"/>
                <a:cs typeface="Source Sans 3"/>
                <a:sym typeface="Source Sans 3"/>
              </a:rPr>
              <a:t>Resistance</a:t>
            </a:r>
            <a:endParaRPr b="0" i="0" sz="1700" u="none" cap="none" strike="noStrike">
              <a:solidFill>
                <a:schemeClr val="dk1"/>
              </a:solidFill>
              <a:latin typeface="Calibri"/>
              <a:ea typeface="Calibri"/>
              <a:cs typeface="Calibri"/>
              <a:sym typeface="Calibri"/>
            </a:endParaRPr>
          </a:p>
        </p:txBody>
      </p:sp>
      <p:sp>
        <p:nvSpPr>
          <p:cNvPr id="241" name="Google Shape;241;p15"/>
          <p:cNvSpPr/>
          <p:nvPr/>
        </p:nvSpPr>
        <p:spPr>
          <a:xfrm>
            <a:off x="3556000" y="1809750"/>
            <a:ext cx="2308796" cy="25654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D2F23"/>
              </a:buClr>
              <a:buSzPts val="1400"/>
              <a:buFont typeface="Source Serif 4"/>
              <a:buNone/>
            </a:pPr>
            <a:r>
              <a:rPr b="0" i="1" lang="en-US" sz="1400" u="none" cap="none" strike="noStrike">
                <a:solidFill>
                  <a:srgbClr val="1D2F23"/>
                </a:solidFill>
                <a:latin typeface="Source Serif 4"/>
                <a:ea typeface="Source Serif 4"/>
                <a:cs typeface="Source Serif 4"/>
                <a:sym typeface="Source Serif 4"/>
              </a:rPr>
              <a:t>Iₜ / mean( Iₜ₋₃ … Iₜ₋₁ )</a:t>
            </a:r>
            <a:endParaRPr b="0" i="0" sz="1400" u="none" cap="none" strike="noStrike">
              <a:solidFill>
                <a:schemeClr val="dk1"/>
              </a:solidFill>
              <a:latin typeface="Calibri"/>
              <a:ea typeface="Calibri"/>
              <a:cs typeface="Calibri"/>
              <a:sym typeface="Calibri"/>
            </a:endParaRPr>
          </a:p>
        </p:txBody>
      </p:sp>
      <p:sp>
        <p:nvSpPr>
          <p:cNvPr id="242" name="Google Shape;242;p15"/>
          <p:cNvSpPr/>
          <p:nvPr/>
        </p:nvSpPr>
        <p:spPr>
          <a:xfrm>
            <a:off x="3556000" y="2603500"/>
            <a:ext cx="2308796" cy="390525"/>
          </a:xfrm>
          <a:prstGeom prst="rect">
            <a:avLst/>
          </a:prstGeom>
          <a:noFill/>
          <a:ln>
            <a:noFill/>
          </a:ln>
        </p:spPr>
        <p:txBody>
          <a:bodyPr anchorCtr="0" anchor="t" bIns="0" lIns="0" spcFirstLastPara="1" rIns="0" wrap="square" tIns="0">
            <a:noAutofit/>
          </a:bodyPr>
          <a:lstStyle/>
          <a:p>
            <a:pPr indent="0" lvl="0" marL="0" marR="0" rtl="0" algn="l">
              <a:lnSpc>
                <a:spcPct val="125043"/>
              </a:lnSpc>
              <a:spcBef>
                <a:spcPts val="0"/>
              </a:spcBef>
              <a:spcAft>
                <a:spcPts val="0"/>
              </a:spcAft>
              <a:buClr>
                <a:srgbClr val="6B6B60"/>
              </a:buClr>
              <a:buSzPts val="1150"/>
              <a:buFont typeface="Source Sans 3"/>
              <a:buNone/>
            </a:pPr>
            <a:r>
              <a:rPr b="0" i="0" lang="en-US" sz="1150" u="none" cap="none" strike="noStrike">
                <a:solidFill>
                  <a:srgbClr val="6B6B60"/>
                </a:solidFill>
                <a:latin typeface="Source Sans 3"/>
                <a:ea typeface="Source Sans 3"/>
                <a:cs typeface="Source Sans 3"/>
                <a:sym typeface="Source Sans 3"/>
              </a:rPr>
              <a:t>Median over drought events; t = event year</a:t>
            </a:r>
            <a:endParaRPr b="0" i="0" sz="1150" u="none" cap="none" strike="noStrike">
              <a:solidFill>
                <a:schemeClr val="dk1"/>
              </a:solidFill>
              <a:latin typeface="Calibri"/>
              <a:ea typeface="Calibri"/>
              <a:cs typeface="Calibri"/>
              <a:sym typeface="Calibri"/>
            </a:endParaRPr>
          </a:p>
        </p:txBody>
      </p:sp>
      <p:sp>
        <p:nvSpPr>
          <p:cNvPr id="243" name="Google Shape;243;p15"/>
          <p:cNvSpPr/>
          <p:nvPr/>
        </p:nvSpPr>
        <p:spPr>
          <a:xfrm>
            <a:off x="3556000" y="3155950"/>
            <a:ext cx="2308796" cy="644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2332A"/>
              </a:buClr>
              <a:buSzPts val="1300"/>
              <a:buFont typeface="Source Sans 3"/>
              <a:buNone/>
            </a:pPr>
            <a:r>
              <a:rPr b="0" i="0" lang="en-US" sz="1300" u="none" cap="none" strike="noStrike">
                <a:solidFill>
                  <a:srgbClr val="22332A"/>
                </a:solidFill>
                <a:latin typeface="Source Sans 3"/>
                <a:ea typeface="Source Sans 3"/>
                <a:cs typeface="Source Sans 3"/>
                <a:sym typeface="Source Sans 3"/>
              </a:rPr>
              <a:t>1 means no loss in the drought year; below 1 is a loss against the three years before.</a:t>
            </a:r>
            <a:endParaRPr b="0" i="0" sz="1300" u="none" cap="none" strike="noStrike">
              <a:solidFill>
                <a:schemeClr val="dk1"/>
              </a:solidFill>
              <a:latin typeface="Calibri"/>
              <a:ea typeface="Calibri"/>
              <a:cs typeface="Calibri"/>
              <a:sym typeface="Calibri"/>
            </a:endParaRPr>
          </a:p>
        </p:txBody>
      </p:sp>
      <p:sp>
        <p:nvSpPr>
          <p:cNvPr id="244" name="Google Shape;244;p15"/>
          <p:cNvSpPr/>
          <p:nvPr/>
        </p:nvSpPr>
        <p:spPr>
          <a:xfrm>
            <a:off x="3505200" y="4038600"/>
            <a:ext cx="2336800" cy="711200"/>
          </a:xfrm>
          <a:prstGeom prst="roundRect">
            <a:avLst>
              <a:gd fmla="val 10714"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5"/>
          <p:cNvSpPr/>
          <p:nvPr/>
        </p:nvSpPr>
        <p:spPr>
          <a:xfrm>
            <a:off x="3619500" y="4114800"/>
            <a:ext cx="2177987" cy="299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1800"/>
              <a:buFont typeface="Source Serif 4"/>
              <a:buNone/>
            </a:pPr>
            <a:r>
              <a:rPr b="1" i="0" lang="en-US" sz="1800" u="none" cap="none" strike="noStrike">
                <a:solidFill>
                  <a:srgbClr val="1D2F23"/>
                </a:solidFill>
                <a:latin typeface="Source Serif 4"/>
                <a:ea typeface="Source Serif 4"/>
                <a:cs typeface="Source Serif 4"/>
                <a:sym typeface="Source Serif 4"/>
              </a:rPr>
              <a:t>India 0.89</a:t>
            </a:r>
            <a:endParaRPr b="0" i="0" sz="1800" u="none" cap="none" strike="noStrike">
              <a:solidFill>
                <a:schemeClr val="dk1"/>
              </a:solidFill>
              <a:latin typeface="Calibri"/>
              <a:ea typeface="Calibri"/>
              <a:cs typeface="Calibri"/>
              <a:sym typeface="Calibri"/>
            </a:endParaRPr>
          </a:p>
        </p:txBody>
      </p:sp>
      <p:sp>
        <p:nvSpPr>
          <p:cNvPr id="246" name="Google Shape;246;p15"/>
          <p:cNvSpPr/>
          <p:nvPr/>
        </p:nvSpPr>
        <p:spPr>
          <a:xfrm>
            <a:off x="3619500" y="4457700"/>
            <a:ext cx="2177987" cy="2298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A50"/>
              </a:buClr>
              <a:buSzPts val="1150"/>
              <a:buFont typeface="Source Sans 3"/>
              <a:buNone/>
            </a:pPr>
            <a:r>
              <a:rPr b="0" i="0" lang="en-US" sz="1150" u="none" cap="none" strike="noStrike">
                <a:solidFill>
                  <a:srgbClr val="4E5A50"/>
                </a:solidFill>
                <a:latin typeface="Source Sans 3"/>
                <a:ea typeface="Source Sans 3"/>
                <a:cs typeface="Source Sans 3"/>
                <a:sym typeface="Source Sans 3"/>
              </a:rPr>
              <a:t>median 0.98</a:t>
            </a:r>
            <a:endParaRPr b="0" i="0" sz="1150" u="none" cap="none" strike="noStrike">
              <a:solidFill>
                <a:schemeClr val="dk1"/>
              </a:solidFill>
              <a:latin typeface="Calibri"/>
              <a:ea typeface="Calibri"/>
              <a:cs typeface="Calibri"/>
              <a:sym typeface="Calibri"/>
            </a:endParaRPr>
          </a:p>
        </p:txBody>
      </p:sp>
      <p:sp>
        <p:nvSpPr>
          <p:cNvPr id="247" name="Google Shape;247;p15"/>
          <p:cNvSpPr/>
          <p:nvPr/>
        </p:nvSpPr>
        <p:spPr>
          <a:xfrm>
            <a:off x="6213475" y="1235075"/>
            <a:ext cx="2597150" cy="3651250"/>
          </a:xfrm>
          <a:prstGeom prst="roundRect">
            <a:avLst>
              <a:gd fmla="val 4279"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5"/>
          <p:cNvSpPr/>
          <p:nvPr/>
        </p:nvSpPr>
        <p:spPr>
          <a:xfrm>
            <a:off x="6394450" y="1371600"/>
            <a:ext cx="2308796"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01C"/>
              </a:buClr>
              <a:buSzPts val="1700"/>
              <a:buFont typeface="Source Sans 3"/>
              <a:buNone/>
            </a:pPr>
            <a:r>
              <a:rPr b="1" i="0" lang="en-US" sz="1700" u="none" cap="none" strike="noStrike">
                <a:solidFill>
                  <a:srgbClr val="B5501C"/>
                </a:solidFill>
                <a:latin typeface="Source Sans 3"/>
                <a:ea typeface="Source Sans 3"/>
                <a:cs typeface="Source Sans 3"/>
                <a:sym typeface="Source Sans 3"/>
              </a:rPr>
              <a:t>Recovery</a:t>
            </a:r>
            <a:endParaRPr b="0" i="0" sz="1700" u="none" cap="none" strike="noStrike">
              <a:solidFill>
                <a:schemeClr val="dk1"/>
              </a:solidFill>
              <a:latin typeface="Calibri"/>
              <a:ea typeface="Calibri"/>
              <a:cs typeface="Calibri"/>
              <a:sym typeface="Calibri"/>
            </a:endParaRPr>
          </a:p>
        </p:txBody>
      </p:sp>
      <p:sp>
        <p:nvSpPr>
          <p:cNvPr id="249" name="Google Shape;249;p15"/>
          <p:cNvSpPr/>
          <p:nvPr/>
        </p:nvSpPr>
        <p:spPr>
          <a:xfrm>
            <a:off x="6394450" y="1809750"/>
            <a:ext cx="2308796" cy="25654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D2F23"/>
              </a:buClr>
              <a:buSzPts val="1400"/>
              <a:buFont typeface="Source Serif 4"/>
              <a:buNone/>
            </a:pPr>
            <a:r>
              <a:rPr b="0" i="1" lang="en-US" sz="1400" u="none" cap="none" strike="noStrike">
                <a:solidFill>
                  <a:srgbClr val="1D2F23"/>
                </a:solidFill>
                <a:latin typeface="Source Serif 4"/>
                <a:ea typeface="Source Serif 4"/>
                <a:cs typeface="Source Serif 4"/>
                <a:sym typeface="Source Serif 4"/>
              </a:rPr>
              <a:t>mean( Iₜ₊₁ … Iₜ₊₃ ) / Iₜ</a:t>
            </a:r>
            <a:endParaRPr b="0" i="0" sz="1400" u="none" cap="none" strike="noStrike">
              <a:solidFill>
                <a:schemeClr val="dk1"/>
              </a:solidFill>
              <a:latin typeface="Calibri"/>
              <a:ea typeface="Calibri"/>
              <a:cs typeface="Calibri"/>
              <a:sym typeface="Calibri"/>
            </a:endParaRPr>
          </a:p>
        </p:txBody>
      </p:sp>
      <p:sp>
        <p:nvSpPr>
          <p:cNvPr id="250" name="Google Shape;250;p15"/>
          <p:cNvSpPr/>
          <p:nvPr/>
        </p:nvSpPr>
        <p:spPr>
          <a:xfrm>
            <a:off x="6394450" y="2603500"/>
            <a:ext cx="2308796" cy="207963"/>
          </a:xfrm>
          <a:prstGeom prst="rect">
            <a:avLst/>
          </a:prstGeom>
          <a:noFill/>
          <a:ln>
            <a:noFill/>
          </a:ln>
        </p:spPr>
        <p:txBody>
          <a:bodyPr anchorCtr="0" anchor="t" bIns="0" lIns="0" spcFirstLastPara="1" rIns="0" wrap="square" tIns="0">
            <a:noAutofit/>
          </a:bodyPr>
          <a:lstStyle/>
          <a:p>
            <a:pPr indent="0" lvl="0" marL="0" marR="0" rtl="0" algn="l">
              <a:lnSpc>
                <a:spcPct val="125043"/>
              </a:lnSpc>
              <a:spcBef>
                <a:spcPts val="0"/>
              </a:spcBef>
              <a:spcAft>
                <a:spcPts val="0"/>
              </a:spcAft>
              <a:buClr>
                <a:srgbClr val="6B6B60"/>
              </a:buClr>
              <a:buSzPts val="1150"/>
              <a:buFont typeface="Source Sans 3"/>
              <a:buNone/>
            </a:pPr>
            <a:r>
              <a:rPr b="0" i="0" lang="en-US" sz="1150" u="none" cap="none" strike="noStrike">
                <a:solidFill>
                  <a:srgbClr val="6B6B60"/>
                </a:solidFill>
                <a:latin typeface="Source Sans 3"/>
                <a:ea typeface="Source Sans 3"/>
                <a:cs typeface="Source Sans 3"/>
                <a:sym typeface="Source Sans 3"/>
              </a:rPr>
              <a:t>Median over drought events</a:t>
            </a:r>
            <a:endParaRPr b="0" i="0" sz="1150" u="none" cap="none" strike="noStrike">
              <a:solidFill>
                <a:schemeClr val="dk1"/>
              </a:solidFill>
              <a:latin typeface="Calibri"/>
              <a:ea typeface="Calibri"/>
              <a:cs typeface="Calibri"/>
              <a:sym typeface="Calibri"/>
            </a:endParaRPr>
          </a:p>
        </p:txBody>
      </p:sp>
      <p:sp>
        <p:nvSpPr>
          <p:cNvPr id="251" name="Google Shape;251;p15"/>
          <p:cNvSpPr/>
          <p:nvPr/>
        </p:nvSpPr>
        <p:spPr>
          <a:xfrm>
            <a:off x="6394450" y="3155950"/>
            <a:ext cx="2308796" cy="644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2332A"/>
              </a:buClr>
              <a:buSzPts val="1300"/>
              <a:buFont typeface="Source Sans 3"/>
              <a:buNone/>
            </a:pPr>
            <a:r>
              <a:rPr b="0" i="0" lang="en-US" sz="1300" u="none" cap="none" strike="noStrike">
                <a:solidFill>
                  <a:srgbClr val="22332A"/>
                </a:solidFill>
                <a:latin typeface="Source Sans 3"/>
                <a:ea typeface="Source Sans 3"/>
                <a:cs typeface="Source Sans 3"/>
                <a:sym typeface="Source Sans 3"/>
              </a:rPr>
              <a:t>Above 1 means the next three years rebound beyond the drought-year level.</a:t>
            </a:r>
            <a:endParaRPr b="0" i="0" sz="1300" u="none" cap="none" strike="noStrike">
              <a:solidFill>
                <a:schemeClr val="dk1"/>
              </a:solidFill>
              <a:latin typeface="Calibri"/>
              <a:ea typeface="Calibri"/>
              <a:cs typeface="Calibri"/>
              <a:sym typeface="Calibri"/>
            </a:endParaRPr>
          </a:p>
        </p:txBody>
      </p:sp>
      <p:sp>
        <p:nvSpPr>
          <p:cNvPr id="252" name="Google Shape;252;p15"/>
          <p:cNvSpPr/>
          <p:nvPr/>
        </p:nvSpPr>
        <p:spPr>
          <a:xfrm>
            <a:off x="6343650" y="4038600"/>
            <a:ext cx="2336800" cy="711200"/>
          </a:xfrm>
          <a:prstGeom prst="roundRect">
            <a:avLst>
              <a:gd fmla="val 10714"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5"/>
          <p:cNvSpPr/>
          <p:nvPr/>
        </p:nvSpPr>
        <p:spPr>
          <a:xfrm>
            <a:off x="6457950" y="4114800"/>
            <a:ext cx="2177987" cy="299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1800"/>
              <a:buFont typeface="Source Serif 4"/>
              <a:buNone/>
            </a:pPr>
            <a:r>
              <a:rPr b="1" i="0" lang="en-US" sz="1800" u="none" cap="none" strike="noStrike">
                <a:solidFill>
                  <a:srgbClr val="1D2F23"/>
                </a:solidFill>
                <a:latin typeface="Source Serif 4"/>
                <a:ea typeface="Source Serif 4"/>
                <a:cs typeface="Source Serif 4"/>
                <a:sym typeface="Source Serif 4"/>
              </a:rPr>
              <a:t>India 1.05</a:t>
            </a:r>
            <a:endParaRPr b="0" i="0" sz="1800" u="none" cap="none" strike="noStrike">
              <a:solidFill>
                <a:schemeClr val="dk1"/>
              </a:solidFill>
              <a:latin typeface="Calibri"/>
              <a:ea typeface="Calibri"/>
              <a:cs typeface="Calibri"/>
              <a:sym typeface="Calibri"/>
            </a:endParaRPr>
          </a:p>
        </p:txBody>
      </p:sp>
      <p:sp>
        <p:nvSpPr>
          <p:cNvPr id="254" name="Google Shape;254;p15"/>
          <p:cNvSpPr/>
          <p:nvPr/>
        </p:nvSpPr>
        <p:spPr>
          <a:xfrm>
            <a:off x="6457950" y="4457700"/>
            <a:ext cx="2177987" cy="2298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A50"/>
              </a:buClr>
              <a:buSzPts val="1150"/>
              <a:buFont typeface="Source Sans 3"/>
              <a:buNone/>
            </a:pPr>
            <a:r>
              <a:rPr b="0" i="0" lang="en-US" sz="1150" u="none" cap="none" strike="noStrike">
                <a:solidFill>
                  <a:srgbClr val="4E5A50"/>
                </a:solidFill>
                <a:latin typeface="Source Sans 3"/>
                <a:ea typeface="Source Sans 3"/>
                <a:cs typeface="Source Sans 3"/>
                <a:sym typeface="Source Sans 3"/>
              </a:rPr>
              <a:t>median 1.02</a:t>
            </a:r>
            <a:endParaRPr b="0" i="0" sz="1150" u="none" cap="none" strike="noStrike">
              <a:solidFill>
                <a:schemeClr val="dk1"/>
              </a:solidFill>
              <a:latin typeface="Calibri"/>
              <a:ea typeface="Calibri"/>
              <a:cs typeface="Calibri"/>
              <a:sym typeface="Calibri"/>
            </a:endParaRPr>
          </a:p>
        </p:txBody>
      </p:sp>
      <p:sp>
        <p:nvSpPr>
          <p:cNvPr id="255" name="Google Shape;255;p15"/>
          <p:cNvSpPr/>
          <p:nvPr/>
        </p:nvSpPr>
        <p:spPr>
          <a:xfrm>
            <a:off x="9039225" y="1235075"/>
            <a:ext cx="2597150" cy="3651250"/>
          </a:xfrm>
          <a:prstGeom prst="roundRect">
            <a:avLst>
              <a:gd fmla="val 4279"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5"/>
          <p:cNvSpPr/>
          <p:nvPr/>
        </p:nvSpPr>
        <p:spPr>
          <a:xfrm>
            <a:off x="9220200" y="1371600"/>
            <a:ext cx="2308796" cy="2844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01C"/>
              </a:buClr>
              <a:buSzPts val="1700"/>
              <a:buFont typeface="Source Sans 3"/>
              <a:buNone/>
            </a:pPr>
            <a:r>
              <a:rPr b="1" i="0" lang="en-US" sz="1700" u="none" cap="none" strike="noStrike">
                <a:solidFill>
                  <a:srgbClr val="B5501C"/>
                </a:solidFill>
                <a:latin typeface="Source Sans 3"/>
                <a:ea typeface="Source Sans 3"/>
                <a:cs typeface="Source Sans 3"/>
                <a:sym typeface="Source Sans 3"/>
              </a:rPr>
              <a:t>Vulnerability</a:t>
            </a:r>
            <a:endParaRPr b="0" i="0" sz="1700" u="none" cap="none" strike="noStrike">
              <a:solidFill>
                <a:schemeClr val="dk1"/>
              </a:solidFill>
              <a:latin typeface="Calibri"/>
              <a:ea typeface="Calibri"/>
              <a:cs typeface="Calibri"/>
              <a:sym typeface="Calibri"/>
            </a:endParaRPr>
          </a:p>
        </p:txBody>
      </p:sp>
      <p:sp>
        <p:nvSpPr>
          <p:cNvPr id="257" name="Google Shape;257;p15"/>
          <p:cNvSpPr/>
          <p:nvPr/>
        </p:nvSpPr>
        <p:spPr>
          <a:xfrm>
            <a:off x="9220200" y="1809750"/>
            <a:ext cx="2308796" cy="25654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D2F23"/>
              </a:buClr>
              <a:buSzPts val="1400"/>
              <a:buFont typeface="Source Serif 4"/>
              <a:buNone/>
            </a:pPr>
            <a:r>
              <a:rPr b="0" i="1" lang="en-US" sz="1400" u="none" cap="none" strike="noStrike">
                <a:solidFill>
                  <a:srgbClr val="1D2F23"/>
                </a:solidFill>
                <a:latin typeface="Source Serif 4"/>
                <a:ea typeface="Source Serif 4"/>
                <a:cs typeface="Source Serif 4"/>
                <a:sym typeface="Source Serif 4"/>
              </a:rPr>
              <a:t>share of years with Iₜ &lt; 0.9</a:t>
            </a:r>
            <a:endParaRPr b="0" i="0" sz="1400" u="none" cap="none" strike="noStrike">
              <a:solidFill>
                <a:schemeClr val="dk1"/>
              </a:solidFill>
              <a:latin typeface="Calibri"/>
              <a:ea typeface="Calibri"/>
              <a:cs typeface="Calibri"/>
              <a:sym typeface="Calibri"/>
            </a:endParaRPr>
          </a:p>
        </p:txBody>
      </p:sp>
      <p:sp>
        <p:nvSpPr>
          <p:cNvPr id="258" name="Google Shape;258;p15"/>
          <p:cNvSpPr/>
          <p:nvPr/>
        </p:nvSpPr>
        <p:spPr>
          <a:xfrm>
            <a:off x="9220200" y="2603500"/>
            <a:ext cx="2308796" cy="207963"/>
          </a:xfrm>
          <a:prstGeom prst="rect">
            <a:avLst/>
          </a:prstGeom>
          <a:noFill/>
          <a:ln>
            <a:noFill/>
          </a:ln>
        </p:spPr>
        <p:txBody>
          <a:bodyPr anchorCtr="0" anchor="t" bIns="0" lIns="0" spcFirstLastPara="1" rIns="0" wrap="square" tIns="0">
            <a:noAutofit/>
          </a:bodyPr>
          <a:lstStyle/>
          <a:p>
            <a:pPr indent="0" lvl="0" marL="0" marR="0" rtl="0" algn="l">
              <a:lnSpc>
                <a:spcPct val="125043"/>
              </a:lnSpc>
              <a:spcBef>
                <a:spcPts val="0"/>
              </a:spcBef>
              <a:spcAft>
                <a:spcPts val="0"/>
              </a:spcAft>
              <a:buClr>
                <a:srgbClr val="6B6B60"/>
              </a:buClr>
              <a:buSzPts val="1150"/>
              <a:buFont typeface="Source Sans 3"/>
              <a:buNone/>
            </a:pPr>
            <a:r>
              <a:rPr b="0" i="0" lang="en-US" sz="1150" u="none" cap="none" strike="noStrike">
                <a:solidFill>
                  <a:srgbClr val="6B6B60"/>
                </a:solidFill>
                <a:latin typeface="Source Sans 3"/>
                <a:ea typeface="Source Sans 3"/>
                <a:cs typeface="Source Sans 3"/>
                <a:sym typeface="Source Sans 3"/>
              </a:rPr>
              <a:t>Loss of more than 10% below trend</a:t>
            </a:r>
            <a:endParaRPr b="0" i="0" sz="1150" u="none" cap="none" strike="noStrike">
              <a:solidFill>
                <a:schemeClr val="dk1"/>
              </a:solidFill>
              <a:latin typeface="Calibri"/>
              <a:ea typeface="Calibri"/>
              <a:cs typeface="Calibri"/>
              <a:sym typeface="Calibri"/>
            </a:endParaRPr>
          </a:p>
        </p:txBody>
      </p:sp>
      <p:sp>
        <p:nvSpPr>
          <p:cNvPr id="259" name="Google Shape;259;p15"/>
          <p:cNvSpPr/>
          <p:nvPr/>
        </p:nvSpPr>
        <p:spPr>
          <a:xfrm>
            <a:off x="9220200" y="3155950"/>
            <a:ext cx="2308796" cy="644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2332A"/>
              </a:buClr>
              <a:buSzPts val="1300"/>
              <a:buFont typeface="Source Sans 3"/>
              <a:buNone/>
            </a:pPr>
            <a:r>
              <a:rPr b="0" i="0" lang="en-US" sz="1300" u="none" cap="none" strike="noStrike">
                <a:solidFill>
                  <a:srgbClr val="22332A"/>
                </a:solidFill>
                <a:latin typeface="Source Sans 3"/>
                <a:ea typeface="Source Sans 3"/>
                <a:cs typeface="Source Sans 3"/>
                <a:sym typeface="Source Sans 3"/>
              </a:rPr>
              <a:t>Higher means more bad years. vuln_drought counts only years with SPEI-12 ≤ −1.</a:t>
            </a:r>
            <a:endParaRPr b="0" i="0" sz="1300" u="none" cap="none" strike="noStrike">
              <a:solidFill>
                <a:schemeClr val="dk1"/>
              </a:solidFill>
              <a:latin typeface="Calibri"/>
              <a:ea typeface="Calibri"/>
              <a:cs typeface="Calibri"/>
              <a:sym typeface="Calibri"/>
            </a:endParaRPr>
          </a:p>
        </p:txBody>
      </p:sp>
      <p:sp>
        <p:nvSpPr>
          <p:cNvPr id="260" name="Google Shape;260;p15"/>
          <p:cNvSpPr/>
          <p:nvPr/>
        </p:nvSpPr>
        <p:spPr>
          <a:xfrm>
            <a:off x="9169400" y="4038600"/>
            <a:ext cx="2336800" cy="711200"/>
          </a:xfrm>
          <a:prstGeom prst="roundRect">
            <a:avLst>
              <a:gd fmla="val 10714"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5"/>
          <p:cNvSpPr/>
          <p:nvPr/>
        </p:nvSpPr>
        <p:spPr>
          <a:xfrm>
            <a:off x="9283700" y="4114800"/>
            <a:ext cx="2177987" cy="299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1800"/>
              <a:buFont typeface="Source Serif 4"/>
              <a:buNone/>
            </a:pPr>
            <a:r>
              <a:rPr b="1" i="0" lang="en-US" sz="1800" u="none" cap="none" strike="noStrike">
                <a:solidFill>
                  <a:srgbClr val="1D2F23"/>
                </a:solidFill>
                <a:latin typeface="Source Serif 4"/>
                <a:ea typeface="Source Serif 4"/>
                <a:cs typeface="Source Serif 4"/>
                <a:sym typeface="Source Serif 4"/>
              </a:rPr>
              <a:t>India 0.03</a:t>
            </a:r>
            <a:endParaRPr b="0" i="0" sz="1800" u="none" cap="none" strike="noStrike">
              <a:solidFill>
                <a:schemeClr val="dk1"/>
              </a:solidFill>
              <a:latin typeface="Calibri"/>
              <a:ea typeface="Calibri"/>
              <a:cs typeface="Calibri"/>
              <a:sym typeface="Calibri"/>
            </a:endParaRPr>
          </a:p>
        </p:txBody>
      </p:sp>
      <p:sp>
        <p:nvSpPr>
          <p:cNvPr id="262" name="Google Shape;262;p15"/>
          <p:cNvSpPr/>
          <p:nvPr/>
        </p:nvSpPr>
        <p:spPr>
          <a:xfrm>
            <a:off x="9283700" y="4457700"/>
            <a:ext cx="2177987" cy="2298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A50"/>
              </a:buClr>
              <a:buSzPts val="1150"/>
              <a:buFont typeface="Source Sans 3"/>
              <a:buNone/>
            </a:pPr>
            <a:r>
              <a:rPr b="0" i="0" lang="en-US" sz="1150" u="none" cap="none" strike="noStrike">
                <a:solidFill>
                  <a:srgbClr val="4E5A50"/>
                </a:solidFill>
                <a:latin typeface="Source Sans 3"/>
                <a:ea typeface="Source Sans 3"/>
                <a:cs typeface="Source Sans 3"/>
                <a:sym typeface="Source Sans 3"/>
              </a:rPr>
              <a:t>median 0.10</a:t>
            </a:r>
            <a:endParaRPr b="0" i="0" sz="1150" u="none" cap="none" strike="noStrike">
              <a:solidFill>
                <a:schemeClr val="dk1"/>
              </a:solidFill>
              <a:latin typeface="Calibri"/>
              <a:ea typeface="Calibri"/>
              <a:cs typeface="Calibri"/>
              <a:sym typeface="Calibri"/>
            </a:endParaRPr>
          </a:p>
        </p:txBody>
      </p:sp>
      <p:sp>
        <p:nvSpPr>
          <p:cNvPr id="263" name="Google Shape;263;p15"/>
          <p:cNvSpPr/>
          <p:nvPr/>
        </p:nvSpPr>
        <p:spPr>
          <a:xfrm>
            <a:off x="546100" y="5073650"/>
            <a:ext cx="11093450" cy="1003300"/>
          </a:xfrm>
          <a:prstGeom prst="roundRect">
            <a:avLst>
              <a:gd fmla="val 11392"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5"/>
          <p:cNvSpPr/>
          <p:nvPr/>
        </p:nvSpPr>
        <p:spPr>
          <a:xfrm>
            <a:off x="774700" y="5194300"/>
            <a:ext cx="10955338" cy="6692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300"/>
              <a:buFont typeface="Source Sans 3"/>
              <a:buNone/>
            </a:pPr>
            <a:r>
              <a:rPr b="1" i="0" lang="en-US" sz="1300" u="none" cap="none" strike="noStrike">
                <a:solidFill>
                  <a:srgbClr val="22332A"/>
                </a:solidFill>
                <a:latin typeface="Source Sans 3"/>
                <a:ea typeface="Source Sans 3"/>
                <a:cs typeface="Source Sans 3"/>
                <a:sym typeface="Source Sans 3"/>
              </a:rPr>
              <a:t>Which years count.</a:t>
            </a:r>
            <a:r>
              <a:rPr b="0" i="0" lang="en-US" sz="1300" u="none" cap="none" strike="noStrike">
                <a:solidFill>
                  <a:srgbClr val="22332A"/>
                </a:solidFill>
                <a:latin typeface="Source Sans 3"/>
                <a:ea typeface="Source Sans 3"/>
                <a:cs typeface="Source Sans 3"/>
                <a:sym typeface="Source Sans 3"/>
              </a:rPr>
              <a:t> Resistance and recovery use only drought events: 232 events in 102 countries, each with three drought-free years before and three years after inside 1993–2023. Countries with no usable event get no value. Stability and vulnerability use every year, so they describe chronic instability rather than one shock.</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269" name="Shape 269"/>
        <p:cNvGrpSpPr/>
        <p:nvPr/>
      </p:nvGrpSpPr>
      <p:grpSpPr>
        <a:xfrm>
          <a:off x="0" y="0"/>
          <a:ext cx="0" cy="0"/>
          <a:chOff x="0" y="0"/>
          <a:chExt cx="0" cy="0"/>
        </a:xfrm>
      </p:grpSpPr>
      <p:sp>
        <p:nvSpPr>
          <p:cNvPr id="270" name="Google Shape;270;p16"/>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6"/>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METHODOLOGY</a:t>
            </a:r>
            <a:endParaRPr b="0" i="0" sz="1000" u="none" cap="none" strike="noStrike">
              <a:solidFill>
                <a:schemeClr val="dk1"/>
              </a:solidFill>
              <a:latin typeface="Calibri"/>
              <a:ea typeface="Calibri"/>
              <a:cs typeface="Calibri"/>
              <a:sym typeface="Calibri"/>
            </a:endParaRPr>
          </a:p>
        </p:txBody>
      </p:sp>
      <p:sp>
        <p:nvSpPr>
          <p:cNvPr id="272" name="Google Shape;272;p16"/>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13 / 26</a:t>
            </a:r>
            <a:endParaRPr b="0" i="0" sz="1000" u="none" cap="none" strike="noStrike">
              <a:solidFill>
                <a:schemeClr val="dk1"/>
              </a:solidFill>
              <a:latin typeface="Calibri"/>
              <a:ea typeface="Calibri"/>
              <a:cs typeface="Calibri"/>
              <a:sym typeface="Calibri"/>
            </a:endParaRPr>
          </a:p>
        </p:txBody>
      </p:sp>
      <p:sp>
        <p:nvSpPr>
          <p:cNvPr id="273" name="Google Shape;273;p16"/>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Worked example: India’s 2002 drought</a:t>
            </a:r>
            <a:endParaRPr b="0" i="0" sz="2800" u="none" cap="none" strike="noStrike">
              <a:solidFill>
                <a:schemeClr val="dk1"/>
              </a:solidFill>
              <a:latin typeface="Calibri"/>
              <a:ea typeface="Calibri"/>
              <a:cs typeface="Calibri"/>
              <a:sym typeface="Calibri"/>
            </a:endParaRPr>
          </a:p>
        </p:txBody>
      </p:sp>
      <p:sp>
        <p:nvSpPr>
          <p:cNvPr id="274" name="Google Shape;274;p16"/>
          <p:cNvSpPr/>
          <p:nvPr/>
        </p:nvSpPr>
        <p:spPr>
          <a:xfrm>
            <a:off x="549275" y="1235075"/>
            <a:ext cx="6762750" cy="4794250"/>
          </a:xfrm>
          <a:prstGeom prst="roundRect">
            <a:avLst>
              <a:gd fmla="val 2318"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6"/>
          <p:cNvSpPr/>
          <p:nvPr/>
        </p:nvSpPr>
        <p:spPr>
          <a:xfrm>
            <a:off x="730250" y="1346200"/>
            <a:ext cx="6592824" cy="24765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D2F23"/>
              </a:buClr>
              <a:buSzPts val="1400"/>
              <a:buFont typeface="Source Sans 3"/>
              <a:buNone/>
            </a:pPr>
            <a:r>
              <a:rPr b="1" i="0" lang="en-US" sz="1400" u="none" cap="none" strike="noStrike">
                <a:solidFill>
                  <a:srgbClr val="1D2F23"/>
                </a:solidFill>
                <a:latin typeface="Source Sans 3"/>
                <a:ea typeface="Source Sans 3"/>
                <a:cs typeface="Source Sans 3"/>
                <a:sym typeface="Source Sans 3"/>
              </a:rPr>
              <a:t>India national value index Iₜ, 1996–2006</a:t>
            </a:r>
            <a:endParaRPr b="0" i="0" sz="1400" u="none" cap="none" strike="noStrike">
              <a:solidFill>
                <a:schemeClr val="dk1"/>
              </a:solidFill>
              <a:latin typeface="Calibri"/>
              <a:ea typeface="Calibri"/>
              <a:cs typeface="Calibri"/>
              <a:sym typeface="Calibri"/>
            </a:endParaRPr>
          </a:p>
        </p:txBody>
      </p:sp>
      <p:pic>
        <p:nvPicPr>
          <p:cNvPr descr="Line chart of India's national value index from 1996 to 2006 with each value labelled: near 1.0 before 2002, 0.895 in the 2002 drought year, then 0.951, 0.924 and 0.954; reference lines at 1.0 (on trend) and 0.9 (loss line)" id="276" name="Google Shape;276;p16"/>
          <p:cNvPicPr preferRelativeResize="0"/>
          <p:nvPr/>
        </p:nvPicPr>
        <p:blipFill rotWithShape="1">
          <a:blip r:embed="rId3">
            <a:alphaModFix/>
          </a:blip>
          <a:srcRect b="-32" l="0" r="0" t="-32"/>
          <a:stretch/>
        </p:blipFill>
        <p:spPr>
          <a:xfrm>
            <a:off x="641350" y="1689100"/>
            <a:ext cx="6584950" cy="4254500"/>
          </a:xfrm>
          <a:prstGeom prst="rect">
            <a:avLst/>
          </a:prstGeom>
          <a:noFill/>
          <a:ln>
            <a:noFill/>
          </a:ln>
        </p:spPr>
      </p:pic>
      <p:sp>
        <p:nvSpPr>
          <p:cNvPr id="277" name="Google Shape;277;p16"/>
          <p:cNvSpPr/>
          <p:nvPr/>
        </p:nvSpPr>
        <p:spPr>
          <a:xfrm>
            <a:off x="7442200" y="1143000"/>
            <a:ext cx="4203700" cy="965200"/>
          </a:xfrm>
          <a:prstGeom prst="roundRect">
            <a:avLst>
              <a:gd fmla="val 9211"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6"/>
          <p:cNvSpPr/>
          <p:nvPr/>
        </p:nvSpPr>
        <p:spPr>
          <a:xfrm>
            <a:off x="7588250" y="1231900"/>
            <a:ext cx="4042029" cy="6692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B5501C"/>
              </a:buClr>
              <a:buSzPts val="1300"/>
              <a:buFont typeface="Source Sans 3"/>
              <a:buNone/>
            </a:pPr>
            <a:r>
              <a:rPr b="1" i="0" lang="en-US" sz="1300" u="none" cap="none" strike="noStrike">
                <a:solidFill>
                  <a:srgbClr val="B5501C"/>
                </a:solidFill>
                <a:latin typeface="Source Sans 3"/>
                <a:ea typeface="Source Sans 3"/>
                <a:cs typeface="Source Sans 3"/>
                <a:sym typeface="Source Sans 3"/>
              </a:rPr>
              <a:t>Event year t = 2002</a:t>
            </a:r>
            <a:endParaRPr b="0" i="0" sz="13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22332A"/>
              </a:buClr>
              <a:buSzPts val="1300"/>
              <a:buFont typeface="Source Sans 3"/>
              <a:buNone/>
            </a:pPr>
            <a:r>
              <a:rPr b="0" i="0" lang="en-US" sz="1300" u="none" cap="none" strike="noStrike">
                <a:solidFill>
                  <a:srgbClr val="22332A"/>
                </a:solidFill>
                <a:latin typeface="Source Sans 3"/>
                <a:ea typeface="Source Sans 3"/>
                <a:cs typeface="Source Sans 3"/>
                <a:sym typeface="Source Sans 3"/>
              </a:rPr>
              <a:t>SPEI-12 = -1.21, with no drought in 1999–2001, so 2002 starts an event. Iₜ = 0.895.</a:t>
            </a:r>
            <a:endParaRPr b="0" i="0" sz="1300" u="none" cap="none" strike="noStrike">
              <a:solidFill>
                <a:schemeClr val="dk1"/>
              </a:solidFill>
              <a:latin typeface="Calibri"/>
              <a:ea typeface="Calibri"/>
              <a:cs typeface="Calibri"/>
              <a:sym typeface="Calibri"/>
            </a:endParaRPr>
          </a:p>
        </p:txBody>
      </p:sp>
      <p:sp>
        <p:nvSpPr>
          <p:cNvPr id="279" name="Google Shape;279;p16"/>
          <p:cNvSpPr/>
          <p:nvPr/>
        </p:nvSpPr>
        <p:spPr>
          <a:xfrm>
            <a:off x="7442200" y="2197100"/>
            <a:ext cx="4203700" cy="965200"/>
          </a:xfrm>
          <a:prstGeom prst="roundRect">
            <a:avLst>
              <a:gd fmla="val 9211"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6"/>
          <p:cNvSpPr/>
          <p:nvPr/>
        </p:nvSpPr>
        <p:spPr>
          <a:xfrm>
            <a:off x="7588250" y="2286000"/>
            <a:ext cx="4042029" cy="6692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B5501C"/>
              </a:buClr>
              <a:buSzPts val="1300"/>
              <a:buFont typeface="Source Sans 3"/>
              <a:buNone/>
            </a:pPr>
            <a:r>
              <a:rPr b="1" i="0" lang="en-US" sz="1300" u="none" cap="none" strike="noStrike">
                <a:solidFill>
                  <a:srgbClr val="B5501C"/>
                </a:solidFill>
                <a:latin typeface="Source Sans 3"/>
                <a:ea typeface="Source Sans 3"/>
                <a:cs typeface="Source Sans 3"/>
                <a:sym typeface="Source Sans 3"/>
              </a:rPr>
              <a:t>Resistance</a:t>
            </a:r>
            <a:endParaRPr b="0" i="0" sz="13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22332A"/>
              </a:buClr>
              <a:buSzPts val="1300"/>
              <a:buFont typeface="Source Sans 3"/>
              <a:buNone/>
            </a:pPr>
            <a:r>
              <a:rPr b="0" i="0" lang="en-US" sz="1300" u="none" cap="none" strike="noStrike">
                <a:solidFill>
                  <a:srgbClr val="22332A"/>
                </a:solidFill>
                <a:latin typeface="Source Sans 3"/>
                <a:ea typeface="Source Sans 3"/>
                <a:cs typeface="Source Sans 3"/>
                <a:sym typeface="Source Sans 3"/>
              </a:rPr>
              <a:t>Before: (1.040 + 0.996 + 0.995) / 3 = 1.010</a:t>
            </a:r>
            <a:endParaRPr b="0" i="0" sz="13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22332A"/>
              </a:buClr>
              <a:buSzPts val="1300"/>
              <a:buFont typeface="Source Sans 3"/>
              <a:buNone/>
            </a:pPr>
            <a:r>
              <a:rPr b="1" i="0" lang="en-US" sz="1300" u="none" cap="none" strike="noStrike">
                <a:solidFill>
                  <a:srgbClr val="22332A"/>
                </a:solidFill>
                <a:latin typeface="Source Sans 3"/>
                <a:ea typeface="Source Sans 3"/>
                <a:cs typeface="Source Sans 3"/>
                <a:sym typeface="Source Sans 3"/>
              </a:rPr>
              <a:t>0.895 / 1.010 = 0.89</a:t>
            </a:r>
            <a:endParaRPr b="0" i="0" sz="1300" u="none" cap="none" strike="noStrike">
              <a:solidFill>
                <a:schemeClr val="dk1"/>
              </a:solidFill>
              <a:latin typeface="Calibri"/>
              <a:ea typeface="Calibri"/>
              <a:cs typeface="Calibri"/>
              <a:sym typeface="Calibri"/>
            </a:endParaRPr>
          </a:p>
        </p:txBody>
      </p:sp>
      <p:sp>
        <p:nvSpPr>
          <p:cNvPr id="281" name="Google Shape;281;p16"/>
          <p:cNvSpPr/>
          <p:nvPr/>
        </p:nvSpPr>
        <p:spPr>
          <a:xfrm>
            <a:off x="7442200" y="3295650"/>
            <a:ext cx="4203700" cy="965200"/>
          </a:xfrm>
          <a:prstGeom prst="roundRect">
            <a:avLst>
              <a:gd fmla="val 9211"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6"/>
          <p:cNvSpPr/>
          <p:nvPr/>
        </p:nvSpPr>
        <p:spPr>
          <a:xfrm>
            <a:off x="7588250" y="3384550"/>
            <a:ext cx="4042029" cy="6692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B5501C"/>
              </a:buClr>
              <a:buSzPts val="1300"/>
              <a:buFont typeface="Source Sans 3"/>
              <a:buNone/>
            </a:pPr>
            <a:r>
              <a:rPr b="1" i="0" lang="en-US" sz="1300" u="none" cap="none" strike="noStrike">
                <a:solidFill>
                  <a:srgbClr val="B5501C"/>
                </a:solidFill>
                <a:latin typeface="Source Sans 3"/>
                <a:ea typeface="Source Sans 3"/>
                <a:cs typeface="Source Sans 3"/>
                <a:sym typeface="Source Sans 3"/>
              </a:rPr>
              <a:t>Recovery</a:t>
            </a:r>
            <a:endParaRPr b="0" i="0" sz="13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22332A"/>
              </a:buClr>
              <a:buSzPts val="1300"/>
              <a:buFont typeface="Source Sans 3"/>
              <a:buNone/>
            </a:pPr>
            <a:r>
              <a:rPr b="0" i="0" lang="en-US" sz="1300" u="none" cap="none" strike="noStrike">
                <a:solidFill>
                  <a:srgbClr val="22332A"/>
                </a:solidFill>
                <a:latin typeface="Source Sans 3"/>
                <a:ea typeface="Source Sans 3"/>
                <a:cs typeface="Source Sans 3"/>
                <a:sym typeface="Source Sans 3"/>
              </a:rPr>
              <a:t>After: (0.951 + 0.924 + 0.954) / 3 = 0.943</a:t>
            </a:r>
            <a:endParaRPr b="0" i="0" sz="13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22332A"/>
              </a:buClr>
              <a:buSzPts val="1300"/>
              <a:buFont typeface="Source Sans 3"/>
              <a:buNone/>
            </a:pPr>
            <a:r>
              <a:rPr b="1" i="0" lang="en-US" sz="1300" u="none" cap="none" strike="noStrike">
                <a:solidFill>
                  <a:srgbClr val="22332A"/>
                </a:solidFill>
                <a:latin typeface="Source Sans 3"/>
                <a:ea typeface="Source Sans 3"/>
                <a:cs typeface="Source Sans 3"/>
                <a:sym typeface="Source Sans 3"/>
              </a:rPr>
              <a:t>0.943 / 0.895 = 1.05</a:t>
            </a:r>
            <a:endParaRPr b="0" i="0" sz="1300" u="none" cap="none" strike="noStrike">
              <a:solidFill>
                <a:schemeClr val="dk1"/>
              </a:solidFill>
              <a:latin typeface="Calibri"/>
              <a:ea typeface="Calibri"/>
              <a:cs typeface="Calibri"/>
              <a:sym typeface="Calibri"/>
            </a:endParaRPr>
          </a:p>
        </p:txBody>
      </p:sp>
      <p:sp>
        <p:nvSpPr>
          <p:cNvPr id="283" name="Google Shape;283;p16"/>
          <p:cNvSpPr/>
          <p:nvPr/>
        </p:nvSpPr>
        <p:spPr>
          <a:xfrm>
            <a:off x="7442200" y="4394200"/>
            <a:ext cx="4203700" cy="1016000"/>
          </a:xfrm>
          <a:prstGeom prst="roundRect">
            <a:avLst>
              <a:gd fmla="val 8750"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6"/>
          <p:cNvSpPr/>
          <p:nvPr/>
        </p:nvSpPr>
        <p:spPr>
          <a:xfrm>
            <a:off x="7588250" y="4483100"/>
            <a:ext cx="4042029" cy="6692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B5501C"/>
              </a:buClr>
              <a:buSzPts val="1300"/>
              <a:buFont typeface="Source Sans 3"/>
              <a:buNone/>
            </a:pPr>
            <a:r>
              <a:rPr b="1" i="0" lang="en-US" sz="1300" u="none" cap="none" strike="noStrike">
                <a:solidFill>
                  <a:srgbClr val="B5501C"/>
                </a:solidFill>
                <a:latin typeface="Source Sans 3"/>
                <a:ea typeface="Source Sans 3"/>
                <a:cs typeface="Source Sans 3"/>
                <a:sym typeface="Source Sans 3"/>
              </a:rPr>
              <a:t>Vulnerability</a:t>
            </a:r>
            <a:endParaRPr b="0" i="0" sz="13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22332A"/>
              </a:buClr>
              <a:buSzPts val="1300"/>
              <a:buFont typeface="Source Sans 3"/>
              <a:buNone/>
            </a:pPr>
            <a:r>
              <a:rPr b="0" i="0" lang="en-US" sz="1300" u="none" cap="none" strike="noStrike">
                <a:solidFill>
                  <a:srgbClr val="22332A"/>
                </a:solidFill>
                <a:latin typeface="Source Sans 3"/>
                <a:ea typeface="Source Sans 3"/>
                <a:cs typeface="Source Sans 3"/>
                <a:sym typeface="Source Sans 3"/>
              </a:rPr>
              <a:t>2002 is the only year of 31 below 0.9, so 1 / 31 = 0.03. It was a drought year, so vuln_drought = 1 / 1 = 1.0.</a:t>
            </a:r>
            <a:endParaRPr b="0" i="0" sz="1300" u="none" cap="none" strike="noStrike">
              <a:solidFill>
                <a:schemeClr val="dk1"/>
              </a:solidFill>
              <a:latin typeface="Calibri"/>
              <a:ea typeface="Calibri"/>
              <a:cs typeface="Calibri"/>
              <a:sym typeface="Calibri"/>
            </a:endParaRPr>
          </a:p>
        </p:txBody>
      </p:sp>
      <p:sp>
        <p:nvSpPr>
          <p:cNvPr id="285" name="Google Shape;285;p16"/>
          <p:cNvSpPr/>
          <p:nvPr/>
        </p:nvSpPr>
        <p:spPr>
          <a:xfrm>
            <a:off x="7588250" y="5524500"/>
            <a:ext cx="4042029" cy="406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6B6B60"/>
              </a:buClr>
              <a:buSzPts val="1200"/>
              <a:buFont typeface="Source Sans 3"/>
              <a:buNone/>
            </a:pPr>
            <a:r>
              <a:rPr b="0" i="1" lang="en-US" sz="1200" u="none" cap="none" strike="noStrike">
                <a:solidFill>
                  <a:srgbClr val="6B6B60"/>
                </a:solidFill>
                <a:latin typeface="Source Sans 3"/>
                <a:ea typeface="Source Sans 3"/>
                <a:cs typeface="Source Sans 3"/>
                <a:sym typeface="Source Sans 3"/>
              </a:rPr>
              <a:t>India has one usable event, so its resistance and recovery rest on this single drought.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290" name="Shape 290"/>
        <p:cNvGrpSpPr/>
        <p:nvPr/>
      </p:nvGrpSpPr>
      <p:grpSpPr>
        <a:xfrm>
          <a:off x="0" y="0"/>
          <a:ext cx="0" cy="0"/>
          <a:chOff x="0" y="0"/>
          <a:chExt cx="0" cy="0"/>
        </a:xfrm>
      </p:grpSpPr>
      <p:sp>
        <p:nvSpPr>
          <p:cNvPr id="291" name="Google Shape;291;p17"/>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7"/>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METHODOLOGY</a:t>
            </a:r>
            <a:endParaRPr b="0" i="0" sz="1000" u="none" cap="none" strike="noStrike">
              <a:solidFill>
                <a:schemeClr val="dk1"/>
              </a:solidFill>
              <a:latin typeface="Calibri"/>
              <a:ea typeface="Calibri"/>
              <a:cs typeface="Calibri"/>
              <a:sym typeface="Calibri"/>
            </a:endParaRPr>
          </a:p>
        </p:txBody>
      </p:sp>
      <p:sp>
        <p:nvSpPr>
          <p:cNvPr id="293" name="Google Shape;293;p17"/>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14 / 26</a:t>
            </a:r>
            <a:endParaRPr b="0" i="0" sz="1000" u="none" cap="none" strike="noStrike">
              <a:solidFill>
                <a:schemeClr val="dk1"/>
              </a:solidFill>
              <a:latin typeface="Calibri"/>
              <a:ea typeface="Calibri"/>
              <a:cs typeface="Calibri"/>
              <a:sym typeface="Calibri"/>
            </a:endParaRPr>
          </a:p>
        </p:txBody>
      </p:sp>
      <p:sp>
        <p:nvSpPr>
          <p:cNvPr id="294" name="Google Shape;294;p17"/>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Where national stability comes from</a:t>
            </a:r>
            <a:endParaRPr b="0" i="0" sz="2800" u="none" cap="none" strike="noStrike">
              <a:solidFill>
                <a:schemeClr val="dk1"/>
              </a:solidFill>
              <a:latin typeface="Calibri"/>
              <a:ea typeface="Calibri"/>
              <a:cs typeface="Calibri"/>
              <a:sym typeface="Calibri"/>
            </a:endParaRPr>
          </a:p>
        </p:txBody>
      </p:sp>
      <p:sp>
        <p:nvSpPr>
          <p:cNvPr id="295" name="Google Shape;295;p17"/>
          <p:cNvSpPr/>
          <p:nvPr/>
        </p:nvSpPr>
        <p:spPr>
          <a:xfrm>
            <a:off x="549275" y="1235075"/>
            <a:ext cx="7219950" cy="4794250"/>
          </a:xfrm>
          <a:prstGeom prst="roundRect">
            <a:avLst>
              <a:gd fmla="val 2318"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tacked bars for 15 countries ordered by crop diversity, splitting log stability into the stability of individual crops (blue) and the asynchrony between crops (orange)" id="296" name="Google Shape;296;p17"/>
          <p:cNvPicPr preferRelativeResize="0"/>
          <p:nvPr/>
        </p:nvPicPr>
        <p:blipFill rotWithShape="1">
          <a:blip r:embed="rId3">
            <a:alphaModFix/>
          </a:blip>
          <a:srcRect b="-2269" l="0" r="0" t="-2269"/>
          <a:stretch/>
        </p:blipFill>
        <p:spPr>
          <a:xfrm>
            <a:off x="660400" y="1346200"/>
            <a:ext cx="6997700" cy="4572000"/>
          </a:xfrm>
          <a:prstGeom prst="rect">
            <a:avLst/>
          </a:prstGeom>
          <a:noFill/>
          <a:ln>
            <a:noFill/>
          </a:ln>
        </p:spPr>
      </p:pic>
      <p:sp>
        <p:nvSpPr>
          <p:cNvPr id="297" name="Google Shape;297;p17"/>
          <p:cNvSpPr/>
          <p:nvPr/>
        </p:nvSpPr>
        <p:spPr>
          <a:xfrm>
            <a:off x="7937500" y="1231900"/>
            <a:ext cx="3708400" cy="4800600"/>
          </a:xfrm>
          <a:prstGeom prst="roundRect">
            <a:avLst>
              <a:gd fmla="val 3082"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7"/>
          <p:cNvSpPr/>
          <p:nvPr/>
        </p:nvSpPr>
        <p:spPr>
          <a:xfrm>
            <a:off x="8140700" y="1435100"/>
            <a:ext cx="3440303" cy="6680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5501C"/>
              </a:buClr>
              <a:buSzPts val="4600"/>
              <a:buFont typeface="Source Serif 4"/>
              <a:buNone/>
            </a:pPr>
            <a:r>
              <a:rPr b="1" i="0" lang="en-US" sz="4600" u="none" cap="none" strike="noStrike">
                <a:solidFill>
                  <a:srgbClr val="B5501C"/>
                </a:solidFill>
                <a:latin typeface="Source Serif 4"/>
                <a:ea typeface="Source Serif 4"/>
                <a:cs typeface="Source Serif 4"/>
                <a:sym typeface="Source Serif 4"/>
              </a:rPr>
              <a:t>0.23</a:t>
            </a:r>
            <a:endParaRPr b="0" i="0" sz="4600" u="none" cap="none" strike="noStrike">
              <a:solidFill>
                <a:schemeClr val="dk1"/>
              </a:solidFill>
              <a:latin typeface="Calibri"/>
              <a:ea typeface="Calibri"/>
              <a:cs typeface="Calibri"/>
              <a:sym typeface="Calibri"/>
            </a:endParaRPr>
          </a:p>
        </p:txBody>
      </p:sp>
      <p:sp>
        <p:nvSpPr>
          <p:cNvPr id="299" name="Google Shape;299;p17"/>
          <p:cNvSpPr/>
          <p:nvPr/>
        </p:nvSpPr>
        <p:spPr>
          <a:xfrm>
            <a:off x="8140700" y="2197100"/>
            <a:ext cx="3440303" cy="263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D2F23"/>
              </a:buClr>
              <a:buSzPts val="1500"/>
              <a:buFont typeface="Source Sans 3"/>
              <a:buNone/>
            </a:pPr>
            <a:r>
              <a:rPr b="1" i="0" lang="en-US" sz="1500" u="none" cap="none" strike="noStrike">
                <a:solidFill>
                  <a:srgbClr val="1D2F23"/>
                </a:solidFill>
                <a:latin typeface="Source Sans 3"/>
                <a:ea typeface="Source Sans 3"/>
                <a:cs typeface="Source Sans 3"/>
                <a:sym typeface="Source Sans 3"/>
              </a:rPr>
              <a:t>median synchrony between crops</a:t>
            </a:r>
            <a:endParaRPr b="0" i="0" sz="1500" u="none" cap="none" strike="noStrike">
              <a:solidFill>
                <a:schemeClr val="dk1"/>
              </a:solidFill>
              <a:latin typeface="Calibri"/>
              <a:ea typeface="Calibri"/>
              <a:cs typeface="Calibri"/>
              <a:sym typeface="Calibri"/>
            </a:endParaRPr>
          </a:p>
        </p:txBody>
      </p:sp>
      <p:sp>
        <p:nvSpPr>
          <p:cNvPr id="300" name="Google Shape;300;p17"/>
          <p:cNvSpPr/>
          <p:nvPr/>
        </p:nvSpPr>
        <p:spPr>
          <a:xfrm>
            <a:off x="8140700" y="2787650"/>
            <a:ext cx="3440303" cy="152781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300"/>
              <a:buFont typeface="Source Sans 3"/>
              <a:buNone/>
            </a:pPr>
            <a:r>
              <a:rPr b="0" i="0" lang="en-US" sz="1300" u="none" cap="none" strike="noStrike">
                <a:solidFill>
                  <a:srgbClr val="22332A"/>
                </a:solidFill>
                <a:latin typeface="Source Sans 3"/>
                <a:ea typeface="Source Sans 3"/>
                <a:cs typeface="Source Sans 3"/>
                <a:sym typeface="Source Sans 3"/>
              </a:rPr>
              <a:t>Each bar is a country’s log stability, split into two parts. Blue: how steady its individual crops are. Orange: how out of step they are (on a 0–1 scale where 1 means all crops move together). Both add to stability, and in the more diverse countries, such as Israel, the out-of-step part is a larger share.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305" name="Shape 305"/>
        <p:cNvGrpSpPr/>
        <p:nvPr/>
      </p:nvGrpSpPr>
      <p:grpSpPr>
        <a:xfrm>
          <a:off x="0" y="0"/>
          <a:ext cx="0" cy="0"/>
          <a:chOff x="0" y="0"/>
          <a:chExt cx="0" cy="0"/>
        </a:xfrm>
      </p:grpSpPr>
      <p:sp>
        <p:nvSpPr>
          <p:cNvPr id="306" name="Google Shape;306;p18"/>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8"/>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METHODOLOGY</a:t>
            </a:r>
            <a:endParaRPr b="0" i="0" sz="1000" u="none" cap="none" strike="noStrike">
              <a:solidFill>
                <a:schemeClr val="dk1"/>
              </a:solidFill>
              <a:latin typeface="Calibri"/>
              <a:ea typeface="Calibri"/>
              <a:cs typeface="Calibri"/>
              <a:sym typeface="Calibri"/>
            </a:endParaRPr>
          </a:p>
        </p:txBody>
      </p:sp>
      <p:sp>
        <p:nvSpPr>
          <p:cNvPr id="308" name="Google Shape;308;p18"/>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15 / 26</a:t>
            </a:r>
            <a:endParaRPr b="0" i="0" sz="1000" u="none" cap="none" strike="noStrike">
              <a:solidFill>
                <a:schemeClr val="dk1"/>
              </a:solidFill>
              <a:latin typeface="Calibri"/>
              <a:ea typeface="Calibri"/>
              <a:cs typeface="Calibri"/>
              <a:sym typeface="Calibri"/>
            </a:endParaRPr>
          </a:p>
        </p:txBody>
      </p:sp>
      <p:sp>
        <p:nvSpPr>
          <p:cNvPr id="309" name="Google Shape;309;p18"/>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How we test the link between diversity and resilience</a:t>
            </a:r>
            <a:endParaRPr b="0" i="0" sz="2800" u="none" cap="none" strike="noStrike">
              <a:solidFill>
                <a:schemeClr val="dk1"/>
              </a:solidFill>
              <a:latin typeface="Calibri"/>
              <a:ea typeface="Calibri"/>
              <a:cs typeface="Calibri"/>
              <a:sym typeface="Calibri"/>
            </a:endParaRPr>
          </a:p>
        </p:txBody>
      </p:sp>
      <p:sp>
        <p:nvSpPr>
          <p:cNvPr id="310" name="Google Shape;310;p18"/>
          <p:cNvSpPr/>
          <p:nvPr/>
        </p:nvSpPr>
        <p:spPr>
          <a:xfrm>
            <a:off x="549275" y="1235075"/>
            <a:ext cx="5435600" cy="2235200"/>
          </a:xfrm>
          <a:prstGeom prst="roundRect">
            <a:avLst>
              <a:gd fmla="val 4972"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ctivity" id="311" name="Google Shape;311;p18"/>
          <p:cNvPicPr preferRelativeResize="0"/>
          <p:nvPr/>
        </p:nvPicPr>
        <p:blipFill rotWithShape="1">
          <a:blip r:embed="rId3">
            <a:alphaModFix/>
          </a:blip>
          <a:srcRect b="0" l="0" r="0" t="0"/>
          <a:stretch/>
        </p:blipFill>
        <p:spPr>
          <a:xfrm>
            <a:off x="5505450" y="1397000"/>
            <a:ext cx="279400" cy="279400"/>
          </a:xfrm>
          <a:prstGeom prst="rect">
            <a:avLst/>
          </a:prstGeom>
          <a:noFill/>
          <a:ln>
            <a:noFill/>
          </a:ln>
        </p:spPr>
      </p:pic>
      <p:sp>
        <p:nvSpPr>
          <p:cNvPr id="312" name="Google Shape;312;p18"/>
          <p:cNvSpPr/>
          <p:nvPr/>
        </p:nvSpPr>
        <p:spPr>
          <a:xfrm>
            <a:off x="774700" y="1384300"/>
            <a:ext cx="4578350"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01C"/>
              </a:buClr>
              <a:buSzPts val="1600"/>
              <a:buFont typeface="Source Sans 3"/>
              <a:buNone/>
            </a:pPr>
            <a:r>
              <a:rPr b="1" i="0" lang="en-US" sz="1600" u="none" cap="none" strike="noStrike">
                <a:solidFill>
                  <a:srgbClr val="B5501C"/>
                </a:solidFill>
                <a:latin typeface="Source Sans 3"/>
                <a:ea typeface="Source Sans 3"/>
                <a:cs typeface="Source Sans 3"/>
                <a:sym typeface="Source Sans 3"/>
              </a:rPr>
              <a:t>Rank correlation</a:t>
            </a:r>
            <a:endParaRPr b="0" i="0" sz="1600" u="none" cap="none" strike="noStrike">
              <a:solidFill>
                <a:schemeClr val="dk1"/>
              </a:solidFill>
              <a:latin typeface="Calibri"/>
              <a:ea typeface="Calibri"/>
              <a:cs typeface="Calibri"/>
              <a:sym typeface="Calibri"/>
            </a:endParaRPr>
          </a:p>
        </p:txBody>
      </p:sp>
      <p:sp>
        <p:nvSpPr>
          <p:cNvPr id="313" name="Google Shape;313;p18"/>
          <p:cNvSpPr/>
          <p:nvPr/>
        </p:nvSpPr>
        <p:spPr>
          <a:xfrm>
            <a:off x="774700" y="1828800"/>
            <a:ext cx="5134293" cy="7683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500"/>
              <a:buFont typeface="Source Sans 3"/>
              <a:buNone/>
            </a:pPr>
            <a:r>
              <a:rPr b="0" i="0" lang="en-US" sz="1500" u="none" cap="none" strike="noStrike">
                <a:solidFill>
                  <a:srgbClr val="22332A"/>
                </a:solidFill>
                <a:latin typeface="Source Sans 3"/>
                <a:ea typeface="Source Sans 3"/>
                <a:cs typeface="Source Sans 3"/>
                <a:sym typeface="Source Sans 3"/>
              </a:rPr>
              <a:t>Spearman ρ between each predictor (hill1, resp_div) and each face, with 95% bootstrap intervals from 2,000 resamples of countries. n = 107 for hill1.</a:t>
            </a:r>
            <a:endParaRPr b="0" i="0" sz="1500" u="none" cap="none" strike="noStrike">
              <a:solidFill>
                <a:schemeClr val="dk1"/>
              </a:solidFill>
              <a:latin typeface="Calibri"/>
              <a:ea typeface="Calibri"/>
              <a:cs typeface="Calibri"/>
              <a:sym typeface="Calibri"/>
            </a:endParaRPr>
          </a:p>
        </p:txBody>
      </p:sp>
      <p:sp>
        <p:nvSpPr>
          <p:cNvPr id="314" name="Google Shape;314;p18"/>
          <p:cNvSpPr/>
          <p:nvPr/>
        </p:nvSpPr>
        <p:spPr>
          <a:xfrm>
            <a:off x="6200775" y="1235075"/>
            <a:ext cx="5435600" cy="2235200"/>
          </a:xfrm>
          <a:prstGeom prst="roundRect">
            <a:avLst>
              <a:gd fmla="val 4972"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rt" id="315" name="Google Shape;315;p18"/>
          <p:cNvPicPr preferRelativeResize="0"/>
          <p:nvPr/>
        </p:nvPicPr>
        <p:blipFill rotWithShape="1">
          <a:blip r:embed="rId4">
            <a:alphaModFix/>
          </a:blip>
          <a:srcRect b="0" l="0" r="0" t="0"/>
          <a:stretch/>
        </p:blipFill>
        <p:spPr>
          <a:xfrm>
            <a:off x="11156950" y="1397000"/>
            <a:ext cx="279400" cy="279400"/>
          </a:xfrm>
          <a:prstGeom prst="rect">
            <a:avLst/>
          </a:prstGeom>
          <a:noFill/>
          <a:ln>
            <a:noFill/>
          </a:ln>
        </p:spPr>
      </p:pic>
      <p:sp>
        <p:nvSpPr>
          <p:cNvPr id="316" name="Google Shape;316;p18"/>
          <p:cNvSpPr/>
          <p:nvPr/>
        </p:nvSpPr>
        <p:spPr>
          <a:xfrm>
            <a:off x="6426200" y="1384300"/>
            <a:ext cx="4578350"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01C"/>
              </a:buClr>
              <a:buSzPts val="1600"/>
              <a:buFont typeface="Source Sans 3"/>
              <a:buNone/>
            </a:pPr>
            <a:r>
              <a:rPr b="1" i="0" lang="en-US" sz="1600" u="none" cap="none" strike="noStrike">
                <a:solidFill>
                  <a:srgbClr val="B5501C"/>
                </a:solidFill>
                <a:latin typeface="Source Sans 3"/>
                <a:ea typeface="Source Sans 3"/>
                <a:cs typeface="Source Sans 3"/>
                <a:sym typeface="Source Sans 3"/>
              </a:rPr>
              <a:t>Regression with controls</a:t>
            </a:r>
            <a:endParaRPr b="0" i="0" sz="1600" u="none" cap="none" strike="noStrike">
              <a:solidFill>
                <a:schemeClr val="dk1"/>
              </a:solidFill>
              <a:latin typeface="Calibri"/>
              <a:ea typeface="Calibri"/>
              <a:cs typeface="Calibri"/>
              <a:sym typeface="Calibri"/>
            </a:endParaRPr>
          </a:p>
        </p:txBody>
      </p:sp>
      <p:sp>
        <p:nvSpPr>
          <p:cNvPr id="317" name="Google Shape;317;p18"/>
          <p:cNvSpPr/>
          <p:nvPr/>
        </p:nvSpPr>
        <p:spPr>
          <a:xfrm>
            <a:off x="6426200" y="1828800"/>
            <a:ext cx="5134293" cy="12636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500"/>
              <a:buFont typeface="Source Sans 3"/>
              <a:buNone/>
            </a:pPr>
            <a:r>
              <a:rPr b="0" i="0" lang="en-US" sz="1500" u="none" cap="none" strike="noStrike">
                <a:solidFill>
                  <a:srgbClr val="22332A"/>
                </a:solidFill>
                <a:latin typeface="Source Sans 3"/>
                <a:ea typeface="Source Sans 3"/>
                <a:cs typeface="Source Sans 3"/>
                <a:sym typeface="Source Sans 3"/>
              </a:rPr>
              <a:t>OLS with outcome and predictors standardised, so a coefficient is the change in SD per SD. Controls: log GDP per capita, fertiliser use and irrigation share (window means). Robust HC3 errors; n = 96–101, as merged entities lack WDI series.</a:t>
            </a:r>
            <a:endParaRPr b="0" i="0" sz="1500" u="none" cap="none" strike="noStrike">
              <a:solidFill>
                <a:schemeClr val="dk1"/>
              </a:solidFill>
              <a:latin typeface="Calibri"/>
              <a:ea typeface="Calibri"/>
              <a:cs typeface="Calibri"/>
              <a:sym typeface="Calibri"/>
            </a:endParaRPr>
          </a:p>
        </p:txBody>
      </p:sp>
      <p:sp>
        <p:nvSpPr>
          <p:cNvPr id="318" name="Google Shape;318;p18"/>
          <p:cNvSpPr/>
          <p:nvPr/>
        </p:nvSpPr>
        <p:spPr>
          <a:xfrm>
            <a:off x="549275" y="3800475"/>
            <a:ext cx="5435600" cy="2235200"/>
          </a:xfrm>
          <a:prstGeom prst="roundRect">
            <a:avLst>
              <a:gd fmla="val 4972"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Verified" id="319" name="Google Shape;319;p18"/>
          <p:cNvPicPr preferRelativeResize="0"/>
          <p:nvPr/>
        </p:nvPicPr>
        <p:blipFill rotWithShape="1">
          <a:blip r:embed="rId5">
            <a:alphaModFix/>
          </a:blip>
          <a:srcRect b="0" l="0" r="0" t="0"/>
          <a:stretch/>
        </p:blipFill>
        <p:spPr>
          <a:xfrm>
            <a:off x="5505450" y="3962400"/>
            <a:ext cx="279400" cy="279400"/>
          </a:xfrm>
          <a:prstGeom prst="rect">
            <a:avLst/>
          </a:prstGeom>
          <a:noFill/>
          <a:ln>
            <a:noFill/>
          </a:ln>
        </p:spPr>
      </p:pic>
      <p:sp>
        <p:nvSpPr>
          <p:cNvPr id="320" name="Google Shape;320;p18"/>
          <p:cNvSpPr/>
          <p:nvPr/>
        </p:nvSpPr>
        <p:spPr>
          <a:xfrm>
            <a:off x="774700" y="3949700"/>
            <a:ext cx="4578350"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01C"/>
              </a:buClr>
              <a:buSzPts val="1600"/>
              <a:buFont typeface="Source Sans 3"/>
              <a:buNone/>
            </a:pPr>
            <a:r>
              <a:rPr b="1" i="0" lang="en-US" sz="1600" u="none" cap="none" strike="noStrike">
                <a:solidFill>
                  <a:srgbClr val="B5501C"/>
                </a:solidFill>
                <a:latin typeface="Source Sans 3"/>
                <a:ea typeface="Source Sans 3"/>
                <a:cs typeface="Source Sans 3"/>
                <a:sym typeface="Source Sans 3"/>
              </a:rPr>
              <a:t>Robustness</a:t>
            </a:r>
            <a:endParaRPr b="0" i="0" sz="1600" u="none" cap="none" strike="noStrike">
              <a:solidFill>
                <a:schemeClr val="dk1"/>
              </a:solidFill>
              <a:latin typeface="Calibri"/>
              <a:ea typeface="Calibri"/>
              <a:cs typeface="Calibri"/>
              <a:sym typeface="Calibri"/>
            </a:endParaRPr>
          </a:p>
        </p:txBody>
      </p:sp>
      <p:sp>
        <p:nvSpPr>
          <p:cNvPr id="321" name="Google Shape;321;p18"/>
          <p:cNvSpPr/>
          <p:nvPr/>
        </p:nvSpPr>
        <p:spPr>
          <a:xfrm>
            <a:off x="774700" y="4394200"/>
            <a:ext cx="5134293" cy="7683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500"/>
              <a:buFont typeface="Source Sans 3"/>
              <a:buNone/>
            </a:pPr>
            <a:r>
              <a:rPr b="0" i="0" lang="en-US" sz="1500" u="none" cap="none" strike="noStrike">
                <a:solidFill>
                  <a:srgbClr val="22332A"/>
                </a:solidFill>
                <a:latin typeface="Source Sans 3"/>
                <a:ea typeface="Source Sans 3"/>
                <a:cs typeface="Source Sans 3"/>
                <a:sym typeface="Source Sans 3"/>
              </a:rPr>
              <a:t>Repeat the correlations with LOWESS frac 0.3 and 0.7, severe droughts only (≤ −1.5), countries with at most 10% imputed value, and each world region left out in turn.</a:t>
            </a:r>
            <a:endParaRPr b="0" i="0" sz="1500" u="none" cap="none" strike="noStrike">
              <a:solidFill>
                <a:schemeClr val="dk1"/>
              </a:solidFill>
              <a:latin typeface="Calibri"/>
              <a:ea typeface="Calibri"/>
              <a:cs typeface="Calibri"/>
              <a:sym typeface="Calibri"/>
            </a:endParaRPr>
          </a:p>
        </p:txBody>
      </p:sp>
      <p:sp>
        <p:nvSpPr>
          <p:cNvPr id="322" name="Google Shape;322;p18"/>
          <p:cNvSpPr/>
          <p:nvPr/>
        </p:nvSpPr>
        <p:spPr>
          <a:xfrm>
            <a:off x="6200775" y="3800475"/>
            <a:ext cx="5435600" cy="2235200"/>
          </a:xfrm>
          <a:prstGeom prst="roundRect">
            <a:avLst>
              <a:gd fmla="val 4972"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323" name="Google Shape;323;p18"/>
          <p:cNvPicPr preferRelativeResize="0"/>
          <p:nvPr/>
        </p:nvPicPr>
        <p:blipFill rotWithShape="1">
          <a:blip r:embed="rId6">
            <a:alphaModFix/>
          </a:blip>
          <a:srcRect b="0" l="0" r="0" t="0"/>
          <a:stretch/>
        </p:blipFill>
        <p:spPr>
          <a:xfrm>
            <a:off x="11156950" y="3962400"/>
            <a:ext cx="279400" cy="279400"/>
          </a:xfrm>
          <a:prstGeom prst="rect">
            <a:avLst/>
          </a:prstGeom>
          <a:noFill/>
          <a:ln>
            <a:noFill/>
          </a:ln>
        </p:spPr>
      </p:pic>
      <p:sp>
        <p:nvSpPr>
          <p:cNvPr id="324" name="Google Shape;324;p18"/>
          <p:cNvSpPr/>
          <p:nvPr/>
        </p:nvSpPr>
        <p:spPr>
          <a:xfrm>
            <a:off x="6426200" y="3949700"/>
            <a:ext cx="4578350"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01C"/>
              </a:buClr>
              <a:buSzPts val="1600"/>
              <a:buFont typeface="Source Sans 3"/>
              <a:buNone/>
            </a:pPr>
            <a:r>
              <a:rPr b="1" i="0" lang="en-US" sz="1600" u="none" cap="none" strike="noStrike">
                <a:solidFill>
                  <a:srgbClr val="B5501C"/>
                </a:solidFill>
                <a:latin typeface="Source Sans 3"/>
                <a:ea typeface="Source Sans 3"/>
                <a:cs typeface="Source Sans 3"/>
                <a:sym typeface="Source Sans 3"/>
              </a:rPr>
              <a:t>Extra checks</a:t>
            </a:r>
            <a:endParaRPr b="0" i="0" sz="1600" u="none" cap="none" strike="noStrike">
              <a:solidFill>
                <a:schemeClr val="dk1"/>
              </a:solidFill>
              <a:latin typeface="Calibri"/>
              <a:ea typeface="Calibri"/>
              <a:cs typeface="Calibri"/>
              <a:sym typeface="Calibri"/>
            </a:endParaRPr>
          </a:p>
        </p:txBody>
      </p:sp>
      <p:sp>
        <p:nvSpPr>
          <p:cNvPr id="325" name="Google Shape;325;p18"/>
          <p:cNvSpPr/>
          <p:nvPr/>
        </p:nvSpPr>
        <p:spPr>
          <a:xfrm>
            <a:off x="6426200" y="4394200"/>
            <a:ext cx="5134293" cy="1016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500"/>
              <a:buFont typeface="Source Sans 3"/>
              <a:buNone/>
            </a:pPr>
            <a:r>
              <a:rPr b="0" i="0" lang="en-US" sz="1500" u="none" cap="none" strike="noStrike">
                <a:solidFill>
                  <a:srgbClr val="22332A"/>
                </a:solidFill>
                <a:latin typeface="Source Sans 3"/>
                <a:ea typeface="Source Sans 3"/>
                <a:cs typeface="Source Sans 3"/>
                <a:sym typeface="Source Sans 3"/>
              </a:rPr>
              <a:t>Response-diversity paradox: resp_div against the most sensitive single crop. Spatial dilution: country area against SPEI variance. Flash droughts: 6-month against 12-month index versus yield anomalies.</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330" name="Shape 330"/>
        <p:cNvGrpSpPr/>
        <p:nvPr/>
      </p:nvGrpSpPr>
      <p:grpSpPr>
        <a:xfrm>
          <a:off x="0" y="0"/>
          <a:ext cx="0" cy="0"/>
          <a:chOff x="0" y="0"/>
          <a:chExt cx="0" cy="0"/>
        </a:xfrm>
      </p:grpSpPr>
      <p:sp>
        <p:nvSpPr>
          <p:cNvPr id="331" name="Google Shape;331;p19"/>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9"/>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METHODOLOGY</a:t>
            </a:r>
            <a:endParaRPr b="0" i="0" sz="1000" u="none" cap="none" strike="noStrike">
              <a:solidFill>
                <a:schemeClr val="dk1"/>
              </a:solidFill>
              <a:latin typeface="Calibri"/>
              <a:ea typeface="Calibri"/>
              <a:cs typeface="Calibri"/>
              <a:sym typeface="Calibri"/>
            </a:endParaRPr>
          </a:p>
        </p:txBody>
      </p:sp>
      <p:sp>
        <p:nvSpPr>
          <p:cNvPr id="333" name="Google Shape;333;p19"/>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16 / 26</a:t>
            </a:r>
            <a:endParaRPr b="0" i="0" sz="1000" u="none" cap="none" strike="noStrike">
              <a:solidFill>
                <a:schemeClr val="dk1"/>
              </a:solidFill>
              <a:latin typeface="Calibri"/>
              <a:ea typeface="Calibri"/>
              <a:cs typeface="Calibri"/>
              <a:sym typeface="Calibri"/>
            </a:endParaRPr>
          </a:p>
        </p:txBody>
      </p:sp>
      <p:sp>
        <p:nvSpPr>
          <p:cNvPr id="334" name="Google Shape;334;p19"/>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One country in detail: India</a:t>
            </a:r>
            <a:endParaRPr b="0" i="0" sz="2800" u="none" cap="none" strike="noStrike">
              <a:solidFill>
                <a:schemeClr val="dk1"/>
              </a:solidFill>
              <a:latin typeface="Calibri"/>
              <a:ea typeface="Calibri"/>
              <a:cs typeface="Calibri"/>
              <a:sym typeface="Calibri"/>
            </a:endParaRPr>
          </a:p>
        </p:txBody>
      </p:sp>
      <p:sp>
        <p:nvSpPr>
          <p:cNvPr id="335" name="Google Shape;335;p19"/>
          <p:cNvSpPr/>
          <p:nvPr/>
        </p:nvSpPr>
        <p:spPr>
          <a:xfrm>
            <a:off x="549275" y="1235075"/>
            <a:ext cx="7219950" cy="4794250"/>
          </a:xfrm>
          <a:prstGeom prst="roundRect">
            <a:avLst>
              <a:gd fmla="val 2318"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Yield anomalies of India's six largest crops by value, 1993 to 2023, with the national value index in black and the 2002 drought year shaded" id="336" name="Google Shape;336;p19"/>
          <p:cNvPicPr preferRelativeResize="0"/>
          <p:nvPr/>
        </p:nvPicPr>
        <p:blipFill rotWithShape="1">
          <a:blip r:embed="rId3">
            <a:alphaModFix/>
          </a:blip>
          <a:srcRect b="-2269" l="0" r="0" t="-2269"/>
          <a:stretch/>
        </p:blipFill>
        <p:spPr>
          <a:xfrm>
            <a:off x="660400" y="1346200"/>
            <a:ext cx="6997700" cy="4572000"/>
          </a:xfrm>
          <a:prstGeom prst="rect">
            <a:avLst/>
          </a:prstGeom>
          <a:noFill/>
          <a:ln>
            <a:noFill/>
          </a:ln>
        </p:spPr>
      </p:pic>
      <p:sp>
        <p:nvSpPr>
          <p:cNvPr id="337" name="Google Shape;337;p19"/>
          <p:cNvSpPr/>
          <p:nvPr/>
        </p:nvSpPr>
        <p:spPr>
          <a:xfrm>
            <a:off x="7937500" y="1231900"/>
            <a:ext cx="3708400" cy="4800600"/>
          </a:xfrm>
          <a:prstGeom prst="roundRect">
            <a:avLst>
              <a:gd fmla="val 3082"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9"/>
          <p:cNvSpPr/>
          <p:nvPr/>
        </p:nvSpPr>
        <p:spPr>
          <a:xfrm>
            <a:off x="8140700" y="1435100"/>
            <a:ext cx="3440303" cy="6680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5501C"/>
              </a:buClr>
              <a:buSzPts val="4600"/>
              <a:buFont typeface="Source Serif 4"/>
              <a:buNone/>
            </a:pPr>
            <a:r>
              <a:rPr b="1" i="0" lang="en-US" sz="4600" u="none" cap="none" strike="noStrike">
                <a:solidFill>
                  <a:srgbClr val="B5501C"/>
                </a:solidFill>
                <a:latin typeface="Source Serif 4"/>
                <a:ea typeface="Source Serif 4"/>
                <a:cs typeface="Source Serif 4"/>
                <a:sym typeface="Source Serif 4"/>
              </a:rPr>
              <a:t>−10%</a:t>
            </a:r>
            <a:endParaRPr b="0" i="0" sz="4600" u="none" cap="none" strike="noStrike">
              <a:solidFill>
                <a:schemeClr val="dk1"/>
              </a:solidFill>
              <a:latin typeface="Calibri"/>
              <a:ea typeface="Calibri"/>
              <a:cs typeface="Calibri"/>
              <a:sym typeface="Calibri"/>
            </a:endParaRPr>
          </a:p>
        </p:txBody>
      </p:sp>
      <p:sp>
        <p:nvSpPr>
          <p:cNvPr id="339" name="Google Shape;339;p19"/>
          <p:cNvSpPr/>
          <p:nvPr/>
        </p:nvSpPr>
        <p:spPr>
          <a:xfrm>
            <a:off x="8140700" y="2197100"/>
            <a:ext cx="3440303" cy="263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D2F23"/>
              </a:buClr>
              <a:buSzPts val="1500"/>
              <a:buFont typeface="Source Sans 3"/>
              <a:buNone/>
            </a:pPr>
            <a:r>
              <a:rPr b="1" i="0" lang="en-US" sz="1500" u="none" cap="none" strike="noStrike">
                <a:solidFill>
                  <a:srgbClr val="1D2F23"/>
                </a:solidFill>
                <a:latin typeface="Source Sans 3"/>
                <a:ea typeface="Source Sans 3"/>
                <a:cs typeface="Source Sans 3"/>
                <a:sym typeface="Source Sans 3"/>
              </a:rPr>
              <a:t>national value against trend, 2002</a:t>
            </a:r>
            <a:endParaRPr b="0" i="0" sz="1500" u="none" cap="none" strike="noStrike">
              <a:solidFill>
                <a:schemeClr val="dk1"/>
              </a:solidFill>
              <a:latin typeface="Calibri"/>
              <a:ea typeface="Calibri"/>
              <a:cs typeface="Calibri"/>
              <a:sym typeface="Calibri"/>
            </a:endParaRPr>
          </a:p>
        </p:txBody>
      </p:sp>
      <p:sp>
        <p:nvSpPr>
          <p:cNvPr id="340" name="Google Shape;340;p19"/>
          <p:cNvSpPr/>
          <p:nvPr/>
        </p:nvSpPr>
        <p:spPr>
          <a:xfrm>
            <a:off x="8140700" y="2927350"/>
            <a:ext cx="3440303" cy="16764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250"/>
              <a:buFont typeface="Source Sans 3"/>
              <a:buNone/>
            </a:pPr>
            <a:r>
              <a:rPr b="0" i="0" lang="en-US" sz="1250" u="none" cap="none" strike="noStrike">
                <a:solidFill>
                  <a:srgbClr val="22332A"/>
                </a:solidFill>
                <a:latin typeface="Source Sans 3"/>
                <a:ea typeface="Source Sans 3"/>
                <a:cs typeface="Source Sans 3"/>
                <a:sym typeface="Source Sans 3"/>
              </a:rPr>
              <a:t>Thin lines are the yield anomalies of India’s six largest crops; the thick black line is the national value index minus 1; the grey band is the drought year. In 2002 cotton yield fell about 30% and rice about 11%, while mango yield rose, so the national index ended about 10% below trend. India grows 18.9 effective crops, and the spread of responses cushioned the loss.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345" name="Shape 345"/>
        <p:cNvGrpSpPr/>
        <p:nvPr/>
      </p:nvGrpSpPr>
      <p:grpSpPr>
        <a:xfrm>
          <a:off x="0" y="0"/>
          <a:ext cx="0" cy="0"/>
          <a:chOff x="0" y="0"/>
          <a:chExt cx="0" cy="0"/>
        </a:xfrm>
      </p:grpSpPr>
      <p:sp>
        <p:nvSpPr>
          <p:cNvPr id="346" name="Google Shape;346;p20"/>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0"/>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METHODOLOGY</a:t>
            </a:r>
            <a:endParaRPr b="0" i="0" sz="1000" u="none" cap="none" strike="noStrike">
              <a:solidFill>
                <a:schemeClr val="dk1"/>
              </a:solidFill>
              <a:latin typeface="Calibri"/>
              <a:ea typeface="Calibri"/>
              <a:cs typeface="Calibri"/>
              <a:sym typeface="Calibri"/>
            </a:endParaRPr>
          </a:p>
        </p:txBody>
      </p:sp>
      <p:sp>
        <p:nvSpPr>
          <p:cNvPr id="348" name="Google Shape;348;p20"/>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17 / 26</a:t>
            </a:r>
            <a:endParaRPr b="0" i="0" sz="1000" u="none" cap="none" strike="noStrike">
              <a:solidFill>
                <a:schemeClr val="dk1"/>
              </a:solidFill>
              <a:latin typeface="Calibri"/>
              <a:ea typeface="Calibri"/>
              <a:cs typeface="Calibri"/>
              <a:sym typeface="Calibri"/>
            </a:endParaRPr>
          </a:p>
        </p:txBody>
      </p:sp>
      <p:sp>
        <p:nvSpPr>
          <p:cNvPr id="349" name="Google Shape;349;p20"/>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Two contrasting countries: Colombia and Finland</a:t>
            </a:r>
            <a:endParaRPr b="0" i="0" sz="2800" u="none" cap="none" strike="noStrike">
              <a:solidFill>
                <a:schemeClr val="dk1"/>
              </a:solidFill>
              <a:latin typeface="Calibri"/>
              <a:ea typeface="Calibri"/>
              <a:cs typeface="Calibri"/>
              <a:sym typeface="Calibri"/>
            </a:endParaRPr>
          </a:p>
        </p:txBody>
      </p:sp>
      <p:sp>
        <p:nvSpPr>
          <p:cNvPr id="350" name="Google Shape;350;p20"/>
          <p:cNvSpPr/>
          <p:nvPr/>
        </p:nvSpPr>
        <p:spPr>
          <a:xfrm>
            <a:off x="549275" y="1190625"/>
            <a:ext cx="5435600" cy="3105150"/>
          </a:xfrm>
          <a:prstGeom prst="roundRect">
            <a:avLst>
              <a:gd fmla="val 3579"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Yield anomalies of Colombia's six largest crops, 1993 to 2023, with the national value index in black staying close to zero and three drought events marked" id="351" name="Google Shape;351;p20"/>
          <p:cNvPicPr preferRelativeResize="0"/>
          <p:nvPr/>
        </p:nvPicPr>
        <p:blipFill rotWithShape="1">
          <a:blip r:embed="rId3">
            <a:alphaModFix/>
          </a:blip>
          <a:srcRect b="-80" l="0" r="0" t="-80"/>
          <a:stretch/>
        </p:blipFill>
        <p:spPr>
          <a:xfrm>
            <a:off x="895350" y="1263650"/>
            <a:ext cx="4737100" cy="2965450"/>
          </a:xfrm>
          <a:prstGeom prst="rect">
            <a:avLst/>
          </a:prstGeom>
          <a:noFill/>
          <a:ln>
            <a:noFill/>
          </a:ln>
        </p:spPr>
      </p:pic>
      <p:sp>
        <p:nvSpPr>
          <p:cNvPr id="352" name="Google Shape;352;p20"/>
          <p:cNvSpPr/>
          <p:nvPr/>
        </p:nvSpPr>
        <p:spPr>
          <a:xfrm>
            <a:off x="546100" y="4406900"/>
            <a:ext cx="5605209"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01C"/>
              </a:buClr>
              <a:buSzPts val="1500"/>
              <a:buFont typeface="Source Sans 3"/>
              <a:buNone/>
            </a:pPr>
            <a:r>
              <a:rPr b="1" i="0" lang="en-US" sz="1500" u="none" cap="none" strike="noStrike">
                <a:solidFill>
                  <a:srgbClr val="B5501C"/>
                </a:solidFill>
                <a:latin typeface="Source Sans 3"/>
                <a:ea typeface="Source Sans 3"/>
                <a:cs typeface="Source Sans 3"/>
                <a:sym typeface="Source Sans 3"/>
              </a:rPr>
              <a:t>Colombia: 16.3 effective crops</a:t>
            </a:r>
            <a:endParaRPr b="0" i="0" sz="1500" u="none" cap="none" strike="noStrike">
              <a:solidFill>
                <a:schemeClr val="dk1"/>
              </a:solidFill>
              <a:latin typeface="Calibri"/>
              <a:ea typeface="Calibri"/>
              <a:cs typeface="Calibri"/>
              <a:sym typeface="Calibri"/>
            </a:endParaRPr>
          </a:p>
        </p:txBody>
      </p:sp>
      <p:sp>
        <p:nvSpPr>
          <p:cNvPr id="353" name="Google Shape;353;p20"/>
          <p:cNvSpPr/>
          <p:nvPr/>
        </p:nvSpPr>
        <p:spPr>
          <a:xfrm>
            <a:off x="546100" y="4699000"/>
            <a:ext cx="5605209" cy="223838"/>
          </a:xfrm>
          <a:prstGeom prst="rect">
            <a:avLst/>
          </a:prstGeom>
          <a:noFill/>
          <a:ln>
            <a:noFill/>
          </a:ln>
        </p:spPr>
        <p:txBody>
          <a:bodyPr anchorCtr="0" anchor="t" bIns="0" lIns="0" spcFirstLastPara="1" rIns="0" wrap="square" tIns="0">
            <a:noAutofit/>
          </a:bodyPr>
          <a:lstStyle/>
          <a:p>
            <a:pPr indent="0" lvl="0" marL="0" marR="0" rtl="0" algn="l">
              <a:lnSpc>
                <a:spcPct val="125039"/>
              </a:lnSpc>
              <a:spcBef>
                <a:spcPts val="0"/>
              </a:spcBef>
              <a:spcAft>
                <a:spcPts val="0"/>
              </a:spcAft>
              <a:buClr>
                <a:srgbClr val="1D2F23"/>
              </a:buClr>
              <a:buSzPts val="1250"/>
              <a:buFont typeface="Source Sans 3"/>
              <a:buNone/>
            </a:pPr>
            <a:r>
              <a:rPr b="1" i="0" lang="en-US" sz="1250" u="none" cap="none" strike="noStrike">
                <a:solidFill>
                  <a:srgbClr val="1D2F23"/>
                </a:solidFill>
                <a:latin typeface="Source Sans 3"/>
                <a:ea typeface="Source Sans 3"/>
                <a:cs typeface="Source Sans 3"/>
                <a:sym typeface="Source Sans 3"/>
              </a:rPr>
              <a:t>Stability 29.3 · synchrony 0.06 · bad years 0 of 31</a:t>
            </a:r>
            <a:endParaRPr b="0" i="0" sz="1250" u="none" cap="none" strike="noStrike">
              <a:solidFill>
                <a:schemeClr val="dk1"/>
              </a:solidFill>
              <a:latin typeface="Calibri"/>
              <a:ea typeface="Calibri"/>
              <a:cs typeface="Calibri"/>
              <a:sym typeface="Calibri"/>
            </a:endParaRPr>
          </a:p>
        </p:txBody>
      </p:sp>
      <p:sp>
        <p:nvSpPr>
          <p:cNvPr id="354" name="Google Shape;354;p20"/>
          <p:cNvSpPr/>
          <p:nvPr/>
        </p:nvSpPr>
        <p:spPr>
          <a:xfrm>
            <a:off x="546100" y="5010150"/>
            <a:ext cx="5605209" cy="819150"/>
          </a:xfrm>
          <a:prstGeom prst="rect">
            <a:avLst/>
          </a:prstGeom>
          <a:noFill/>
          <a:ln>
            <a:noFill/>
          </a:ln>
        </p:spPr>
        <p:txBody>
          <a:bodyPr anchorCtr="0" anchor="t" bIns="0" lIns="0" spcFirstLastPara="1" rIns="0" wrap="square" tIns="0">
            <a:noAutofit/>
          </a:bodyPr>
          <a:lstStyle/>
          <a:p>
            <a:pPr indent="0" lvl="0" marL="0" marR="0" rtl="0" algn="l">
              <a:lnSpc>
                <a:spcPct val="125039"/>
              </a:lnSpc>
              <a:spcBef>
                <a:spcPts val="0"/>
              </a:spcBef>
              <a:spcAft>
                <a:spcPts val="0"/>
              </a:spcAft>
              <a:buClr>
                <a:srgbClr val="22332A"/>
              </a:buClr>
              <a:buSzPts val="1250"/>
              <a:buFont typeface="Source Sans 3"/>
              <a:buNone/>
            </a:pPr>
            <a:r>
              <a:rPr b="0" i="0" lang="en-US" sz="1250" u="none" cap="none" strike="noStrike">
                <a:solidFill>
                  <a:srgbClr val="22332A"/>
                </a:solidFill>
                <a:latin typeface="Source Sans 3"/>
                <a:ea typeface="Source Sans 3"/>
                <a:cs typeface="Source Sans 3"/>
                <a:sym typeface="Source Sans 3"/>
              </a:rPr>
              <a:t>Coffee swings between about −23% and +18% of trend, yet the national value index (thick black line) never falls more than about 8% below trend, because other crops move out of step. The three drought events (triangles) leave no clear mark on the national line.</a:t>
            </a:r>
            <a:endParaRPr b="0" i="0" sz="1250" u="none" cap="none" strike="noStrike">
              <a:solidFill>
                <a:schemeClr val="dk1"/>
              </a:solidFill>
              <a:latin typeface="Calibri"/>
              <a:ea typeface="Calibri"/>
              <a:cs typeface="Calibri"/>
              <a:sym typeface="Calibri"/>
            </a:endParaRPr>
          </a:p>
        </p:txBody>
      </p:sp>
      <p:sp>
        <p:nvSpPr>
          <p:cNvPr id="355" name="Google Shape;355;p20"/>
          <p:cNvSpPr/>
          <p:nvPr/>
        </p:nvSpPr>
        <p:spPr>
          <a:xfrm>
            <a:off x="6200775" y="1190625"/>
            <a:ext cx="5435600" cy="3105150"/>
          </a:xfrm>
          <a:prstGeom prst="roundRect">
            <a:avLst>
              <a:gd fmla="val 3579"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Yield anomalies of Finland's six largest crops, 1993 to 2023, with the national value index in black following the cereal crops down in several years, including the 2018 drought" id="356" name="Google Shape;356;p20"/>
          <p:cNvPicPr preferRelativeResize="0"/>
          <p:nvPr/>
        </p:nvPicPr>
        <p:blipFill rotWithShape="1">
          <a:blip r:embed="rId4">
            <a:alphaModFix/>
          </a:blip>
          <a:srcRect b="-80" l="0" r="0" t="-80"/>
          <a:stretch/>
        </p:blipFill>
        <p:spPr>
          <a:xfrm>
            <a:off x="6546850" y="1263650"/>
            <a:ext cx="4737100" cy="2965450"/>
          </a:xfrm>
          <a:prstGeom prst="rect">
            <a:avLst/>
          </a:prstGeom>
          <a:noFill/>
          <a:ln>
            <a:noFill/>
          </a:ln>
        </p:spPr>
      </p:pic>
      <p:sp>
        <p:nvSpPr>
          <p:cNvPr id="357" name="Google Shape;357;p20"/>
          <p:cNvSpPr/>
          <p:nvPr/>
        </p:nvSpPr>
        <p:spPr>
          <a:xfrm>
            <a:off x="6197600" y="4406900"/>
            <a:ext cx="5605209"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01C"/>
              </a:buClr>
              <a:buSzPts val="1500"/>
              <a:buFont typeface="Source Sans 3"/>
              <a:buNone/>
            </a:pPr>
            <a:r>
              <a:rPr b="1" i="0" lang="en-US" sz="1500" u="none" cap="none" strike="noStrike">
                <a:solidFill>
                  <a:srgbClr val="B5501C"/>
                </a:solidFill>
                <a:latin typeface="Source Sans 3"/>
                <a:ea typeface="Source Sans 3"/>
                <a:cs typeface="Source Sans 3"/>
                <a:sym typeface="Source Sans 3"/>
              </a:rPr>
              <a:t>Finland: 5.0 effective crops</a:t>
            </a:r>
            <a:endParaRPr b="0" i="0" sz="1500" u="none" cap="none" strike="noStrike">
              <a:solidFill>
                <a:schemeClr val="dk1"/>
              </a:solidFill>
              <a:latin typeface="Calibri"/>
              <a:ea typeface="Calibri"/>
              <a:cs typeface="Calibri"/>
              <a:sym typeface="Calibri"/>
            </a:endParaRPr>
          </a:p>
        </p:txBody>
      </p:sp>
      <p:sp>
        <p:nvSpPr>
          <p:cNvPr id="358" name="Google Shape;358;p20"/>
          <p:cNvSpPr/>
          <p:nvPr/>
        </p:nvSpPr>
        <p:spPr>
          <a:xfrm>
            <a:off x="6197600" y="4699000"/>
            <a:ext cx="5605209" cy="223838"/>
          </a:xfrm>
          <a:prstGeom prst="rect">
            <a:avLst/>
          </a:prstGeom>
          <a:noFill/>
          <a:ln>
            <a:noFill/>
          </a:ln>
        </p:spPr>
        <p:txBody>
          <a:bodyPr anchorCtr="0" anchor="t" bIns="0" lIns="0" spcFirstLastPara="1" rIns="0" wrap="square" tIns="0">
            <a:noAutofit/>
          </a:bodyPr>
          <a:lstStyle/>
          <a:p>
            <a:pPr indent="0" lvl="0" marL="0" marR="0" rtl="0" algn="l">
              <a:lnSpc>
                <a:spcPct val="125039"/>
              </a:lnSpc>
              <a:spcBef>
                <a:spcPts val="0"/>
              </a:spcBef>
              <a:spcAft>
                <a:spcPts val="0"/>
              </a:spcAft>
              <a:buClr>
                <a:srgbClr val="1D2F23"/>
              </a:buClr>
              <a:buSzPts val="1250"/>
              <a:buFont typeface="Source Sans 3"/>
              <a:buNone/>
            </a:pPr>
            <a:r>
              <a:rPr b="1" i="0" lang="en-US" sz="1250" u="none" cap="none" strike="noStrike">
                <a:solidFill>
                  <a:srgbClr val="1D2F23"/>
                </a:solidFill>
                <a:latin typeface="Source Sans 3"/>
                <a:ea typeface="Source Sans 3"/>
                <a:cs typeface="Source Sans 3"/>
                <a:sym typeface="Source Sans 3"/>
              </a:rPr>
              <a:t>Stability 12.3 · synchrony 0.36 · bad years 5 of 31</a:t>
            </a:r>
            <a:endParaRPr b="0" i="0" sz="1250" u="none" cap="none" strike="noStrike">
              <a:solidFill>
                <a:schemeClr val="dk1"/>
              </a:solidFill>
              <a:latin typeface="Calibri"/>
              <a:ea typeface="Calibri"/>
              <a:cs typeface="Calibri"/>
              <a:sym typeface="Calibri"/>
            </a:endParaRPr>
          </a:p>
        </p:txBody>
      </p:sp>
      <p:sp>
        <p:nvSpPr>
          <p:cNvPr id="359" name="Google Shape;359;p20"/>
          <p:cNvSpPr/>
          <p:nvPr/>
        </p:nvSpPr>
        <p:spPr>
          <a:xfrm>
            <a:off x="6197600" y="5010150"/>
            <a:ext cx="5605209" cy="819150"/>
          </a:xfrm>
          <a:prstGeom prst="rect">
            <a:avLst/>
          </a:prstGeom>
          <a:noFill/>
          <a:ln>
            <a:noFill/>
          </a:ln>
        </p:spPr>
        <p:txBody>
          <a:bodyPr anchorCtr="0" anchor="t" bIns="0" lIns="0" spcFirstLastPara="1" rIns="0" wrap="square" tIns="0">
            <a:noAutofit/>
          </a:bodyPr>
          <a:lstStyle/>
          <a:p>
            <a:pPr indent="0" lvl="0" marL="0" marR="0" rtl="0" algn="l">
              <a:lnSpc>
                <a:spcPct val="125039"/>
              </a:lnSpc>
              <a:spcBef>
                <a:spcPts val="0"/>
              </a:spcBef>
              <a:spcAft>
                <a:spcPts val="0"/>
              </a:spcAft>
              <a:buClr>
                <a:srgbClr val="22332A"/>
              </a:buClr>
              <a:buSzPts val="1250"/>
              <a:buFont typeface="Source Sans 3"/>
              <a:buNone/>
            </a:pPr>
            <a:r>
              <a:rPr b="0" i="0" lang="en-US" sz="1250" u="none" cap="none" strike="noStrike">
                <a:solidFill>
                  <a:srgbClr val="22332A"/>
                </a:solidFill>
                <a:latin typeface="Source Sans 3"/>
                <a:ea typeface="Source Sans 3"/>
                <a:cs typeface="Source Sans 3"/>
                <a:sym typeface="Source Sans 3"/>
              </a:rPr>
              <a:t>Barley, oats, wheat and potatoes tend to fall in the same years, so the national line follows them. The deepest dip, 1998 at about −22%, is not a drought year; in the 2018 drought the national index fell about 14% below trend, with wheat down about 24%.</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364" name="Shape 364"/>
        <p:cNvGrpSpPr/>
        <p:nvPr/>
      </p:nvGrpSpPr>
      <p:grpSpPr>
        <a:xfrm>
          <a:off x="0" y="0"/>
          <a:ext cx="0" cy="0"/>
          <a:chOff x="0" y="0"/>
          <a:chExt cx="0" cy="0"/>
        </a:xfrm>
      </p:grpSpPr>
      <p:sp>
        <p:nvSpPr>
          <p:cNvPr id="365" name="Google Shape;365;p21"/>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1"/>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RESULTS</a:t>
            </a:r>
            <a:endParaRPr b="0" i="0" sz="1000" u="none" cap="none" strike="noStrike">
              <a:solidFill>
                <a:schemeClr val="dk1"/>
              </a:solidFill>
              <a:latin typeface="Calibri"/>
              <a:ea typeface="Calibri"/>
              <a:cs typeface="Calibri"/>
              <a:sym typeface="Calibri"/>
            </a:endParaRPr>
          </a:p>
        </p:txBody>
      </p:sp>
      <p:sp>
        <p:nvSpPr>
          <p:cNvPr id="367" name="Google Shape;367;p21"/>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18 / 26</a:t>
            </a:r>
            <a:endParaRPr b="0" i="0" sz="1000" u="none" cap="none" strike="noStrike">
              <a:solidFill>
                <a:schemeClr val="dk1"/>
              </a:solidFill>
              <a:latin typeface="Calibri"/>
              <a:ea typeface="Calibri"/>
              <a:cs typeface="Calibri"/>
              <a:sym typeface="Calibri"/>
            </a:endParaRPr>
          </a:p>
        </p:txBody>
      </p:sp>
      <p:sp>
        <p:nvSpPr>
          <p:cNvPr id="368" name="Google Shape;368;p21"/>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Crop diversity and the four faces of resilience</a:t>
            </a:r>
            <a:endParaRPr b="0" i="0" sz="2800" u="none" cap="none" strike="noStrike">
              <a:solidFill>
                <a:schemeClr val="dk1"/>
              </a:solidFill>
              <a:latin typeface="Calibri"/>
              <a:ea typeface="Calibri"/>
              <a:cs typeface="Calibri"/>
              <a:sym typeface="Calibri"/>
            </a:endParaRPr>
          </a:p>
        </p:txBody>
      </p:sp>
      <p:sp>
        <p:nvSpPr>
          <p:cNvPr id="369" name="Google Shape;369;p21"/>
          <p:cNvSpPr/>
          <p:nvPr/>
        </p:nvSpPr>
        <p:spPr>
          <a:xfrm>
            <a:off x="549275" y="1235075"/>
            <a:ext cx="7219950" cy="4794250"/>
          </a:xfrm>
          <a:prstGeom prst="roundRect">
            <a:avLst>
              <a:gd fmla="val 2318"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our scatter plots of crop diversity against stability, resistance, recovery and vulnerability for 107 countries, coloured by region, each with its Spearman correlation" id="370" name="Google Shape;370;p21"/>
          <p:cNvPicPr preferRelativeResize="0"/>
          <p:nvPr/>
        </p:nvPicPr>
        <p:blipFill rotWithShape="1">
          <a:blip r:embed="rId3">
            <a:alphaModFix/>
          </a:blip>
          <a:srcRect b="-2269" l="0" r="0" t="-2269"/>
          <a:stretch/>
        </p:blipFill>
        <p:spPr>
          <a:xfrm>
            <a:off x="660400" y="1346200"/>
            <a:ext cx="6997700" cy="4572000"/>
          </a:xfrm>
          <a:prstGeom prst="rect">
            <a:avLst/>
          </a:prstGeom>
          <a:noFill/>
          <a:ln>
            <a:noFill/>
          </a:ln>
        </p:spPr>
      </p:pic>
      <p:sp>
        <p:nvSpPr>
          <p:cNvPr id="371" name="Google Shape;371;p21"/>
          <p:cNvSpPr/>
          <p:nvPr/>
        </p:nvSpPr>
        <p:spPr>
          <a:xfrm>
            <a:off x="7937500" y="1231900"/>
            <a:ext cx="3708400" cy="4800600"/>
          </a:xfrm>
          <a:prstGeom prst="roundRect">
            <a:avLst>
              <a:gd fmla="val 3082"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1"/>
          <p:cNvSpPr/>
          <p:nvPr/>
        </p:nvSpPr>
        <p:spPr>
          <a:xfrm>
            <a:off x="8140700" y="1435100"/>
            <a:ext cx="3440303" cy="6680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5501C"/>
              </a:buClr>
              <a:buSzPts val="4600"/>
              <a:buFont typeface="Source Serif 4"/>
              <a:buNone/>
            </a:pPr>
            <a:r>
              <a:rPr b="1" i="0" lang="en-US" sz="4600" u="none" cap="none" strike="noStrike">
                <a:solidFill>
                  <a:srgbClr val="B5501C"/>
                </a:solidFill>
                <a:latin typeface="Source Serif 4"/>
                <a:ea typeface="Source Serif 4"/>
                <a:cs typeface="Source Serif 4"/>
                <a:sym typeface="Source Serif 4"/>
              </a:rPr>
              <a:t>+0.49</a:t>
            </a:r>
            <a:endParaRPr b="0" i="0" sz="4600" u="none" cap="none" strike="noStrike">
              <a:solidFill>
                <a:schemeClr val="dk1"/>
              </a:solidFill>
              <a:latin typeface="Calibri"/>
              <a:ea typeface="Calibri"/>
              <a:cs typeface="Calibri"/>
              <a:sym typeface="Calibri"/>
            </a:endParaRPr>
          </a:p>
        </p:txBody>
      </p:sp>
      <p:sp>
        <p:nvSpPr>
          <p:cNvPr id="373" name="Google Shape;373;p21"/>
          <p:cNvSpPr/>
          <p:nvPr/>
        </p:nvSpPr>
        <p:spPr>
          <a:xfrm>
            <a:off x="8140700" y="2197100"/>
            <a:ext cx="3440303" cy="263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D2F23"/>
              </a:buClr>
              <a:buSzPts val="1500"/>
              <a:buFont typeface="Source Sans 3"/>
              <a:buNone/>
            </a:pPr>
            <a:r>
              <a:rPr b="1" i="0" lang="en-US" sz="1500" u="none" cap="none" strike="noStrike">
                <a:solidFill>
                  <a:srgbClr val="1D2F23"/>
                </a:solidFill>
                <a:latin typeface="Source Sans 3"/>
                <a:ea typeface="Source Sans 3"/>
                <a:cs typeface="Source Sans 3"/>
                <a:sym typeface="Source Sans 3"/>
              </a:rPr>
              <a:t>diversity and stability</a:t>
            </a:r>
            <a:endParaRPr b="0" i="0" sz="1500" u="none" cap="none" strike="noStrike">
              <a:solidFill>
                <a:schemeClr val="dk1"/>
              </a:solidFill>
              <a:latin typeface="Calibri"/>
              <a:ea typeface="Calibri"/>
              <a:cs typeface="Calibri"/>
              <a:sym typeface="Calibri"/>
            </a:endParaRPr>
          </a:p>
        </p:txBody>
      </p:sp>
      <p:sp>
        <p:nvSpPr>
          <p:cNvPr id="374" name="Google Shape;374;p21"/>
          <p:cNvSpPr/>
          <p:nvPr/>
        </p:nvSpPr>
        <p:spPr>
          <a:xfrm>
            <a:off x="8140700" y="2787650"/>
            <a:ext cx="3440303" cy="13131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300"/>
              <a:buFont typeface="Source Sans 3"/>
              <a:buNone/>
            </a:pPr>
            <a:r>
              <a:rPr b="0" i="0" lang="en-US" sz="1300" u="none" cap="none" strike="noStrike">
                <a:solidFill>
                  <a:srgbClr val="22332A"/>
                </a:solidFill>
                <a:latin typeface="Source Sans 3"/>
                <a:ea typeface="Source Sans 3"/>
                <a:cs typeface="Source Sans 3"/>
                <a:sym typeface="Source Sans 3"/>
              </a:rPr>
              <a:t>Each dot is a country, coloured by region; the x-axis is crop diversity (hill1). Stability rises with diversity (+0.49) and the share of bad years falls (−0.45). Resistance (+0.07) and recovery (−0.17) show no clear link: their intervals include zero and the dots form a flat cloud.</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379" name="Shape 379"/>
        <p:cNvGrpSpPr/>
        <p:nvPr/>
      </p:nvGrpSpPr>
      <p:grpSpPr>
        <a:xfrm>
          <a:off x="0" y="0"/>
          <a:ext cx="0" cy="0"/>
          <a:chOff x="0" y="0"/>
          <a:chExt cx="0" cy="0"/>
        </a:xfrm>
      </p:grpSpPr>
      <p:sp>
        <p:nvSpPr>
          <p:cNvPr id="380" name="Google Shape;380;p22"/>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2"/>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RESULTS</a:t>
            </a:r>
            <a:endParaRPr b="0" i="0" sz="1000" u="none" cap="none" strike="noStrike">
              <a:solidFill>
                <a:schemeClr val="dk1"/>
              </a:solidFill>
              <a:latin typeface="Calibri"/>
              <a:ea typeface="Calibri"/>
              <a:cs typeface="Calibri"/>
              <a:sym typeface="Calibri"/>
            </a:endParaRPr>
          </a:p>
        </p:txBody>
      </p:sp>
      <p:sp>
        <p:nvSpPr>
          <p:cNvPr id="382" name="Google Shape;382;p22"/>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19 / 26</a:t>
            </a:r>
            <a:endParaRPr b="0" i="0" sz="1000" u="none" cap="none" strike="noStrike">
              <a:solidFill>
                <a:schemeClr val="dk1"/>
              </a:solidFill>
              <a:latin typeface="Calibri"/>
              <a:ea typeface="Calibri"/>
              <a:cs typeface="Calibri"/>
              <a:sym typeface="Calibri"/>
            </a:endParaRPr>
          </a:p>
        </p:txBody>
      </p:sp>
      <p:sp>
        <p:nvSpPr>
          <p:cNvPr id="383" name="Google Shape;383;p22"/>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Crop count against response diversity</a:t>
            </a:r>
            <a:endParaRPr b="0" i="0" sz="2800" u="none" cap="none" strike="noStrike">
              <a:solidFill>
                <a:schemeClr val="dk1"/>
              </a:solidFill>
              <a:latin typeface="Calibri"/>
              <a:ea typeface="Calibri"/>
              <a:cs typeface="Calibri"/>
              <a:sym typeface="Calibri"/>
            </a:endParaRPr>
          </a:p>
        </p:txBody>
      </p:sp>
      <p:sp>
        <p:nvSpPr>
          <p:cNvPr id="384" name="Google Shape;384;p22"/>
          <p:cNvSpPr/>
          <p:nvPr/>
        </p:nvSpPr>
        <p:spPr>
          <a:xfrm>
            <a:off x="549275" y="1235075"/>
            <a:ext cx="7219950" cy="4794250"/>
          </a:xfrm>
          <a:prstGeom prst="roundRect">
            <a:avLst>
              <a:gd fmla="val 2318"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oefficient plot of standardised regression betas with 95% intervals for crop diversity and response diversity on each of the four faces of resilience" id="385" name="Google Shape;385;p22"/>
          <p:cNvPicPr preferRelativeResize="0"/>
          <p:nvPr/>
        </p:nvPicPr>
        <p:blipFill rotWithShape="1">
          <a:blip r:embed="rId3">
            <a:alphaModFix/>
          </a:blip>
          <a:srcRect b="-2269" l="0" r="0" t="-2269"/>
          <a:stretch/>
        </p:blipFill>
        <p:spPr>
          <a:xfrm>
            <a:off x="660400" y="1346200"/>
            <a:ext cx="6997700" cy="4572000"/>
          </a:xfrm>
          <a:prstGeom prst="rect">
            <a:avLst/>
          </a:prstGeom>
          <a:noFill/>
          <a:ln>
            <a:noFill/>
          </a:ln>
        </p:spPr>
      </p:pic>
      <p:sp>
        <p:nvSpPr>
          <p:cNvPr id="386" name="Google Shape;386;p22"/>
          <p:cNvSpPr/>
          <p:nvPr/>
        </p:nvSpPr>
        <p:spPr>
          <a:xfrm>
            <a:off x="7937500" y="1231900"/>
            <a:ext cx="3708400" cy="4800600"/>
          </a:xfrm>
          <a:prstGeom prst="roundRect">
            <a:avLst>
              <a:gd fmla="val 3082"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2"/>
          <p:cNvSpPr/>
          <p:nvPr/>
        </p:nvSpPr>
        <p:spPr>
          <a:xfrm>
            <a:off x="8140700" y="1435100"/>
            <a:ext cx="3440303" cy="6680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5501C"/>
              </a:buClr>
              <a:buSzPts val="4600"/>
              <a:buFont typeface="Source Serif 4"/>
              <a:buNone/>
            </a:pPr>
            <a:r>
              <a:rPr b="1" i="0" lang="en-US" sz="4600" u="none" cap="none" strike="noStrike">
                <a:solidFill>
                  <a:srgbClr val="B5501C"/>
                </a:solidFill>
                <a:latin typeface="Source Serif 4"/>
                <a:ea typeface="Source Serif 4"/>
                <a:cs typeface="Source Serif 4"/>
                <a:sym typeface="Source Serif 4"/>
              </a:rPr>
              <a:t>−0.41</a:t>
            </a:r>
            <a:endParaRPr b="0" i="0" sz="4600" u="none" cap="none" strike="noStrike">
              <a:solidFill>
                <a:schemeClr val="dk1"/>
              </a:solidFill>
              <a:latin typeface="Calibri"/>
              <a:ea typeface="Calibri"/>
              <a:cs typeface="Calibri"/>
              <a:sym typeface="Calibri"/>
            </a:endParaRPr>
          </a:p>
        </p:txBody>
      </p:sp>
      <p:sp>
        <p:nvSpPr>
          <p:cNvPr id="388" name="Google Shape;388;p22"/>
          <p:cNvSpPr/>
          <p:nvPr/>
        </p:nvSpPr>
        <p:spPr>
          <a:xfrm>
            <a:off x="8140700" y="2197100"/>
            <a:ext cx="3440303" cy="263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D2F23"/>
              </a:buClr>
              <a:buSzPts val="1500"/>
              <a:buFont typeface="Source Sans 3"/>
              <a:buNone/>
            </a:pPr>
            <a:r>
              <a:rPr b="1" i="0" lang="en-US" sz="1500" u="none" cap="none" strike="noStrike">
                <a:solidFill>
                  <a:srgbClr val="1D2F23"/>
                </a:solidFill>
                <a:latin typeface="Source Sans 3"/>
                <a:ea typeface="Source Sans 3"/>
                <a:cs typeface="Source Sans 3"/>
                <a:sym typeface="Source Sans 3"/>
              </a:rPr>
              <a:t>vulnerability per SD of crop diversity</a:t>
            </a:r>
            <a:endParaRPr b="0" i="0" sz="1500" u="none" cap="none" strike="noStrike">
              <a:solidFill>
                <a:schemeClr val="dk1"/>
              </a:solidFill>
              <a:latin typeface="Calibri"/>
              <a:ea typeface="Calibri"/>
              <a:cs typeface="Calibri"/>
              <a:sym typeface="Calibri"/>
            </a:endParaRPr>
          </a:p>
        </p:txBody>
      </p:sp>
      <p:sp>
        <p:nvSpPr>
          <p:cNvPr id="389" name="Google Shape;389;p22"/>
          <p:cNvSpPr/>
          <p:nvPr/>
        </p:nvSpPr>
        <p:spPr>
          <a:xfrm>
            <a:off x="8140700" y="2927350"/>
            <a:ext cx="3440303" cy="16764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250"/>
              <a:buFont typeface="Source Sans 3"/>
              <a:buNone/>
            </a:pPr>
            <a:r>
              <a:rPr b="0" i="0" lang="en-US" sz="1250" u="none" cap="none" strike="noStrike">
                <a:solidFill>
                  <a:srgbClr val="22332A"/>
                </a:solidFill>
                <a:latin typeface="Source Sans 3"/>
                <a:ea typeface="Source Sans 3"/>
                <a:cs typeface="Source Sans 3"/>
                <a:sym typeface="Source Sans 3"/>
              </a:rPr>
              <a:t>Dots are standardised regression coefficients with 95% intervals; an interval crossing zero means no clear effect. With income, fertiliser and irrigation held constant, crop diversity still predicts stability (+0.37) and fewer bad years. Response diversity does not predict stability or overall vulnerability, but it goes with more losses in drought years (+0.36).</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394" name="Shape 394"/>
        <p:cNvGrpSpPr/>
        <p:nvPr/>
      </p:nvGrpSpPr>
      <p:grpSpPr>
        <a:xfrm>
          <a:off x="0" y="0"/>
          <a:ext cx="0" cy="0"/>
          <a:chOff x="0" y="0"/>
          <a:chExt cx="0" cy="0"/>
        </a:xfrm>
      </p:grpSpPr>
      <p:sp>
        <p:nvSpPr>
          <p:cNvPr id="395" name="Google Shape;395;p23"/>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3"/>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RESULTS</a:t>
            </a:r>
            <a:endParaRPr b="0" i="0" sz="1000" u="none" cap="none" strike="noStrike">
              <a:solidFill>
                <a:schemeClr val="dk1"/>
              </a:solidFill>
              <a:latin typeface="Calibri"/>
              <a:ea typeface="Calibri"/>
              <a:cs typeface="Calibri"/>
              <a:sym typeface="Calibri"/>
            </a:endParaRPr>
          </a:p>
        </p:txBody>
      </p:sp>
      <p:sp>
        <p:nvSpPr>
          <p:cNvPr id="397" name="Google Shape;397;p23"/>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20 / 26</a:t>
            </a:r>
            <a:endParaRPr b="0" i="0" sz="1000" u="none" cap="none" strike="noStrike">
              <a:solidFill>
                <a:schemeClr val="dk1"/>
              </a:solidFill>
              <a:latin typeface="Calibri"/>
              <a:ea typeface="Calibri"/>
              <a:cs typeface="Calibri"/>
              <a:sym typeface="Calibri"/>
            </a:endParaRPr>
          </a:p>
        </p:txBody>
      </p:sp>
      <p:sp>
        <p:nvSpPr>
          <p:cNvPr id="398" name="Google Shape;398;p23"/>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Why response diversity points the other way</a:t>
            </a:r>
            <a:endParaRPr b="0" i="0" sz="2800" u="none" cap="none" strike="noStrike">
              <a:solidFill>
                <a:schemeClr val="dk1"/>
              </a:solidFill>
              <a:latin typeface="Calibri"/>
              <a:ea typeface="Calibri"/>
              <a:cs typeface="Calibri"/>
              <a:sym typeface="Calibri"/>
            </a:endParaRPr>
          </a:p>
        </p:txBody>
      </p:sp>
      <p:sp>
        <p:nvSpPr>
          <p:cNvPr id="399" name="Google Shape;399;p23"/>
          <p:cNvSpPr/>
          <p:nvPr/>
        </p:nvSpPr>
        <p:spPr>
          <a:xfrm>
            <a:off x="549275" y="1190625"/>
            <a:ext cx="11087100" cy="3422650"/>
          </a:xfrm>
          <a:prstGeom prst="roundRect">
            <a:avLst>
              <a:gd fmla="val 3247"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hree scatter plots: response diversity against vulnerability, response diversity against the most drought-sensitive crop's response, and that response against average crop variability" id="400" name="Google Shape;400;p23"/>
          <p:cNvPicPr preferRelativeResize="0"/>
          <p:nvPr/>
        </p:nvPicPr>
        <p:blipFill rotWithShape="1">
          <a:blip r:embed="rId3">
            <a:alphaModFix/>
          </a:blip>
          <a:srcRect b="-2059" l="0" r="0" t="-2059"/>
          <a:stretch/>
        </p:blipFill>
        <p:spPr>
          <a:xfrm>
            <a:off x="1207611" y="1187450"/>
            <a:ext cx="9880044" cy="3429000"/>
          </a:xfrm>
          <a:prstGeom prst="rect">
            <a:avLst/>
          </a:prstGeom>
          <a:noFill/>
          <a:ln>
            <a:noFill/>
          </a:ln>
        </p:spPr>
      </p:pic>
      <p:sp>
        <p:nvSpPr>
          <p:cNvPr id="401" name="Google Shape;401;p23"/>
          <p:cNvSpPr/>
          <p:nvPr/>
        </p:nvSpPr>
        <p:spPr>
          <a:xfrm>
            <a:off x="546100" y="4800600"/>
            <a:ext cx="1837881" cy="444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5501C"/>
              </a:buClr>
              <a:buSzPts val="3000"/>
              <a:buFont typeface="Source Serif 4"/>
              <a:buNone/>
            </a:pPr>
            <a:r>
              <a:rPr b="1" i="0" lang="en-US" sz="3000" u="none" cap="none" strike="noStrike">
                <a:solidFill>
                  <a:srgbClr val="B5501C"/>
                </a:solidFill>
                <a:latin typeface="Source Serif 4"/>
                <a:ea typeface="Source Serif 4"/>
                <a:cs typeface="Source Serif 4"/>
                <a:sym typeface="Source Serif 4"/>
              </a:rPr>
              <a:t>+0.52</a:t>
            </a:r>
            <a:endParaRPr b="0" i="0" sz="3000" u="none" cap="none" strike="noStrike">
              <a:solidFill>
                <a:schemeClr val="dk1"/>
              </a:solidFill>
              <a:latin typeface="Calibri"/>
              <a:ea typeface="Calibri"/>
              <a:cs typeface="Calibri"/>
              <a:sym typeface="Calibri"/>
            </a:endParaRPr>
          </a:p>
        </p:txBody>
      </p:sp>
      <p:sp>
        <p:nvSpPr>
          <p:cNvPr id="402" name="Google Shape;402;p23"/>
          <p:cNvSpPr/>
          <p:nvPr/>
        </p:nvSpPr>
        <p:spPr>
          <a:xfrm>
            <a:off x="546100" y="5346700"/>
            <a:ext cx="1837881" cy="406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D2F23"/>
              </a:buClr>
              <a:buSzPts val="1200"/>
              <a:buFont typeface="Source Sans 3"/>
              <a:buNone/>
            </a:pPr>
            <a:r>
              <a:rPr b="1" i="0" lang="en-US" sz="1200" u="none" cap="none" strike="noStrike">
                <a:solidFill>
                  <a:srgbClr val="1D2F23"/>
                </a:solidFill>
                <a:latin typeface="Source Sans 3"/>
                <a:ea typeface="Source Sans 3"/>
                <a:cs typeface="Source Sans 3"/>
                <a:sym typeface="Source Sans 3"/>
              </a:rPr>
              <a:t>response diversity and vulnerability</a:t>
            </a:r>
            <a:endParaRPr b="0" i="0" sz="1200" u="none" cap="none" strike="noStrike">
              <a:solidFill>
                <a:schemeClr val="dk1"/>
              </a:solidFill>
              <a:latin typeface="Calibri"/>
              <a:ea typeface="Calibri"/>
              <a:cs typeface="Calibri"/>
              <a:sym typeface="Calibri"/>
            </a:endParaRPr>
          </a:p>
        </p:txBody>
      </p:sp>
      <p:sp>
        <p:nvSpPr>
          <p:cNvPr id="403" name="Google Shape;403;p23"/>
          <p:cNvSpPr/>
          <p:nvPr/>
        </p:nvSpPr>
        <p:spPr>
          <a:xfrm>
            <a:off x="2470150" y="4800600"/>
            <a:ext cx="1837881" cy="444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5501C"/>
              </a:buClr>
              <a:buSzPts val="3000"/>
              <a:buFont typeface="Source Serif 4"/>
              <a:buNone/>
            </a:pPr>
            <a:r>
              <a:rPr b="1" i="0" lang="en-US" sz="3000" u="none" cap="none" strike="noStrike">
                <a:solidFill>
                  <a:srgbClr val="B5501C"/>
                </a:solidFill>
                <a:latin typeface="Source Serif 4"/>
                <a:ea typeface="Source Serif 4"/>
                <a:cs typeface="Source Serif 4"/>
                <a:sym typeface="Source Serif 4"/>
              </a:rPr>
              <a:t>0.88</a:t>
            </a:r>
            <a:endParaRPr b="0" i="0" sz="3000" u="none" cap="none" strike="noStrike">
              <a:solidFill>
                <a:schemeClr val="dk1"/>
              </a:solidFill>
              <a:latin typeface="Calibri"/>
              <a:ea typeface="Calibri"/>
              <a:cs typeface="Calibri"/>
              <a:sym typeface="Calibri"/>
            </a:endParaRPr>
          </a:p>
        </p:txBody>
      </p:sp>
      <p:sp>
        <p:nvSpPr>
          <p:cNvPr id="404" name="Google Shape;404;p23"/>
          <p:cNvSpPr/>
          <p:nvPr/>
        </p:nvSpPr>
        <p:spPr>
          <a:xfrm>
            <a:off x="2470150" y="5346700"/>
            <a:ext cx="1837881" cy="406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D2F23"/>
              </a:buClr>
              <a:buSzPts val="1200"/>
              <a:buFont typeface="Source Sans 3"/>
              <a:buNone/>
            </a:pPr>
            <a:r>
              <a:rPr b="1" i="0" lang="en-US" sz="1200" u="none" cap="none" strike="noStrike">
                <a:solidFill>
                  <a:srgbClr val="1D2F23"/>
                </a:solidFill>
                <a:latin typeface="Source Sans 3"/>
                <a:ea typeface="Source Sans 3"/>
                <a:cs typeface="Source Sans 3"/>
                <a:sym typeface="Source Sans 3"/>
              </a:rPr>
              <a:t>response diversity and the most sensitive crop</a:t>
            </a:r>
            <a:endParaRPr b="0" i="0" sz="1200" u="none" cap="none" strike="noStrike">
              <a:solidFill>
                <a:schemeClr val="dk1"/>
              </a:solidFill>
              <a:latin typeface="Calibri"/>
              <a:ea typeface="Calibri"/>
              <a:cs typeface="Calibri"/>
              <a:sym typeface="Calibri"/>
            </a:endParaRPr>
          </a:p>
        </p:txBody>
      </p:sp>
      <p:sp>
        <p:nvSpPr>
          <p:cNvPr id="405" name="Google Shape;405;p23"/>
          <p:cNvSpPr/>
          <p:nvPr/>
        </p:nvSpPr>
        <p:spPr>
          <a:xfrm>
            <a:off x="4495800" y="4711700"/>
            <a:ext cx="7150100" cy="1244600"/>
          </a:xfrm>
          <a:prstGeom prst="roundRect">
            <a:avLst>
              <a:gd fmla="val 9184"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3"/>
          <p:cNvSpPr/>
          <p:nvPr/>
        </p:nvSpPr>
        <p:spPr>
          <a:xfrm>
            <a:off x="4660900" y="4826000"/>
            <a:ext cx="7024497" cy="91694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350"/>
              <a:buFont typeface="Source Sans 3"/>
              <a:buNone/>
            </a:pPr>
            <a:r>
              <a:rPr b="0" i="0" lang="en-US" sz="1350" u="none" cap="none" strike="noStrike">
                <a:solidFill>
                  <a:srgbClr val="22332A"/>
                </a:solidFill>
                <a:latin typeface="Source Sans 3"/>
                <a:ea typeface="Source Sans 3"/>
                <a:cs typeface="Source Sans 3"/>
                <a:sym typeface="Source Sans 3"/>
              </a:rPr>
              <a:t>Left: countries with higher response diversity have more bad years, the opposite of the insurance idea. Middle: the score tracks the single most drought-sensitive crop almost one for one (r = 0.88). Right: that crop also makes the portfolio more variable. A high score mostly marks one hyper-sensitive crop, not a balanced mix of responses.</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411" name="Shape 411"/>
        <p:cNvGrpSpPr/>
        <p:nvPr/>
      </p:nvGrpSpPr>
      <p:grpSpPr>
        <a:xfrm>
          <a:off x="0" y="0"/>
          <a:ext cx="0" cy="0"/>
          <a:chOff x="0" y="0"/>
          <a:chExt cx="0" cy="0"/>
        </a:xfrm>
      </p:grpSpPr>
      <p:sp>
        <p:nvSpPr>
          <p:cNvPr id="412" name="Google Shape;412;p24"/>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4"/>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RESULTS</a:t>
            </a:r>
            <a:endParaRPr b="0" i="0" sz="1000" u="none" cap="none" strike="noStrike">
              <a:solidFill>
                <a:schemeClr val="dk1"/>
              </a:solidFill>
              <a:latin typeface="Calibri"/>
              <a:ea typeface="Calibri"/>
              <a:cs typeface="Calibri"/>
              <a:sym typeface="Calibri"/>
            </a:endParaRPr>
          </a:p>
        </p:txBody>
      </p:sp>
      <p:sp>
        <p:nvSpPr>
          <p:cNvPr id="414" name="Google Shape;414;p24"/>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21 / 26</a:t>
            </a:r>
            <a:endParaRPr b="0" i="0" sz="1000" u="none" cap="none" strike="noStrike">
              <a:solidFill>
                <a:schemeClr val="dk1"/>
              </a:solidFill>
              <a:latin typeface="Calibri"/>
              <a:ea typeface="Calibri"/>
              <a:cs typeface="Calibri"/>
              <a:sym typeface="Calibri"/>
            </a:endParaRPr>
          </a:p>
        </p:txBody>
      </p:sp>
      <p:sp>
        <p:nvSpPr>
          <p:cNvPr id="415" name="Google Shape;415;p24"/>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Country size and short droughts</a:t>
            </a:r>
            <a:endParaRPr b="0" i="0" sz="2800" u="none" cap="none" strike="noStrike">
              <a:solidFill>
                <a:schemeClr val="dk1"/>
              </a:solidFill>
              <a:latin typeface="Calibri"/>
              <a:ea typeface="Calibri"/>
              <a:cs typeface="Calibri"/>
              <a:sym typeface="Calibri"/>
            </a:endParaRPr>
          </a:p>
        </p:txBody>
      </p:sp>
      <p:sp>
        <p:nvSpPr>
          <p:cNvPr id="416" name="Google Shape;416;p24"/>
          <p:cNvSpPr/>
          <p:nvPr/>
        </p:nvSpPr>
        <p:spPr>
          <a:xfrm>
            <a:off x="549275" y="1190625"/>
            <a:ext cx="11087100" cy="3422650"/>
          </a:xfrm>
          <a:prstGeom prst="roundRect">
            <a:avLst>
              <a:gd fmla="val 3247"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hree panels: variance of the drought index falls with country area; the most sensitive crop's response rises slightly with area; bar chart of how well the 12-month and 6-month drought indices correlate with national production anomalies, overall and in severe droughts" id="417" name="Google Shape;417;p24"/>
          <p:cNvPicPr preferRelativeResize="0"/>
          <p:nvPr/>
        </p:nvPicPr>
        <p:blipFill rotWithShape="1">
          <a:blip r:embed="rId3">
            <a:alphaModFix/>
          </a:blip>
          <a:srcRect b="0" l="-33" r="-33" t="0"/>
          <a:stretch/>
        </p:blipFill>
        <p:spPr>
          <a:xfrm>
            <a:off x="1225550" y="1282700"/>
            <a:ext cx="9740900" cy="3244850"/>
          </a:xfrm>
          <a:prstGeom prst="rect">
            <a:avLst/>
          </a:prstGeom>
          <a:noFill/>
          <a:ln>
            <a:noFill/>
          </a:ln>
        </p:spPr>
      </p:pic>
      <p:sp>
        <p:nvSpPr>
          <p:cNvPr id="418" name="Google Shape;418;p24"/>
          <p:cNvSpPr/>
          <p:nvPr/>
        </p:nvSpPr>
        <p:spPr>
          <a:xfrm>
            <a:off x="546100" y="4800600"/>
            <a:ext cx="1837881" cy="444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5501C"/>
              </a:buClr>
              <a:buSzPts val="3000"/>
              <a:buFont typeface="Source Serif 4"/>
              <a:buNone/>
            </a:pPr>
            <a:r>
              <a:rPr b="1" i="0" lang="en-US" sz="3000" u="none" cap="none" strike="noStrike">
                <a:solidFill>
                  <a:srgbClr val="B5501C"/>
                </a:solidFill>
                <a:latin typeface="Source Serif 4"/>
                <a:ea typeface="Source Serif 4"/>
                <a:cs typeface="Source Serif 4"/>
                <a:sym typeface="Source Serif 4"/>
              </a:rPr>
              <a:t>−0.48</a:t>
            </a:r>
            <a:endParaRPr b="0" i="0" sz="3000" u="none" cap="none" strike="noStrike">
              <a:solidFill>
                <a:schemeClr val="dk1"/>
              </a:solidFill>
              <a:latin typeface="Calibri"/>
              <a:ea typeface="Calibri"/>
              <a:cs typeface="Calibri"/>
              <a:sym typeface="Calibri"/>
            </a:endParaRPr>
          </a:p>
        </p:txBody>
      </p:sp>
      <p:sp>
        <p:nvSpPr>
          <p:cNvPr id="419" name="Google Shape;419;p24"/>
          <p:cNvSpPr/>
          <p:nvPr/>
        </p:nvSpPr>
        <p:spPr>
          <a:xfrm>
            <a:off x="546100" y="5346700"/>
            <a:ext cx="1837881" cy="406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D2F23"/>
              </a:buClr>
              <a:buSzPts val="1200"/>
              <a:buFont typeface="Source Sans 3"/>
              <a:buNone/>
            </a:pPr>
            <a:r>
              <a:rPr b="1" i="0" lang="en-US" sz="1200" u="none" cap="none" strike="noStrike">
                <a:solidFill>
                  <a:srgbClr val="1D2F23"/>
                </a:solidFill>
                <a:latin typeface="Source Sans 3"/>
                <a:ea typeface="Source Sans 3"/>
                <a:cs typeface="Source Sans 3"/>
                <a:sym typeface="Source Sans 3"/>
              </a:rPr>
              <a:t>country area and spread of the drought index</a:t>
            </a:r>
            <a:endParaRPr b="0" i="0" sz="1200" u="none" cap="none" strike="noStrike">
              <a:solidFill>
                <a:schemeClr val="dk1"/>
              </a:solidFill>
              <a:latin typeface="Calibri"/>
              <a:ea typeface="Calibri"/>
              <a:cs typeface="Calibri"/>
              <a:sym typeface="Calibri"/>
            </a:endParaRPr>
          </a:p>
        </p:txBody>
      </p:sp>
      <p:sp>
        <p:nvSpPr>
          <p:cNvPr id="420" name="Google Shape;420;p24"/>
          <p:cNvSpPr/>
          <p:nvPr/>
        </p:nvSpPr>
        <p:spPr>
          <a:xfrm>
            <a:off x="2470150" y="4851400"/>
            <a:ext cx="1962150" cy="34671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5501C"/>
              </a:buClr>
              <a:buSzPts val="2300"/>
              <a:buFont typeface="Source Serif 4"/>
              <a:buNone/>
            </a:pPr>
            <a:r>
              <a:rPr b="1" i="0" lang="en-US" sz="2300" u="none" cap="none" strike="noStrike">
                <a:solidFill>
                  <a:srgbClr val="B5501C"/>
                </a:solidFill>
                <a:latin typeface="Source Serif 4"/>
                <a:ea typeface="Source Serif 4"/>
                <a:cs typeface="Source Serif 4"/>
                <a:sym typeface="Source Serif 4"/>
              </a:rPr>
              <a:t>0.23 vs 0.17</a:t>
            </a:r>
            <a:endParaRPr b="0" i="0" sz="2300" u="none" cap="none" strike="noStrike">
              <a:solidFill>
                <a:schemeClr val="dk1"/>
              </a:solidFill>
              <a:latin typeface="Calibri"/>
              <a:ea typeface="Calibri"/>
              <a:cs typeface="Calibri"/>
              <a:sym typeface="Calibri"/>
            </a:endParaRPr>
          </a:p>
        </p:txBody>
      </p:sp>
      <p:sp>
        <p:nvSpPr>
          <p:cNvPr id="421" name="Google Shape;421;p24"/>
          <p:cNvSpPr/>
          <p:nvPr/>
        </p:nvSpPr>
        <p:spPr>
          <a:xfrm>
            <a:off x="2470150" y="5346700"/>
            <a:ext cx="1837881" cy="406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D2F23"/>
              </a:buClr>
              <a:buSzPts val="1200"/>
              <a:buFont typeface="Source Sans 3"/>
              <a:buNone/>
            </a:pPr>
            <a:r>
              <a:rPr b="1" i="0" lang="en-US" sz="1200" u="none" cap="none" strike="noStrike">
                <a:solidFill>
                  <a:srgbClr val="1D2F23"/>
                </a:solidFill>
                <a:latin typeface="Source Sans 3"/>
                <a:ea typeface="Source Sans 3"/>
                <a:cs typeface="Source Sans 3"/>
                <a:sym typeface="Source Sans 3"/>
              </a:rPr>
              <a:t>six-month vs twelve-month index, severe years</a:t>
            </a:r>
            <a:endParaRPr b="0" i="0" sz="1200" u="none" cap="none" strike="noStrike">
              <a:solidFill>
                <a:schemeClr val="dk1"/>
              </a:solidFill>
              <a:latin typeface="Calibri"/>
              <a:ea typeface="Calibri"/>
              <a:cs typeface="Calibri"/>
              <a:sym typeface="Calibri"/>
            </a:endParaRPr>
          </a:p>
        </p:txBody>
      </p:sp>
      <p:sp>
        <p:nvSpPr>
          <p:cNvPr id="422" name="Google Shape;422;p24"/>
          <p:cNvSpPr/>
          <p:nvPr/>
        </p:nvSpPr>
        <p:spPr>
          <a:xfrm>
            <a:off x="4495800" y="4711700"/>
            <a:ext cx="7150100" cy="1244600"/>
          </a:xfrm>
          <a:prstGeom prst="roundRect">
            <a:avLst>
              <a:gd fmla="val 9184"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4"/>
          <p:cNvSpPr/>
          <p:nvPr/>
        </p:nvSpPr>
        <p:spPr>
          <a:xfrm>
            <a:off x="4660900" y="4826000"/>
            <a:ext cx="7024497" cy="850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250"/>
              <a:buFont typeface="Source Sans 3"/>
              <a:buNone/>
            </a:pPr>
            <a:r>
              <a:rPr b="0" i="0" lang="en-US" sz="1250" u="none" cap="none" strike="noStrike">
                <a:solidFill>
                  <a:srgbClr val="22332A"/>
                </a:solidFill>
                <a:latin typeface="Source Sans 3"/>
                <a:ea typeface="Source Sans 3"/>
                <a:cs typeface="Source Sans 3"/>
                <a:sym typeface="Source Sans 3"/>
              </a:rPr>
              <a:t>Left: the bigger the country, the flatter its averaged drought index, because dry and wet regions cancel. Middle: crop sensitivity does not shrink with size (r = +0.20). Right: correlation of each index with yield anomalies; in the 240 severe country-years (SPEI-12 below −1.5) the six-month minimum tracks losses better than the annual index.</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428" name="Shape 428"/>
        <p:cNvGrpSpPr/>
        <p:nvPr/>
      </p:nvGrpSpPr>
      <p:grpSpPr>
        <a:xfrm>
          <a:off x="0" y="0"/>
          <a:ext cx="0" cy="0"/>
          <a:chOff x="0" y="0"/>
          <a:chExt cx="0" cy="0"/>
        </a:xfrm>
      </p:grpSpPr>
      <p:sp>
        <p:nvSpPr>
          <p:cNvPr id="429" name="Google Shape;429;p25"/>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5"/>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RESULTS</a:t>
            </a:r>
            <a:endParaRPr b="0" i="0" sz="1000" u="none" cap="none" strike="noStrike">
              <a:solidFill>
                <a:schemeClr val="dk1"/>
              </a:solidFill>
              <a:latin typeface="Calibri"/>
              <a:ea typeface="Calibri"/>
              <a:cs typeface="Calibri"/>
              <a:sym typeface="Calibri"/>
            </a:endParaRPr>
          </a:p>
        </p:txBody>
      </p:sp>
      <p:sp>
        <p:nvSpPr>
          <p:cNvPr id="431" name="Google Shape;431;p25"/>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22 / 26</a:t>
            </a:r>
            <a:endParaRPr b="0" i="0" sz="1000" u="none" cap="none" strike="noStrike">
              <a:solidFill>
                <a:schemeClr val="dk1"/>
              </a:solidFill>
              <a:latin typeface="Calibri"/>
              <a:ea typeface="Calibri"/>
              <a:cs typeface="Calibri"/>
              <a:sym typeface="Calibri"/>
            </a:endParaRPr>
          </a:p>
        </p:txBody>
      </p:sp>
      <p:sp>
        <p:nvSpPr>
          <p:cNvPr id="432" name="Google Shape;432;p25"/>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Diversity across the sample</a:t>
            </a:r>
            <a:endParaRPr b="0" i="0" sz="2800" u="none" cap="none" strike="noStrike">
              <a:solidFill>
                <a:schemeClr val="dk1"/>
              </a:solidFill>
              <a:latin typeface="Calibri"/>
              <a:ea typeface="Calibri"/>
              <a:cs typeface="Calibri"/>
              <a:sym typeface="Calibri"/>
            </a:endParaRPr>
          </a:p>
        </p:txBody>
      </p:sp>
      <p:sp>
        <p:nvSpPr>
          <p:cNvPr id="433" name="Google Shape;433;p25"/>
          <p:cNvSpPr/>
          <p:nvPr/>
        </p:nvSpPr>
        <p:spPr>
          <a:xfrm>
            <a:off x="549275" y="1235075"/>
            <a:ext cx="7219950" cy="4794250"/>
          </a:xfrm>
          <a:prstGeom prst="roundRect">
            <a:avLst>
              <a:gd fmla="val 2318"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wo world maps: crop diversity as effective number of crops (top) and response diversity (bottom) for the countries in the sample; countries not in the sample are grey" id="434" name="Google Shape;434;p25"/>
          <p:cNvPicPr preferRelativeResize="0"/>
          <p:nvPr/>
        </p:nvPicPr>
        <p:blipFill rotWithShape="1">
          <a:blip r:embed="rId3">
            <a:alphaModFix/>
          </a:blip>
          <a:srcRect b="-2269" l="0" r="0" t="-2269"/>
          <a:stretch/>
        </p:blipFill>
        <p:spPr>
          <a:xfrm>
            <a:off x="660400" y="1346200"/>
            <a:ext cx="6997700" cy="4572000"/>
          </a:xfrm>
          <a:prstGeom prst="rect">
            <a:avLst/>
          </a:prstGeom>
          <a:noFill/>
          <a:ln>
            <a:noFill/>
          </a:ln>
        </p:spPr>
      </p:pic>
      <p:sp>
        <p:nvSpPr>
          <p:cNvPr id="435" name="Google Shape;435;p25"/>
          <p:cNvSpPr/>
          <p:nvPr/>
        </p:nvSpPr>
        <p:spPr>
          <a:xfrm>
            <a:off x="7937500" y="1231900"/>
            <a:ext cx="3708400" cy="4800600"/>
          </a:xfrm>
          <a:prstGeom prst="roundRect">
            <a:avLst>
              <a:gd fmla="val 3082"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5"/>
          <p:cNvSpPr/>
          <p:nvPr/>
        </p:nvSpPr>
        <p:spPr>
          <a:xfrm>
            <a:off x="8140700" y="1435100"/>
            <a:ext cx="3440303" cy="6680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5501C"/>
              </a:buClr>
              <a:buSzPts val="4600"/>
              <a:buFont typeface="Source Serif 4"/>
              <a:buNone/>
            </a:pPr>
            <a:r>
              <a:rPr b="1" i="0" lang="en-US" sz="4600" u="none" cap="none" strike="noStrike">
                <a:solidFill>
                  <a:srgbClr val="B5501C"/>
                </a:solidFill>
                <a:latin typeface="Source Serif 4"/>
                <a:ea typeface="Source Serif 4"/>
                <a:cs typeface="Source Serif 4"/>
                <a:sym typeface="Source Serif 4"/>
              </a:rPr>
              <a:t>9.2</a:t>
            </a:r>
            <a:endParaRPr b="0" i="0" sz="4600" u="none" cap="none" strike="noStrike">
              <a:solidFill>
                <a:schemeClr val="dk1"/>
              </a:solidFill>
              <a:latin typeface="Calibri"/>
              <a:ea typeface="Calibri"/>
              <a:cs typeface="Calibri"/>
              <a:sym typeface="Calibri"/>
            </a:endParaRPr>
          </a:p>
        </p:txBody>
      </p:sp>
      <p:sp>
        <p:nvSpPr>
          <p:cNvPr id="437" name="Google Shape;437;p25"/>
          <p:cNvSpPr/>
          <p:nvPr/>
        </p:nvSpPr>
        <p:spPr>
          <a:xfrm>
            <a:off x="8140700" y="2197100"/>
            <a:ext cx="3440303" cy="263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D2F23"/>
              </a:buClr>
              <a:buSzPts val="1500"/>
              <a:buFont typeface="Source Sans 3"/>
              <a:buNone/>
            </a:pPr>
            <a:r>
              <a:rPr b="1" i="0" lang="en-US" sz="1500" u="none" cap="none" strike="noStrike">
                <a:solidFill>
                  <a:srgbClr val="1D2F23"/>
                </a:solidFill>
                <a:latin typeface="Source Sans 3"/>
                <a:ea typeface="Source Sans 3"/>
                <a:cs typeface="Source Sans 3"/>
                <a:sym typeface="Source Sans 3"/>
              </a:rPr>
              <a:t>median effective number of crops</a:t>
            </a:r>
            <a:endParaRPr b="0" i="0" sz="1500" u="none" cap="none" strike="noStrike">
              <a:solidFill>
                <a:schemeClr val="dk1"/>
              </a:solidFill>
              <a:latin typeface="Calibri"/>
              <a:ea typeface="Calibri"/>
              <a:cs typeface="Calibri"/>
              <a:sym typeface="Calibri"/>
            </a:endParaRPr>
          </a:p>
        </p:txBody>
      </p:sp>
      <p:sp>
        <p:nvSpPr>
          <p:cNvPr id="438" name="Google Shape;438;p25"/>
          <p:cNvSpPr/>
          <p:nvPr/>
        </p:nvSpPr>
        <p:spPr>
          <a:xfrm>
            <a:off x="8140700" y="2787650"/>
            <a:ext cx="3440303" cy="195707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300"/>
              <a:buFont typeface="Source Sans 3"/>
              <a:buNone/>
            </a:pPr>
            <a:r>
              <a:rPr b="0" i="0" lang="en-US" sz="1300" u="none" cap="none" strike="noStrike">
                <a:solidFill>
                  <a:srgbClr val="22332A"/>
                </a:solidFill>
                <a:latin typeface="Source Sans 3"/>
                <a:ea typeface="Source Sans 3"/>
                <a:cs typeface="Source Sans 3"/>
                <a:sym typeface="Source Sans 3"/>
              </a:rPr>
              <a:t>Top map: crop diversity (hill1). Bottom map: response diversity (resp_div), plotted for 106 countries. Crop diversity ranges from about 2 to 26 effective crops: China, India and Peru are high, while Mongolia and much of Central Asia are low. Response diversity is highest in North Africa and Australia (scale capped at the 95th percentile). Grey countries did not pass the data-quality rules.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443" name="Shape 443"/>
        <p:cNvGrpSpPr/>
        <p:nvPr/>
      </p:nvGrpSpPr>
      <p:grpSpPr>
        <a:xfrm>
          <a:off x="0" y="0"/>
          <a:ext cx="0" cy="0"/>
          <a:chOff x="0" y="0"/>
          <a:chExt cx="0" cy="0"/>
        </a:xfrm>
      </p:grpSpPr>
      <p:sp>
        <p:nvSpPr>
          <p:cNvPr id="444" name="Google Shape;444;p26"/>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6"/>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RESULTS</a:t>
            </a:r>
            <a:endParaRPr b="0" i="0" sz="1000" u="none" cap="none" strike="noStrike">
              <a:solidFill>
                <a:schemeClr val="dk1"/>
              </a:solidFill>
              <a:latin typeface="Calibri"/>
              <a:ea typeface="Calibri"/>
              <a:cs typeface="Calibri"/>
              <a:sym typeface="Calibri"/>
            </a:endParaRPr>
          </a:p>
        </p:txBody>
      </p:sp>
      <p:sp>
        <p:nvSpPr>
          <p:cNvPr id="446" name="Google Shape;446;p26"/>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23 / 26</a:t>
            </a:r>
            <a:endParaRPr b="0" i="0" sz="1000" u="none" cap="none" strike="noStrike">
              <a:solidFill>
                <a:schemeClr val="dk1"/>
              </a:solidFill>
              <a:latin typeface="Calibri"/>
              <a:ea typeface="Calibri"/>
              <a:cs typeface="Calibri"/>
              <a:sym typeface="Calibri"/>
            </a:endParaRPr>
          </a:p>
        </p:txBody>
      </p:sp>
      <p:sp>
        <p:nvSpPr>
          <p:cNvPr id="447" name="Google Shape;447;p26"/>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Interactive explorer</a:t>
            </a:r>
            <a:endParaRPr b="0" i="0" sz="2800" u="none" cap="none" strike="noStrike">
              <a:solidFill>
                <a:schemeClr val="dk1"/>
              </a:solidFill>
              <a:latin typeface="Calibri"/>
              <a:ea typeface="Calibri"/>
              <a:cs typeface="Calibri"/>
              <a:sym typeface="Calibri"/>
            </a:endParaRPr>
          </a:p>
        </p:txBody>
      </p:sp>
      <p:sp>
        <p:nvSpPr>
          <p:cNvPr id="448" name="Google Shape;448;p26"/>
          <p:cNvSpPr/>
          <p:nvPr/>
        </p:nvSpPr>
        <p:spPr>
          <a:xfrm>
            <a:off x="549275" y="1235075"/>
            <a:ext cx="7219950" cy="4794250"/>
          </a:xfrm>
          <a:prstGeom prst="roundRect">
            <a:avLst>
              <a:gd fmla="val 2318"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creenshot of the explorer with India selected: a world map coloured by crop diversity on the left; on the right, yield anomalies of India's six largest crops and its cropland-weighted SPEI-12, with the 2002 drought year shaded" id="449" name="Google Shape;449;p26"/>
          <p:cNvPicPr preferRelativeResize="0"/>
          <p:nvPr/>
        </p:nvPicPr>
        <p:blipFill rotWithShape="1">
          <a:blip r:embed="rId3">
            <a:alphaModFix/>
          </a:blip>
          <a:srcRect b="-15" l="0" r="0" t="-15"/>
          <a:stretch/>
        </p:blipFill>
        <p:spPr>
          <a:xfrm>
            <a:off x="641350" y="1657350"/>
            <a:ext cx="7042150" cy="3962400"/>
          </a:xfrm>
          <a:prstGeom prst="roundRect">
            <a:avLst>
              <a:gd fmla="val 1282" name="adj"/>
            </a:avLst>
          </a:prstGeom>
          <a:noFill/>
          <a:ln>
            <a:noFill/>
          </a:ln>
        </p:spPr>
      </p:pic>
      <p:sp>
        <p:nvSpPr>
          <p:cNvPr id="450" name="Google Shape;450;p26"/>
          <p:cNvSpPr/>
          <p:nvPr/>
        </p:nvSpPr>
        <p:spPr>
          <a:xfrm>
            <a:off x="7937500" y="1231900"/>
            <a:ext cx="3708400" cy="4800600"/>
          </a:xfrm>
          <a:prstGeom prst="roundRect">
            <a:avLst>
              <a:gd fmla="val 3082" name="adj"/>
            </a:avLst>
          </a:prstGeom>
          <a:solidFill>
            <a:srgbClr val="E6EE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6"/>
          <p:cNvSpPr/>
          <p:nvPr/>
        </p:nvSpPr>
        <p:spPr>
          <a:xfrm>
            <a:off x="8140700" y="1371600"/>
            <a:ext cx="3440303" cy="6680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5501C"/>
              </a:buClr>
              <a:buSzPts val="4600"/>
              <a:buFont typeface="Source Serif 4"/>
              <a:buNone/>
            </a:pPr>
            <a:r>
              <a:rPr b="1" i="0" lang="en-US" sz="4600" u="none" cap="none" strike="noStrike">
                <a:solidFill>
                  <a:srgbClr val="B5501C"/>
                </a:solidFill>
                <a:latin typeface="Source Serif 4"/>
                <a:ea typeface="Source Serif 4"/>
                <a:cs typeface="Source Serif 4"/>
                <a:sym typeface="Source Serif 4"/>
              </a:rPr>
              <a:t>107</a:t>
            </a:r>
            <a:endParaRPr b="0" i="0" sz="4600" u="none" cap="none" strike="noStrike">
              <a:solidFill>
                <a:schemeClr val="dk1"/>
              </a:solidFill>
              <a:latin typeface="Calibri"/>
              <a:ea typeface="Calibri"/>
              <a:cs typeface="Calibri"/>
              <a:sym typeface="Calibri"/>
            </a:endParaRPr>
          </a:p>
        </p:txBody>
      </p:sp>
      <p:sp>
        <p:nvSpPr>
          <p:cNvPr id="452" name="Google Shape;452;p26"/>
          <p:cNvSpPr/>
          <p:nvPr/>
        </p:nvSpPr>
        <p:spPr>
          <a:xfrm>
            <a:off x="8140700" y="2101850"/>
            <a:ext cx="3440303" cy="263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D2F23"/>
              </a:buClr>
              <a:buSzPts val="1500"/>
              <a:buFont typeface="Source Sans 3"/>
              <a:buNone/>
            </a:pPr>
            <a:r>
              <a:rPr b="1" i="0" lang="en-US" sz="1500" u="none" cap="none" strike="noStrike">
                <a:solidFill>
                  <a:srgbClr val="1D2F23"/>
                </a:solidFill>
                <a:latin typeface="Source Sans 3"/>
                <a:ea typeface="Source Sans 3"/>
                <a:cs typeface="Source Sans 3"/>
                <a:sym typeface="Source Sans 3"/>
              </a:rPr>
              <a:t>countries to open and compare</a:t>
            </a:r>
            <a:endParaRPr b="0" i="0" sz="1500" u="none" cap="none" strike="noStrike">
              <a:solidFill>
                <a:schemeClr val="dk1"/>
              </a:solidFill>
              <a:latin typeface="Calibri"/>
              <a:ea typeface="Calibri"/>
              <a:cs typeface="Calibri"/>
              <a:sym typeface="Calibri"/>
            </a:endParaRPr>
          </a:p>
        </p:txBody>
      </p:sp>
      <p:sp>
        <p:nvSpPr>
          <p:cNvPr id="453" name="Google Shape;453;p26"/>
          <p:cNvSpPr/>
          <p:nvPr/>
        </p:nvSpPr>
        <p:spPr>
          <a:xfrm>
            <a:off x="8140700" y="2654300"/>
            <a:ext cx="3440303" cy="6692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300"/>
              <a:buFont typeface="Source Sans 3"/>
              <a:buNone/>
            </a:pPr>
            <a:r>
              <a:rPr b="1" i="0" lang="en-US" sz="1300" u="none" cap="none" strike="noStrike">
                <a:solidFill>
                  <a:srgbClr val="22332A"/>
                </a:solidFill>
                <a:latin typeface="Source Sans 3"/>
                <a:ea typeface="Source Sans 3"/>
                <a:cs typeface="Source Sans 3"/>
                <a:sym typeface="Source Sans 3"/>
              </a:rPr>
              <a:t>Pick a metric.</a:t>
            </a:r>
            <a:r>
              <a:rPr b="0" i="0" lang="en-US" sz="1300" u="none" cap="none" strike="noStrike">
                <a:solidFill>
                  <a:srgbClr val="22332A"/>
                </a:solidFill>
                <a:latin typeface="Source Sans 3"/>
                <a:ea typeface="Source Sans 3"/>
                <a:cs typeface="Source Sans 3"/>
                <a:sym typeface="Source Sans 3"/>
              </a:rPr>
              <a:t> The map recolours by crop diversity, response diversity, stability, resistance, recovery, vulnerability or synchrony.</a:t>
            </a:r>
            <a:endParaRPr b="0" i="0" sz="1300" u="none" cap="none" strike="noStrike">
              <a:solidFill>
                <a:schemeClr val="dk1"/>
              </a:solidFill>
              <a:latin typeface="Calibri"/>
              <a:ea typeface="Calibri"/>
              <a:cs typeface="Calibri"/>
              <a:sym typeface="Calibri"/>
            </a:endParaRPr>
          </a:p>
        </p:txBody>
      </p:sp>
      <p:sp>
        <p:nvSpPr>
          <p:cNvPr id="454" name="Google Shape;454;p26"/>
          <p:cNvSpPr/>
          <p:nvPr/>
        </p:nvSpPr>
        <p:spPr>
          <a:xfrm>
            <a:off x="8140700" y="3412492"/>
            <a:ext cx="3440303" cy="8839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300"/>
              <a:buFont typeface="Source Sans 3"/>
              <a:buNone/>
            </a:pPr>
            <a:r>
              <a:rPr b="1" i="0" lang="en-US" sz="1300" u="none" cap="none" strike="noStrike">
                <a:solidFill>
                  <a:srgbClr val="22332A"/>
                </a:solidFill>
                <a:latin typeface="Source Sans 3"/>
                <a:ea typeface="Source Sans 3"/>
                <a:cs typeface="Source Sans 3"/>
                <a:sym typeface="Source Sans 3"/>
              </a:rPr>
              <a:t>Click a country.</a:t>
            </a:r>
            <a:r>
              <a:rPr b="0" i="0" lang="en-US" sz="1300" u="none" cap="none" strike="noStrike">
                <a:solidFill>
                  <a:srgbClr val="22332A"/>
                </a:solidFill>
                <a:latin typeface="Source Sans 3"/>
                <a:ea typeface="Source Sans 3"/>
                <a:cs typeface="Source Sans 3"/>
                <a:sym typeface="Source Sans 3"/>
              </a:rPr>
              <a:t> The right panels show the yield anomalies of its six largest crops and its cropland-weighted SPEI-12, with drought years shaded.</a:t>
            </a:r>
            <a:endParaRPr b="0" i="0" sz="1300" u="none" cap="none" strike="noStrike">
              <a:solidFill>
                <a:schemeClr val="dk1"/>
              </a:solidFill>
              <a:latin typeface="Calibri"/>
              <a:ea typeface="Calibri"/>
              <a:cs typeface="Calibri"/>
              <a:sym typeface="Calibri"/>
            </a:endParaRPr>
          </a:p>
        </p:txBody>
      </p:sp>
      <p:sp>
        <p:nvSpPr>
          <p:cNvPr id="455" name="Google Shape;455;p26"/>
          <p:cNvSpPr/>
          <p:nvPr/>
        </p:nvSpPr>
        <p:spPr>
          <a:xfrm>
            <a:off x="8140700" y="4385308"/>
            <a:ext cx="3440303" cy="45466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300"/>
              <a:buFont typeface="Source Sans 3"/>
              <a:buNone/>
            </a:pPr>
            <a:r>
              <a:rPr b="1" i="0" lang="en-US" sz="1300" u="none" cap="none" strike="noStrike">
                <a:solidFill>
                  <a:srgbClr val="22332A"/>
                </a:solidFill>
                <a:latin typeface="Source Sans 3"/>
                <a:ea typeface="Source Sans 3"/>
                <a:cs typeface="Source Sans 3"/>
                <a:sym typeface="Source Sans 3"/>
              </a:rPr>
              <a:t>Screenshot: India.</a:t>
            </a:r>
            <a:r>
              <a:rPr b="0" i="0" lang="en-US" sz="1300" u="none" cap="none" strike="noStrike">
                <a:solidFill>
                  <a:srgbClr val="22332A"/>
                </a:solidFill>
                <a:latin typeface="Source Sans 3"/>
                <a:ea typeface="Source Sans 3"/>
                <a:cs typeface="Source Sans 3"/>
                <a:sym typeface="Source Sans 3"/>
              </a:rPr>
              <a:t> The cotton collapse lines up with the shaded 2002 drought year.</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D"/>
        </a:solidFill>
      </p:bgPr>
    </p:bg>
    <p:spTree>
      <p:nvGrpSpPr>
        <p:cNvPr id="460" name="Shape 460"/>
        <p:cNvGrpSpPr/>
        <p:nvPr/>
      </p:nvGrpSpPr>
      <p:grpSpPr>
        <a:xfrm>
          <a:off x="0" y="0"/>
          <a:ext cx="0" cy="0"/>
          <a:chOff x="0" y="0"/>
          <a:chExt cx="0" cy="0"/>
        </a:xfrm>
      </p:grpSpPr>
      <p:sp>
        <p:nvSpPr>
          <p:cNvPr id="461" name="Google Shape;461;p27"/>
          <p:cNvSpPr/>
          <p:nvPr/>
        </p:nvSpPr>
        <p:spPr>
          <a:xfrm>
            <a:off x="0" y="0"/>
            <a:ext cx="12192000" cy="6858000"/>
          </a:xfrm>
          <a:prstGeom prst="rect">
            <a:avLst/>
          </a:prstGeom>
          <a:gradFill>
            <a:gsLst>
              <a:gs pos="0">
                <a:srgbClr val="FAF8F2"/>
              </a:gs>
              <a:gs pos="100000">
                <a:srgbClr val="F2EE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7"/>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OBSERVATIONS</a:t>
            </a:r>
            <a:endParaRPr b="0" i="0" sz="1000" u="none" cap="none" strike="noStrike">
              <a:solidFill>
                <a:schemeClr val="dk1"/>
              </a:solidFill>
              <a:latin typeface="Calibri"/>
              <a:ea typeface="Calibri"/>
              <a:cs typeface="Calibri"/>
              <a:sym typeface="Calibri"/>
            </a:endParaRPr>
          </a:p>
        </p:txBody>
      </p:sp>
      <p:sp>
        <p:nvSpPr>
          <p:cNvPr id="463" name="Google Shape;463;p27"/>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6B6B60"/>
              </a:buClr>
              <a:buSzPts val="1000"/>
              <a:buFont typeface="Source Sans 3"/>
              <a:buNone/>
            </a:pPr>
            <a:r>
              <a:rPr b="1" i="0" lang="en-US" sz="1000" u="none" cap="none" strike="noStrike">
                <a:solidFill>
                  <a:srgbClr val="6B6B60"/>
                </a:solidFill>
                <a:latin typeface="Source Sans 3"/>
                <a:ea typeface="Source Sans 3"/>
                <a:cs typeface="Source Sans 3"/>
                <a:sym typeface="Source Sans 3"/>
              </a:rPr>
              <a:t>24 / 26</a:t>
            </a:r>
            <a:endParaRPr b="0" i="0" sz="1000" u="none" cap="none" strike="noStrike">
              <a:solidFill>
                <a:schemeClr val="dk1"/>
              </a:solidFill>
              <a:latin typeface="Calibri"/>
              <a:ea typeface="Calibri"/>
              <a:cs typeface="Calibri"/>
              <a:sym typeface="Calibri"/>
            </a:endParaRPr>
          </a:p>
        </p:txBody>
      </p:sp>
      <p:sp>
        <p:nvSpPr>
          <p:cNvPr id="464" name="Google Shape;464;p27"/>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What the evidence shows</a:t>
            </a:r>
            <a:endParaRPr b="0" i="0" sz="2800" u="none" cap="none" strike="noStrike">
              <a:solidFill>
                <a:schemeClr val="dk1"/>
              </a:solidFill>
              <a:latin typeface="Calibri"/>
              <a:ea typeface="Calibri"/>
              <a:cs typeface="Calibri"/>
              <a:sym typeface="Calibri"/>
            </a:endParaRPr>
          </a:p>
        </p:txBody>
      </p:sp>
      <p:sp>
        <p:nvSpPr>
          <p:cNvPr id="465" name="Google Shape;465;p27"/>
          <p:cNvSpPr/>
          <p:nvPr/>
        </p:nvSpPr>
        <p:spPr>
          <a:xfrm>
            <a:off x="549275" y="1235075"/>
            <a:ext cx="5435600" cy="2139950"/>
          </a:xfrm>
          <a:prstGeom prst="roundRect">
            <a:avLst>
              <a:gd fmla="val 5193"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7"/>
          <p:cNvSpPr/>
          <p:nvPr/>
        </p:nvSpPr>
        <p:spPr>
          <a:xfrm>
            <a:off x="774700" y="1435100"/>
            <a:ext cx="412750" cy="412750"/>
          </a:xfrm>
          <a:custGeom>
            <a:rect b="b" l="l" r="r" t="t"/>
            <a:pathLst>
              <a:path extrusionOk="0" h="412750" w="412750">
                <a:moveTo>
                  <a:pt x="206375" y="0"/>
                </a:moveTo>
                <a:lnTo>
                  <a:pt x="206375" y="0"/>
                </a:lnTo>
                <a:cubicBezTo>
                  <a:pt x="261109" y="0"/>
                  <a:pt x="313601" y="21743"/>
                  <a:pt x="352304" y="60446"/>
                </a:cubicBezTo>
                <a:cubicBezTo>
                  <a:pt x="391007" y="99149"/>
                  <a:pt x="412750" y="151641"/>
                  <a:pt x="412750" y="206375"/>
                </a:cubicBezTo>
                <a:lnTo>
                  <a:pt x="412750" y="206375"/>
                </a:lnTo>
                <a:cubicBezTo>
                  <a:pt x="412750" y="320353"/>
                  <a:pt x="320353" y="412750"/>
                  <a:pt x="206375" y="412750"/>
                </a:cubicBezTo>
                <a:lnTo>
                  <a:pt x="206375" y="412750"/>
                </a:lnTo>
                <a:cubicBezTo>
                  <a:pt x="92397" y="412750"/>
                  <a:pt x="0" y="320353"/>
                  <a:pt x="0" y="206375"/>
                </a:cubicBezTo>
                <a:lnTo>
                  <a:pt x="0" y="206375"/>
                </a:lnTo>
                <a:cubicBezTo>
                  <a:pt x="0" y="92397"/>
                  <a:pt x="92397" y="0"/>
                  <a:pt x="206375" y="0"/>
                </a:cubicBezTo>
                <a:close/>
              </a:path>
            </a:pathLst>
          </a:custGeom>
          <a:solidFill>
            <a:srgbClr val="B5501C"/>
          </a:solidFill>
          <a:ln>
            <a:noFill/>
          </a:ln>
        </p:spPr>
        <p:txBody>
          <a:bodyPr anchorCtr="0" anchor="t" bIns="0" lIns="0" spcFirstLastPara="1" rIns="0" wrap="square" tIns="0">
            <a:noAutofit/>
          </a:bodyPr>
          <a:lstStyle/>
          <a:p>
            <a:pPr indent="0" lvl="0" marL="0" marR="0" rtl="0" algn="ctr">
              <a:lnSpc>
                <a:spcPct val="217000"/>
              </a:lnSpc>
              <a:spcBef>
                <a:spcPts val="0"/>
              </a:spcBef>
              <a:spcAft>
                <a:spcPts val="0"/>
              </a:spcAft>
              <a:buClr>
                <a:srgbClr val="FFFFFF"/>
              </a:buClr>
              <a:buSzPts val="1500"/>
              <a:buFont typeface="Source Sans 3"/>
              <a:buNone/>
            </a:pPr>
            <a:r>
              <a:rPr b="1" i="0" lang="en-US" sz="1500" u="none" cap="none" strike="noStrike">
                <a:solidFill>
                  <a:srgbClr val="FFFFFF"/>
                </a:solidFill>
                <a:latin typeface="Source Sans 3"/>
                <a:ea typeface="Source Sans 3"/>
                <a:cs typeface="Source Sans 3"/>
                <a:sym typeface="Source Sans 3"/>
              </a:rPr>
              <a:t>1</a:t>
            </a:r>
            <a:endParaRPr b="0" i="0" sz="1500" u="none" cap="none" strike="noStrike">
              <a:solidFill>
                <a:schemeClr val="dk1"/>
              </a:solidFill>
              <a:latin typeface="Calibri"/>
              <a:ea typeface="Calibri"/>
              <a:cs typeface="Calibri"/>
              <a:sym typeface="Calibri"/>
            </a:endParaRPr>
          </a:p>
        </p:txBody>
      </p:sp>
      <p:sp>
        <p:nvSpPr>
          <p:cNvPr id="467" name="Google Shape;467;p27"/>
          <p:cNvSpPr/>
          <p:nvPr/>
        </p:nvSpPr>
        <p:spPr>
          <a:xfrm>
            <a:off x="1371600" y="1511300"/>
            <a:ext cx="4519486" cy="271463"/>
          </a:xfrm>
          <a:prstGeom prst="rect">
            <a:avLst/>
          </a:prstGeom>
          <a:noFill/>
          <a:ln>
            <a:noFill/>
          </a:ln>
        </p:spPr>
        <p:txBody>
          <a:bodyPr anchorCtr="0" anchor="t" bIns="0" lIns="0" spcFirstLastPara="1" rIns="0" wrap="square" tIns="0">
            <a:noAutofit/>
          </a:bodyPr>
          <a:lstStyle/>
          <a:p>
            <a:pPr indent="0" lvl="0" marL="0" marR="0" rtl="0" algn="l">
              <a:lnSpc>
                <a:spcPct val="125032"/>
              </a:lnSpc>
              <a:spcBef>
                <a:spcPts val="0"/>
              </a:spcBef>
              <a:spcAft>
                <a:spcPts val="0"/>
              </a:spcAft>
              <a:buClr>
                <a:srgbClr val="1D2F23"/>
              </a:buClr>
              <a:buSzPts val="1550"/>
              <a:buFont typeface="Source Sans 3"/>
              <a:buNone/>
            </a:pPr>
            <a:r>
              <a:rPr b="1" i="0" lang="en-US" sz="1550" u="none" cap="none" strike="noStrike">
                <a:solidFill>
                  <a:srgbClr val="1D2F23"/>
                </a:solidFill>
                <a:latin typeface="Source Sans 3"/>
                <a:ea typeface="Source Sans 3"/>
                <a:cs typeface="Source Sans 3"/>
                <a:sym typeface="Source Sans 3"/>
              </a:rPr>
              <a:t>Diversity buys steadiness, not shock absorption</a:t>
            </a:r>
            <a:endParaRPr b="0" i="0" sz="1550" u="none" cap="none" strike="noStrike">
              <a:solidFill>
                <a:schemeClr val="dk1"/>
              </a:solidFill>
              <a:latin typeface="Calibri"/>
              <a:ea typeface="Calibri"/>
              <a:cs typeface="Calibri"/>
              <a:sym typeface="Calibri"/>
            </a:endParaRPr>
          </a:p>
        </p:txBody>
      </p:sp>
      <p:sp>
        <p:nvSpPr>
          <p:cNvPr id="468" name="Google Shape;468;p27"/>
          <p:cNvSpPr/>
          <p:nvPr/>
        </p:nvSpPr>
        <p:spPr>
          <a:xfrm>
            <a:off x="1371600" y="1968500"/>
            <a:ext cx="4519486" cy="69405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350"/>
              <a:buFont typeface="Source Sans 3"/>
              <a:buNone/>
            </a:pPr>
            <a:r>
              <a:rPr b="0" i="0" lang="en-US" sz="1350" u="none" cap="none" strike="noStrike">
                <a:solidFill>
                  <a:srgbClr val="22332A"/>
                </a:solidFill>
                <a:latin typeface="Source Sans 3"/>
                <a:ea typeface="Source Sans 3"/>
                <a:cs typeface="Source Sans 3"/>
                <a:sym typeface="Source Sans 3"/>
              </a:rPr>
              <a:t>Stability rises (ρ +0.49) and bad years fall (−0.45) with crop diversity. Resistance (+0.07) and recovery (−0.17) in single droughts show no clear link.</a:t>
            </a:r>
            <a:endParaRPr b="0" i="0" sz="1350" u="none" cap="none" strike="noStrike">
              <a:solidFill>
                <a:schemeClr val="dk1"/>
              </a:solidFill>
              <a:latin typeface="Calibri"/>
              <a:ea typeface="Calibri"/>
              <a:cs typeface="Calibri"/>
              <a:sym typeface="Calibri"/>
            </a:endParaRPr>
          </a:p>
        </p:txBody>
      </p:sp>
      <p:sp>
        <p:nvSpPr>
          <p:cNvPr id="469" name="Google Shape;469;p27"/>
          <p:cNvSpPr/>
          <p:nvPr/>
        </p:nvSpPr>
        <p:spPr>
          <a:xfrm>
            <a:off x="6200775" y="1235075"/>
            <a:ext cx="5435600" cy="2139950"/>
          </a:xfrm>
          <a:prstGeom prst="roundRect">
            <a:avLst>
              <a:gd fmla="val 5193"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7"/>
          <p:cNvSpPr/>
          <p:nvPr/>
        </p:nvSpPr>
        <p:spPr>
          <a:xfrm>
            <a:off x="6426200" y="1435100"/>
            <a:ext cx="412750" cy="412750"/>
          </a:xfrm>
          <a:custGeom>
            <a:rect b="b" l="l" r="r" t="t"/>
            <a:pathLst>
              <a:path extrusionOk="0" h="412750" w="412750">
                <a:moveTo>
                  <a:pt x="206375" y="0"/>
                </a:moveTo>
                <a:lnTo>
                  <a:pt x="206375" y="0"/>
                </a:lnTo>
                <a:cubicBezTo>
                  <a:pt x="261109" y="0"/>
                  <a:pt x="313601" y="21743"/>
                  <a:pt x="352304" y="60446"/>
                </a:cubicBezTo>
                <a:cubicBezTo>
                  <a:pt x="391007" y="99149"/>
                  <a:pt x="412750" y="151641"/>
                  <a:pt x="412750" y="206375"/>
                </a:cubicBezTo>
                <a:lnTo>
                  <a:pt x="412750" y="206375"/>
                </a:lnTo>
                <a:cubicBezTo>
                  <a:pt x="412750" y="320353"/>
                  <a:pt x="320353" y="412750"/>
                  <a:pt x="206375" y="412750"/>
                </a:cubicBezTo>
                <a:lnTo>
                  <a:pt x="206375" y="412750"/>
                </a:lnTo>
                <a:cubicBezTo>
                  <a:pt x="92397" y="412750"/>
                  <a:pt x="0" y="320353"/>
                  <a:pt x="0" y="206375"/>
                </a:cubicBezTo>
                <a:lnTo>
                  <a:pt x="0" y="206375"/>
                </a:lnTo>
                <a:cubicBezTo>
                  <a:pt x="0" y="92397"/>
                  <a:pt x="92397" y="0"/>
                  <a:pt x="206375" y="0"/>
                </a:cubicBezTo>
                <a:close/>
              </a:path>
            </a:pathLst>
          </a:custGeom>
          <a:solidFill>
            <a:srgbClr val="B5501C"/>
          </a:solidFill>
          <a:ln>
            <a:noFill/>
          </a:ln>
        </p:spPr>
        <p:txBody>
          <a:bodyPr anchorCtr="0" anchor="t" bIns="0" lIns="0" spcFirstLastPara="1" rIns="0" wrap="square" tIns="0">
            <a:noAutofit/>
          </a:bodyPr>
          <a:lstStyle/>
          <a:p>
            <a:pPr indent="0" lvl="0" marL="0" marR="0" rtl="0" algn="ctr">
              <a:lnSpc>
                <a:spcPct val="217000"/>
              </a:lnSpc>
              <a:spcBef>
                <a:spcPts val="0"/>
              </a:spcBef>
              <a:spcAft>
                <a:spcPts val="0"/>
              </a:spcAft>
              <a:buClr>
                <a:srgbClr val="FFFFFF"/>
              </a:buClr>
              <a:buSzPts val="1500"/>
              <a:buFont typeface="Source Sans 3"/>
              <a:buNone/>
            </a:pPr>
            <a:r>
              <a:rPr b="1" i="0" lang="en-US" sz="1500" u="none" cap="none" strike="noStrike">
                <a:solidFill>
                  <a:srgbClr val="FFFFFF"/>
                </a:solidFill>
                <a:latin typeface="Source Sans 3"/>
                <a:ea typeface="Source Sans 3"/>
                <a:cs typeface="Source Sans 3"/>
                <a:sym typeface="Source Sans 3"/>
              </a:rPr>
              <a:t>2</a:t>
            </a:r>
            <a:endParaRPr b="0" i="0" sz="1500" u="none" cap="none" strike="noStrike">
              <a:solidFill>
                <a:schemeClr val="dk1"/>
              </a:solidFill>
              <a:latin typeface="Calibri"/>
              <a:ea typeface="Calibri"/>
              <a:cs typeface="Calibri"/>
              <a:sym typeface="Calibri"/>
            </a:endParaRPr>
          </a:p>
        </p:txBody>
      </p:sp>
      <p:sp>
        <p:nvSpPr>
          <p:cNvPr id="471" name="Google Shape;471;p27"/>
          <p:cNvSpPr/>
          <p:nvPr/>
        </p:nvSpPr>
        <p:spPr>
          <a:xfrm>
            <a:off x="7023100" y="1511300"/>
            <a:ext cx="4519486" cy="271463"/>
          </a:xfrm>
          <a:prstGeom prst="rect">
            <a:avLst/>
          </a:prstGeom>
          <a:noFill/>
          <a:ln>
            <a:noFill/>
          </a:ln>
        </p:spPr>
        <p:txBody>
          <a:bodyPr anchorCtr="0" anchor="t" bIns="0" lIns="0" spcFirstLastPara="1" rIns="0" wrap="square" tIns="0">
            <a:noAutofit/>
          </a:bodyPr>
          <a:lstStyle/>
          <a:p>
            <a:pPr indent="0" lvl="0" marL="0" marR="0" rtl="0" algn="l">
              <a:lnSpc>
                <a:spcPct val="125032"/>
              </a:lnSpc>
              <a:spcBef>
                <a:spcPts val="0"/>
              </a:spcBef>
              <a:spcAft>
                <a:spcPts val="0"/>
              </a:spcAft>
              <a:buClr>
                <a:srgbClr val="1D2F23"/>
              </a:buClr>
              <a:buSzPts val="1550"/>
              <a:buFont typeface="Source Sans 3"/>
              <a:buNone/>
            </a:pPr>
            <a:r>
              <a:rPr b="1" i="0" lang="en-US" sz="1550" u="none" cap="none" strike="noStrike">
                <a:solidFill>
                  <a:srgbClr val="1D2F23"/>
                </a:solidFill>
                <a:latin typeface="Source Sans 3"/>
                <a:ea typeface="Source Sans 3"/>
                <a:cs typeface="Source Sans 3"/>
                <a:sym typeface="Source Sans 3"/>
              </a:rPr>
              <a:t>The link survives controls</a:t>
            </a:r>
            <a:endParaRPr b="0" i="0" sz="1550" u="none" cap="none" strike="noStrike">
              <a:solidFill>
                <a:schemeClr val="dk1"/>
              </a:solidFill>
              <a:latin typeface="Calibri"/>
              <a:ea typeface="Calibri"/>
              <a:cs typeface="Calibri"/>
              <a:sym typeface="Calibri"/>
            </a:endParaRPr>
          </a:p>
        </p:txBody>
      </p:sp>
      <p:sp>
        <p:nvSpPr>
          <p:cNvPr id="472" name="Google Shape;472;p27"/>
          <p:cNvSpPr/>
          <p:nvPr/>
        </p:nvSpPr>
        <p:spPr>
          <a:xfrm>
            <a:off x="7023100" y="1968500"/>
            <a:ext cx="4519486" cy="91694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350"/>
              <a:buFont typeface="Source Sans 3"/>
              <a:buNone/>
            </a:pPr>
            <a:r>
              <a:rPr b="0" i="0" lang="en-US" sz="1350" u="none" cap="none" strike="noStrike">
                <a:solidFill>
                  <a:srgbClr val="22332A"/>
                </a:solidFill>
                <a:latin typeface="Source Sans 3"/>
                <a:ea typeface="Source Sans 3"/>
                <a:cs typeface="Source Sans 3"/>
                <a:sym typeface="Source Sans 3"/>
              </a:rPr>
              <a:t>Holding income, fertiliser and irrigation constant, crop diversity still predicts stability (+0.37 SD) and vulnerability (−0.41 SD). Irrigation also lowers vulnerability in drought years (−0.32).</a:t>
            </a:r>
            <a:endParaRPr b="0" i="0" sz="1350" u="none" cap="none" strike="noStrike">
              <a:solidFill>
                <a:schemeClr val="dk1"/>
              </a:solidFill>
              <a:latin typeface="Calibri"/>
              <a:ea typeface="Calibri"/>
              <a:cs typeface="Calibri"/>
              <a:sym typeface="Calibri"/>
            </a:endParaRPr>
          </a:p>
        </p:txBody>
      </p:sp>
      <p:sp>
        <p:nvSpPr>
          <p:cNvPr id="473" name="Google Shape;473;p27"/>
          <p:cNvSpPr/>
          <p:nvPr/>
        </p:nvSpPr>
        <p:spPr>
          <a:xfrm>
            <a:off x="549275" y="3660775"/>
            <a:ext cx="5435600" cy="2139950"/>
          </a:xfrm>
          <a:prstGeom prst="roundRect">
            <a:avLst>
              <a:gd fmla="val 5193"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7"/>
          <p:cNvSpPr/>
          <p:nvPr/>
        </p:nvSpPr>
        <p:spPr>
          <a:xfrm>
            <a:off x="774700" y="3860800"/>
            <a:ext cx="412750" cy="412750"/>
          </a:xfrm>
          <a:custGeom>
            <a:rect b="b" l="l" r="r" t="t"/>
            <a:pathLst>
              <a:path extrusionOk="0" h="412750" w="412750">
                <a:moveTo>
                  <a:pt x="206375" y="0"/>
                </a:moveTo>
                <a:lnTo>
                  <a:pt x="206375" y="0"/>
                </a:lnTo>
                <a:cubicBezTo>
                  <a:pt x="261109" y="0"/>
                  <a:pt x="313601" y="21743"/>
                  <a:pt x="352304" y="60446"/>
                </a:cubicBezTo>
                <a:cubicBezTo>
                  <a:pt x="391007" y="99149"/>
                  <a:pt x="412750" y="151641"/>
                  <a:pt x="412750" y="206375"/>
                </a:cubicBezTo>
                <a:lnTo>
                  <a:pt x="412750" y="206375"/>
                </a:lnTo>
                <a:cubicBezTo>
                  <a:pt x="412750" y="320353"/>
                  <a:pt x="320353" y="412750"/>
                  <a:pt x="206375" y="412750"/>
                </a:cubicBezTo>
                <a:lnTo>
                  <a:pt x="206375" y="412750"/>
                </a:lnTo>
                <a:cubicBezTo>
                  <a:pt x="92397" y="412750"/>
                  <a:pt x="0" y="320353"/>
                  <a:pt x="0" y="206375"/>
                </a:cubicBezTo>
                <a:lnTo>
                  <a:pt x="0" y="206375"/>
                </a:lnTo>
                <a:cubicBezTo>
                  <a:pt x="0" y="92397"/>
                  <a:pt x="92397" y="0"/>
                  <a:pt x="206375" y="0"/>
                </a:cubicBezTo>
                <a:close/>
              </a:path>
            </a:pathLst>
          </a:custGeom>
          <a:solidFill>
            <a:srgbClr val="B5501C"/>
          </a:solidFill>
          <a:ln>
            <a:noFill/>
          </a:ln>
        </p:spPr>
        <p:txBody>
          <a:bodyPr anchorCtr="0" anchor="t" bIns="0" lIns="0" spcFirstLastPara="1" rIns="0" wrap="square" tIns="0">
            <a:noAutofit/>
          </a:bodyPr>
          <a:lstStyle/>
          <a:p>
            <a:pPr indent="0" lvl="0" marL="0" marR="0" rtl="0" algn="ctr">
              <a:lnSpc>
                <a:spcPct val="217000"/>
              </a:lnSpc>
              <a:spcBef>
                <a:spcPts val="0"/>
              </a:spcBef>
              <a:spcAft>
                <a:spcPts val="0"/>
              </a:spcAft>
              <a:buClr>
                <a:srgbClr val="FFFFFF"/>
              </a:buClr>
              <a:buSzPts val="1500"/>
              <a:buFont typeface="Source Sans 3"/>
              <a:buNone/>
            </a:pPr>
            <a:r>
              <a:rPr b="1" i="0" lang="en-US" sz="1500" u="none" cap="none" strike="noStrike">
                <a:solidFill>
                  <a:srgbClr val="FFFFFF"/>
                </a:solidFill>
                <a:latin typeface="Source Sans 3"/>
                <a:ea typeface="Source Sans 3"/>
                <a:cs typeface="Source Sans 3"/>
                <a:sym typeface="Source Sans 3"/>
              </a:rPr>
              <a:t>3</a:t>
            </a:r>
            <a:endParaRPr b="0" i="0" sz="1500" u="none" cap="none" strike="noStrike">
              <a:solidFill>
                <a:schemeClr val="dk1"/>
              </a:solidFill>
              <a:latin typeface="Calibri"/>
              <a:ea typeface="Calibri"/>
              <a:cs typeface="Calibri"/>
              <a:sym typeface="Calibri"/>
            </a:endParaRPr>
          </a:p>
        </p:txBody>
      </p:sp>
      <p:sp>
        <p:nvSpPr>
          <p:cNvPr id="475" name="Google Shape;475;p27"/>
          <p:cNvSpPr/>
          <p:nvPr/>
        </p:nvSpPr>
        <p:spPr>
          <a:xfrm>
            <a:off x="1371600" y="3937000"/>
            <a:ext cx="4519486" cy="271463"/>
          </a:xfrm>
          <a:prstGeom prst="rect">
            <a:avLst/>
          </a:prstGeom>
          <a:noFill/>
          <a:ln>
            <a:noFill/>
          </a:ln>
        </p:spPr>
        <p:txBody>
          <a:bodyPr anchorCtr="0" anchor="t" bIns="0" lIns="0" spcFirstLastPara="1" rIns="0" wrap="square" tIns="0">
            <a:noAutofit/>
          </a:bodyPr>
          <a:lstStyle/>
          <a:p>
            <a:pPr indent="0" lvl="0" marL="0" marR="0" rtl="0" algn="l">
              <a:lnSpc>
                <a:spcPct val="125032"/>
              </a:lnSpc>
              <a:spcBef>
                <a:spcPts val="0"/>
              </a:spcBef>
              <a:spcAft>
                <a:spcPts val="0"/>
              </a:spcAft>
              <a:buClr>
                <a:srgbClr val="1D2F23"/>
              </a:buClr>
              <a:buSzPts val="1550"/>
              <a:buFont typeface="Source Sans 3"/>
              <a:buNone/>
            </a:pPr>
            <a:r>
              <a:rPr b="1" i="0" lang="en-US" sz="1550" u="none" cap="none" strike="noStrike">
                <a:solidFill>
                  <a:srgbClr val="1D2F23"/>
                </a:solidFill>
                <a:latin typeface="Source Sans 3"/>
                <a:ea typeface="Source Sans 3"/>
                <a:cs typeface="Source Sans 3"/>
                <a:sym typeface="Source Sans 3"/>
              </a:rPr>
              <a:t>More varied crop responses did not help</a:t>
            </a:r>
            <a:endParaRPr b="0" i="0" sz="1550" u="none" cap="none" strike="noStrike">
              <a:solidFill>
                <a:schemeClr val="dk1"/>
              </a:solidFill>
              <a:latin typeface="Calibri"/>
              <a:ea typeface="Calibri"/>
              <a:cs typeface="Calibri"/>
              <a:sym typeface="Calibri"/>
            </a:endParaRPr>
          </a:p>
        </p:txBody>
      </p:sp>
      <p:sp>
        <p:nvSpPr>
          <p:cNvPr id="476" name="Google Shape;476;p27"/>
          <p:cNvSpPr/>
          <p:nvPr/>
        </p:nvSpPr>
        <p:spPr>
          <a:xfrm>
            <a:off x="1371600" y="4394200"/>
            <a:ext cx="4519486" cy="69405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350"/>
              <a:buFont typeface="Source Sans 3"/>
              <a:buNone/>
            </a:pPr>
            <a:r>
              <a:rPr b="0" i="0" lang="en-US" sz="1350" u="none" cap="none" strike="noStrike">
                <a:solidFill>
                  <a:srgbClr val="22332A"/>
                </a:solidFill>
                <a:latin typeface="Source Sans 3"/>
                <a:ea typeface="Source Sans 3"/>
                <a:cs typeface="Source Sans 3"/>
                <a:sym typeface="Source Sans 3"/>
              </a:rPr>
              <a:t>Response diversity tracks the single most drought-sensitive crop (r = 0.88) and goes with more bad years (ρ +0.52). It marks an outlier crop, not balance.</a:t>
            </a:r>
            <a:endParaRPr b="0" i="0" sz="1350" u="none" cap="none" strike="noStrike">
              <a:solidFill>
                <a:schemeClr val="dk1"/>
              </a:solidFill>
              <a:latin typeface="Calibri"/>
              <a:ea typeface="Calibri"/>
              <a:cs typeface="Calibri"/>
              <a:sym typeface="Calibri"/>
            </a:endParaRPr>
          </a:p>
        </p:txBody>
      </p:sp>
      <p:sp>
        <p:nvSpPr>
          <p:cNvPr id="477" name="Google Shape;477;p27"/>
          <p:cNvSpPr/>
          <p:nvPr/>
        </p:nvSpPr>
        <p:spPr>
          <a:xfrm>
            <a:off x="6200775" y="3660775"/>
            <a:ext cx="5435600" cy="2139950"/>
          </a:xfrm>
          <a:prstGeom prst="roundRect">
            <a:avLst>
              <a:gd fmla="val 5193"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7"/>
          <p:cNvSpPr/>
          <p:nvPr/>
        </p:nvSpPr>
        <p:spPr>
          <a:xfrm>
            <a:off x="6426200" y="3860800"/>
            <a:ext cx="412750" cy="412750"/>
          </a:xfrm>
          <a:custGeom>
            <a:rect b="b" l="l" r="r" t="t"/>
            <a:pathLst>
              <a:path extrusionOk="0" h="412750" w="412750">
                <a:moveTo>
                  <a:pt x="206375" y="0"/>
                </a:moveTo>
                <a:lnTo>
                  <a:pt x="206375" y="0"/>
                </a:lnTo>
                <a:cubicBezTo>
                  <a:pt x="261109" y="0"/>
                  <a:pt x="313601" y="21743"/>
                  <a:pt x="352304" y="60446"/>
                </a:cubicBezTo>
                <a:cubicBezTo>
                  <a:pt x="391007" y="99149"/>
                  <a:pt x="412750" y="151641"/>
                  <a:pt x="412750" y="206375"/>
                </a:cubicBezTo>
                <a:lnTo>
                  <a:pt x="412750" y="206375"/>
                </a:lnTo>
                <a:cubicBezTo>
                  <a:pt x="412750" y="320353"/>
                  <a:pt x="320353" y="412750"/>
                  <a:pt x="206375" y="412750"/>
                </a:cubicBezTo>
                <a:lnTo>
                  <a:pt x="206375" y="412750"/>
                </a:lnTo>
                <a:cubicBezTo>
                  <a:pt x="92397" y="412750"/>
                  <a:pt x="0" y="320353"/>
                  <a:pt x="0" y="206375"/>
                </a:cubicBezTo>
                <a:lnTo>
                  <a:pt x="0" y="206375"/>
                </a:lnTo>
                <a:cubicBezTo>
                  <a:pt x="0" y="92397"/>
                  <a:pt x="92397" y="0"/>
                  <a:pt x="206375" y="0"/>
                </a:cubicBezTo>
                <a:close/>
              </a:path>
            </a:pathLst>
          </a:custGeom>
          <a:solidFill>
            <a:srgbClr val="B5501C"/>
          </a:solidFill>
          <a:ln>
            <a:noFill/>
          </a:ln>
        </p:spPr>
        <p:txBody>
          <a:bodyPr anchorCtr="0" anchor="t" bIns="0" lIns="0" spcFirstLastPara="1" rIns="0" wrap="square" tIns="0">
            <a:noAutofit/>
          </a:bodyPr>
          <a:lstStyle/>
          <a:p>
            <a:pPr indent="0" lvl="0" marL="0" marR="0" rtl="0" algn="ctr">
              <a:lnSpc>
                <a:spcPct val="217000"/>
              </a:lnSpc>
              <a:spcBef>
                <a:spcPts val="0"/>
              </a:spcBef>
              <a:spcAft>
                <a:spcPts val="0"/>
              </a:spcAft>
              <a:buClr>
                <a:srgbClr val="FFFFFF"/>
              </a:buClr>
              <a:buSzPts val="1500"/>
              <a:buFont typeface="Source Sans 3"/>
              <a:buNone/>
            </a:pPr>
            <a:r>
              <a:rPr b="1" i="0" lang="en-US" sz="1500" u="none" cap="none" strike="noStrike">
                <a:solidFill>
                  <a:srgbClr val="FFFFFF"/>
                </a:solidFill>
                <a:latin typeface="Source Sans 3"/>
                <a:ea typeface="Source Sans 3"/>
                <a:cs typeface="Source Sans 3"/>
                <a:sym typeface="Source Sans 3"/>
              </a:rPr>
              <a:t>4</a:t>
            </a:r>
            <a:endParaRPr b="0" i="0" sz="1500" u="none" cap="none" strike="noStrike">
              <a:solidFill>
                <a:schemeClr val="dk1"/>
              </a:solidFill>
              <a:latin typeface="Calibri"/>
              <a:ea typeface="Calibri"/>
              <a:cs typeface="Calibri"/>
              <a:sym typeface="Calibri"/>
            </a:endParaRPr>
          </a:p>
        </p:txBody>
      </p:sp>
      <p:sp>
        <p:nvSpPr>
          <p:cNvPr id="479" name="Google Shape;479;p27"/>
          <p:cNvSpPr/>
          <p:nvPr/>
        </p:nvSpPr>
        <p:spPr>
          <a:xfrm>
            <a:off x="7023100" y="3937000"/>
            <a:ext cx="4519486" cy="271463"/>
          </a:xfrm>
          <a:prstGeom prst="rect">
            <a:avLst/>
          </a:prstGeom>
          <a:noFill/>
          <a:ln>
            <a:noFill/>
          </a:ln>
        </p:spPr>
        <p:txBody>
          <a:bodyPr anchorCtr="0" anchor="t" bIns="0" lIns="0" spcFirstLastPara="1" rIns="0" wrap="square" tIns="0">
            <a:noAutofit/>
          </a:bodyPr>
          <a:lstStyle/>
          <a:p>
            <a:pPr indent="0" lvl="0" marL="0" marR="0" rtl="0" algn="l">
              <a:lnSpc>
                <a:spcPct val="125032"/>
              </a:lnSpc>
              <a:spcBef>
                <a:spcPts val="0"/>
              </a:spcBef>
              <a:spcAft>
                <a:spcPts val="0"/>
              </a:spcAft>
              <a:buClr>
                <a:srgbClr val="1D2F23"/>
              </a:buClr>
              <a:buSzPts val="1550"/>
              <a:buFont typeface="Source Sans 3"/>
              <a:buNone/>
            </a:pPr>
            <a:r>
              <a:rPr b="1" i="0" lang="en-US" sz="1550" u="none" cap="none" strike="noStrike">
                <a:solidFill>
                  <a:srgbClr val="1D2F23"/>
                </a:solidFill>
                <a:latin typeface="Source Sans 3"/>
                <a:ea typeface="Source Sans 3"/>
                <a:cs typeface="Source Sans 3"/>
                <a:sym typeface="Source Sans 3"/>
              </a:rPr>
              <a:t>How drought is measured matters</a:t>
            </a:r>
            <a:endParaRPr b="0" i="0" sz="1550" u="none" cap="none" strike="noStrike">
              <a:solidFill>
                <a:schemeClr val="dk1"/>
              </a:solidFill>
              <a:latin typeface="Calibri"/>
              <a:ea typeface="Calibri"/>
              <a:cs typeface="Calibri"/>
              <a:sym typeface="Calibri"/>
            </a:endParaRPr>
          </a:p>
        </p:txBody>
      </p:sp>
      <p:sp>
        <p:nvSpPr>
          <p:cNvPr id="480" name="Google Shape;480;p27"/>
          <p:cNvSpPr/>
          <p:nvPr/>
        </p:nvSpPr>
        <p:spPr>
          <a:xfrm>
            <a:off x="7023100" y="4394200"/>
            <a:ext cx="4519486" cy="91694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350"/>
              <a:buFont typeface="Source Sans 3"/>
              <a:buNone/>
            </a:pPr>
            <a:r>
              <a:rPr b="0" i="0" lang="en-US" sz="1350" u="none" cap="none" strike="noStrike">
                <a:solidFill>
                  <a:srgbClr val="22332A"/>
                </a:solidFill>
                <a:latin typeface="Source Sans 3"/>
                <a:ea typeface="Source Sans 3"/>
                <a:cs typeface="Source Sans 3"/>
                <a:sym typeface="Source Sans 3"/>
              </a:rPr>
              <a:t>Averaging over large countries mutes the signal (r = −0.48), and in severe years the six-month index tracks losses better (0.23 vs 0.17). The cropland-weighted index flags 6 of 12 known droughts.</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6DB"/>
        </a:solidFill>
      </p:bgPr>
    </p:bg>
    <p:spTree>
      <p:nvGrpSpPr>
        <p:cNvPr id="485" name="Shape 485"/>
        <p:cNvGrpSpPr/>
        <p:nvPr/>
      </p:nvGrpSpPr>
      <p:grpSpPr>
        <a:xfrm>
          <a:off x="0" y="0"/>
          <a:ext cx="0" cy="0"/>
          <a:chOff x="0" y="0"/>
          <a:chExt cx="0" cy="0"/>
        </a:xfrm>
      </p:grpSpPr>
      <p:sp>
        <p:nvSpPr>
          <p:cNvPr id="486" name="Google Shape;486;p28"/>
          <p:cNvSpPr/>
          <p:nvPr/>
        </p:nvSpPr>
        <p:spPr>
          <a:xfrm>
            <a:off x="0" y="0"/>
            <a:ext cx="12192000" cy="6858000"/>
          </a:xfrm>
          <a:prstGeom prst="rect">
            <a:avLst/>
          </a:prstGeom>
          <a:gradFill>
            <a:gsLst>
              <a:gs pos="0">
                <a:srgbClr val="F1EADF"/>
              </a:gs>
              <a:gs pos="100000">
                <a:srgbClr val="EAE1D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8"/>
          <p:cNvSpPr/>
          <p:nvPr/>
        </p:nvSpPr>
        <p:spPr>
          <a:xfrm>
            <a:off x="546100" y="228600"/>
            <a:ext cx="588645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C"/>
              </a:buClr>
              <a:buSzPts val="1000"/>
              <a:buFont typeface="Source Sans 3"/>
              <a:buNone/>
            </a:pPr>
            <a:r>
              <a:rPr b="1" i="0" lang="en-US" sz="1000" u="none" cap="none" strike="noStrike">
                <a:solidFill>
                  <a:srgbClr val="B5501C"/>
                </a:solidFill>
                <a:latin typeface="Source Sans 3"/>
                <a:ea typeface="Source Sans 3"/>
                <a:cs typeface="Source Sans 3"/>
                <a:sym typeface="Source Sans 3"/>
              </a:rPr>
              <a:t>OBSERVATIONS</a:t>
            </a:r>
            <a:endParaRPr b="0" i="0" sz="1000" u="none" cap="none" strike="noStrike">
              <a:solidFill>
                <a:schemeClr val="dk1"/>
              </a:solidFill>
              <a:latin typeface="Calibri"/>
              <a:ea typeface="Calibri"/>
              <a:cs typeface="Calibri"/>
              <a:sym typeface="Calibri"/>
            </a:endParaRPr>
          </a:p>
        </p:txBody>
      </p:sp>
      <p:sp>
        <p:nvSpPr>
          <p:cNvPr id="488" name="Google Shape;488;p28"/>
          <p:cNvSpPr/>
          <p:nvPr/>
        </p:nvSpPr>
        <p:spPr>
          <a:xfrm>
            <a:off x="10325100" y="228600"/>
            <a:ext cx="1320800" cy="2032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E5E54"/>
              </a:buClr>
              <a:buSzPts val="1000"/>
              <a:buFont typeface="Source Sans 3"/>
              <a:buNone/>
            </a:pPr>
            <a:r>
              <a:rPr b="1" i="0" lang="en-US" sz="1000" u="none" cap="none" strike="noStrike">
                <a:solidFill>
                  <a:srgbClr val="5E5E54"/>
                </a:solidFill>
                <a:latin typeface="Source Sans 3"/>
                <a:ea typeface="Source Sans 3"/>
                <a:cs typeface="Source Sans 3"/>
                <a:sym typeface="Source Sans 3"/>
              </a:rPr>
              <a:t>25 / 26</a:t>
            </a:r>
            <a:endParaRPr b="0" i="0" sz="1000" u="none" cap="none" strike="noStrike">
              <a:solidFill>
                <a:schemeClr val="dk1"/>
              </a:solidFill>
              <a:latin typeface="Calibri"/>
              <a:ea typeface="Calibri"/>
              <a:cs typeface="Calibri"/>
              <a:sym typeface="Calibri"/>
            </a:endParaRPr>
          </a:p>
        </p:txBody>
      </p:sp>
      <p:sp>
        <p:nvSpPr>
          <p:cNvPr id="489" name="Google Shape;489;p28"/>
          <p:cNvSpPr/>
          <p:nvPr/>
        </p:nvSpPr>
        <p:spPr>
          <a:xfrm>
            <a:off x="546100" y="444500"/>
            <a:ext cx="11426254" cy="4521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F23"/>
              </a:buClr>
              <a:buSzPts val="2800"/>
              <a:buFont typeface="Source Serif 4"/>
              <a:buNone/>
            </a:pPr>
            <a:r>
              <a:rPr b="1" i="0" lang="en-US" sz="2800" u="none" cap="none" strike="noStrike">
                <a:solidFill>
                  <a:srgbClr val="1D2F23"/>
                </a:solidFill>
                <a:latin typeface="Source Serif 4"/>
                <a:ea typeface="Source Serif 4"/>
                <a:cs typeface="Source Serif 4"/>
                <a:sym typeface="Source Serif 4"/>
              </a:rPr>
              <a:t>Future work</a:t>
            </a:r>
            <a:endParaRPr b="0" i="0" sz="2800" u="none" cap="none" strike="noStrike">
              <a:solidFill>
                <a:schemeClr val="dk1"/>
              </a:solidFill>
              <a:latin typeface="Calibri"/>
              <a:ea typeface="Calibri"/>
              <a:cs typeface="Calibri"/>
              <a:sym typeface="Calibri"/>
            </a:endParaRPr>
          </a:p>
        </p:txBody>
      </p:sp>
      <p:sp>
        <p:nvSpPr>
          <p:cNvPr id="490" name="Google Shape;490;p28"/>
          <p:cNvSpPr/>
          <p:nvPr/>
        </p:nvSpPr>
        <p:spPr>
          <a:xfrm>
            <a:off x="549275" y="1374775"/>
            <a:ext cx="5435600" cy="1866900"/>
          </a:xfrm>
          <a:prstGeom prst="roundRect">
            <a:avLst>
              <a:gd fmla="val 5952"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lock" id="491" name="Google Shape;491;p28"/>
          <p:cNvPicPr preferRelativeResize="0"/>
          <p:nvPr/>
        </p:nvPicPr>
        <p:blipFill rotWithShape="1">
          <a:blip r:embed="rId3">
            <a:alphaModFix/>
          </a:blip>
          <a:srcRect b="0" l="0" r="0" t="0"/>
          <a:stretch/>
        </p:blipFill>
        <p:spPr>
          <a:xfrm>
            <a:off x="5480050" y="1555750"/>
            <a:ext cx="279400" cy="279400"/>
          </a:xfrm>
          <a:prstGeom prst="rect">
            <a:avLst/>
          </a:prstGeom>
          <a:noFill/>
          <a:ln>
            <a:noFill/>
          </a:ln>
        </p:spPr>
      </p:pic>
      <p:sp>
        <p:nvSpPr>
          <p:cNvPr id="492" name="Google Shape;492;p28"/>
          <p:cNvSpPr/>
          <p:nvPr/>
        </p:nvSpPr>
        <p:spPr>
          <a:xfrm>
            <a:off x="825500" y="1555750"/>
            <a:ext cx="4578350"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01C"/>
              </a:buClr>
              <a:buSzPts val="1600"/>
              <a:buFont typeface="Source Sans 3"/>
              <a:buNone/>
            </a:pPr>
            <a:r>
              <a:rPr b="1" i="0" lang="en-US" sz="1600" u="none" cap="none" strike="noStrike">
                <a:solidFill>
                  <a:srgbClr val="B5501C"/>
                </a:solidFill>
                <a:latin typeface="Source Sans 3"/>
                <a:ea typeface="Source Sans 3"/>
                <a:cs typeface="Source Sans 3"/>
                <a:sym typeface="Source Sans 3"/>
              </a:rPr>
              <a:t>Seasonal drought events</a:t>
            </a:r>
            <a:endParaRPr b="0" i="0" sz="1600" u="none" cap="none" strike="noStrike">
              <a:solidFill>
                <a:schemeClr val="dk1"/>
              </a:solidFill>
              <a:latin typeface="Calibri"/>
              <a:ea typeface="Calibri"/>
              <a:cs typeface="Calibri"/>
              <a:sym typeface="Calibri"/>
            </a:endParaRPr>
          </a:p>
        </p:txBody>
      </p:sp>
      <p:sp>
        <p:nvSpPr>
          <p:cNvPr id="493" name="Google Shape;493;p28"/>
          <p:cNvSpPr/>
          <p:nvPr/>
        </p:nvSpPr>
        <p:spPr>
          <a:xfrm>
            <a:off x="825500" y="2057400"/>
            <a:ext cx="5036185" cy="4876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400"/>
              <a:buFont typeface="Source Sans 3"/>
              <a:buNone/>
            </a:pPr>
            <a:r>
              <a:rPr b="0" i="0" lang="en-US" sz="1400" u="none" cap="none" strike="noStrike">
                <a:solidFill>
                  <a:srgbClr val="22332A"/>
                </a:solidFill>
                <a:latin typeface="Source Sans 3"/>
                <a:ea typeface="Source Sans 3"/>
                <a:cs typeface="Source Sans 3"/>
                <a:sym typeface="Source Sans 3"/>
              </a:rPr>
              <a:t>Define events with the six-month index, which tracked severe losses better and may catch the known droughts we missed.</a:t>
            </a:r>
            <a:endParaRPr b="0" i="0" sz="1400" u="none" cap="none" strike="noStrike">
              <a:solidFill>
                <a:schemeClr val="dk1"/>
              </a:solidFill>
              <a:latin typeface="Calibri"/>
              <a:ea typeface="Calibri"/>
              <a:cs typeface="Calibri"/>
              <a:sym typeface="Calibri"/>
            </a:endParaRPr>
          </a:p>
        </p:txBody>
      </p:sp>
      <p:sp>
        <p:nvSpPr>
          <p:cNvPr id="494" name="Google Shape;494;p28"/>
          <p:cNvSpPr/>
          <p:nvPr/>
        </p:nvSpPr>
        <p:spPr>
          <a:xfrm>
            <a:off x="6200775" y="1374775"/>
            <a:ext cx="5435600" cy="1866900"/>
          </a:xfrm>
          <a:prstGeom prst="roundRect">
            <a:avLst>
              <a:gd fmla="val 5952"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Globe" id="495" name="Google Shape;495;p28"/>
          <p:cNvPicPr preferRelativeResize="0"/>
          <p:nvPr/>
        </p:nvPicPr>
        <p:blipFill rotWithShape="1">
          <a:blip r:embed="rId4">
            <a:alphaModFix/>
          </a:blip>
          <a:srcRect b="0" l="0" r="0" t="0"/>
          <a:stretch/>
        </p:blipFill>
        <p:spPr>
          <a:xfrm>
            <a:off x="11131550" y="1555750"/>
            <a:ext cx="279400" cy="279400"/>
          </a:xfrm>
          <a:prstGeom prst="rect">
            <a:avLst/>
          </a:prstGeom>
          <a:noFill/>
          <a:ln>
            <a:noFill/>
          </a:ln>
        </p:spPr>
      </p:pic>
      <p:sp>
        <p:nvSpPr>
          <p:cNvPr id="496" name="Google Shape;496;p28"/>
          <p:cNvSpPr/>
          <p:nvPr/>
        </p:nvSpPr>
        <p:spPr>
          <a:xfrm>
            <a:off x="6477000" y="1555750"/>
            <a:ext cx="4578350"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01C"/>
              </a:buClr>
              <a:buSzPts val="1600"/>
              <a:buFont typeface="Source Sans 3"/>
              <a:buNone/>
            </a:pPr>
            <a:r>
              <a:rPr b="1" i="0" lang="en-US" sz="1600" u="none" cap="none" strike="noStrike">
                <a:solidFill>
                  <a:srgbClr val="B5501C"/>
                </a:solidFill>
                <a:latin typeface="Source Sans 3"/>
                <a:ea typeface="Source Sans 3"/>
                <a:cs typeface="Source Sans 3"/>
                <a:sym typeface="Source Sans 3"/>
              </a:rPr>
              <a:t>The 88 excluded countries</a:t>
            </a:r>
            <a:endParaRPr b="0" i="0" sz="1600" u="none" cap="none" strike="noStrike">
              <a:solidFill>
                <a:schemeClr val="dk1"/>
              </a:solidFill>
              <a:latin typeface="Calibri"/>
              <a:ea typeface="Calibri"/>
              <a:cs typeface="Calibri"/>
              <a:sym typeface="Calibri"/>
            </a:endParaRPr>
          </a:p>
        </p:txBody>
      </p:sp>
      <p:sp>
        <p:nvSpPr>
          <p:cNvPr id="497" name="Google Shape;497;p28"/>
          <p:cNvSpPr/>
          <p:nvPr/>
        </p:nvSpPr>
        <p:spPr>
          <a:xfrm>
            <a:off x="6477000" y="2057400"/>
            <a:ext cx="5036185" cy="4876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400"/>
              <a:buFont typeface="Source Sans 3"/>
              <a:buNone/>
            </a:pPr>
            <a:r>
              <a:rPr b="0" i="0" lang="en-US" sz="1400" u="none" cap="none" strike="noStrike">
                <a:solidFill>
                  <a:srgbClr val="22332A"/>
                </a:solidFill>
                <a:latin typeface="Source Sans 3"/>
                <a:ea typeface="Source Sans 3"/>
                <a:cs typeface="Source Sans 3"/>
                <a:sym typeface="Source Sans 3"/>
              </a:rPr>
              <a:t>Test looser data rules or national statistics, so producers such as Indonesia and South Africa enter the sample.</a:t>
            </a:r>
            <a:endParaRPr b="0" i="0" sz="1400" u="none" cap="none" strike="noStrike">
              <a:solidFill>
                <a:schemeClr val="dk1"/>
              </a:solidFill>
              <a:latin typeface="Calibri"/>
              <a:ea typeface="Calibri"/>
              <a:cs typeface="Calibri"/>
              <a:sym typeface="Calibri"/>
            </a:endParaRPr>
          </a:p>
        </p:txBody>
      </p:sp>
      <p:sp>
        <p:nvSpPr>
          <p:cNvPr id="498" name="Google Shape;498;p28"/>
          <p:cNvSpPr/>
          <p:nvPr/>
        </p:nvSpPr>
        <p:spPr>
          <a:xfrm>
            <a:off x="549275" y="3521075"/>
            <a:ext cx="5435600" cy="1866900"/>
          </a:xfrm>
          <a:prstGeom prst="roundRect">
            <a:avLst>
              <a:gd fmla="val 5952"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ool" id="499" name="Google Shape;499;p28"/>
          <p:cNvPicPr preferRelativeResize="0"/>
          <p:nvPr/>
        </p:nvPicPr>
        <p:blipFill rotWithShape="1">
          <a:blip r:embed="rId5">
            <a:alphaModFix/>
          </a:blip>
          <a:srcRect b="0" l="0" r="0" t="0"/>
          <a:stretch/>
        </p:blipFill>
        <p:spPr>
          <a:xfrm>
            <a:off x="5480050" y="3702050"/>
            <a:ext cx="279400" cy="279400"/>
          </a:xfrm>
          <a:prstGeom prst="rect">
            <a:avLst/>
          </a:prstGeom>
          <a:noFill/>
          <a:ln>
            <a:noFill/>
          </a:ln>
        </p:spPr>
      </p:pic>
      <p:sp>
        <p:nvSpPr>
          <p:cNvPr id="500" name="Google Shape;500;p28"/>
          <p:cNvSpPr/>
          <p:nvPr/>
        </p:nvSpPr>
        <p:spPr>
          <a:xfrm>
            <a:off x="825500" y="3702050"/>
            <a:ext cx="4578350"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01C"/>
              </a:buClr>
              <a:buSzPts val="1600"/>
              <a:buFont typeface="Source Sans 3"/>
              <a:buNone/>
            </a:pPr>
            <a:r>
              <a:rPr b="1" i="0" lang="en-US" sz="1600" u="none" cap="none" strike="noStrike">
                <a:solidFill>
                  <a:srgbClr val="B5501C"/>
                </a:solidFill>
                <a:latin typeface="Source Sans 3"/>
                <a:ea typeface="Source Sans 3"/>
                <a:cs typeface="Source Sans 3"/>
                <a:sym typeface="Source Sans 3"/>
              </a:rPr>
              <a:t>A sturdier response metric</a:t>
            </a:r>
            <a:endParaRPr b="0" i="0" sz="1600" u="none" cap="none" strike="noStrike">
              <a:solidFill>
                <a:schemeClr val="dk1"/>
              </a:solidFill>
              <a:latin typeface="Calibri"/>
              <a:ea typeface="Calibri"/>
              <a:cs typeface="Calibri"/>
              <a:sym typeface="Calibri"/>
            </a:endParaRPr>
          </a:p>
        </p:txBody>
      </p:sp>
      <p:sp>
        <p:nvSpPr>
          <p:cNvPr id="501" name="Google Shape;501;p28"/>
          <p:cNvSpPr/>
          <p:nvPr/>
        </p:nvSpPr>
        <p:spPr>
          <a:xfrm>
            <a:off x="825500" y="4203700"/>
            <a:ext cx="5036185" cy="4876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400"/>
              <a:buFont typeface="Source Sans 3"/>
              <a:buNone/>
            </a:pPr>
            <a:r>
              <a:rPr b="0" i="0" lang="en-US" sz="1400" u="none" cap="none" strike="noStrike">
                <a:solidFill>
                  <a:srgbClr val="22332A"/>
                </a:solidFill>
                <a:latin typeface="Source Sans 3"/>
                <a:ea typeface="Source Sans 3"/>
                <a:cs typeface="Source Sans 3"/>
                <a:sym typeface="Source Sans 3"/>
              </a:rPr>
              <a:t>Separate real differences in crop response from one outlier crop and from noisy yield records.</a:t>
            </a:r>
            <a:endParaRPr b="0" i="0" sz="1400" u="none" cap="none" strike="noStrike">
              <a:solidFill>
                <a:schemeClr val="dk1"/>
              </a:solidFill>
              <a:latin typeface="Calibri"/>
              <a:ea typeface="Calibri"/>
              <a:cs typeface="Calibri"/>
              <a:sym typeface="Calibri"/>
            </a:endParaRPr>
          </a:p>
        </p:txBody>
      </p:sp>
      <p:sp>
        <p:nvSpPr>
          <p:cNvPr id="502" name="Google Shape;502;p28"/>
          <p:cNvSpPr/>
          <p:nvPr/>
        </p:nvSpPr>
        <p:spPr>
          <a:xfrm>
            <a:off x="6200775" y="3521075"/>
            <a:ext cx="5435600" cy="1866900"/>
          </a:xfrm>
          <a:prstGeom prst="roundRect">
            <a:avLst>
              <a:gd fmla="val 5952" name="adj"/>
            </a:avLst>
          </a:prstGeom>
          <a:solidFill>
            <a:srgbClr val="FFFFFF"/>
          </a:solidFill>
          <a:ln cap="flat" cmpd="sng" w="9525">
            <a:solidFill>
              <a:srgbClr val="E4DECF"/>
            </a:solidFill>
            <a:prstDash val="solid"/>
            <a:round/>
            <a:headEnd len="sm" w="sm" type="none"/>
            <a:tailEnd len="sm" w="sm" type="none"/>
          </a:ln>
          <a:effectLst>
            <a:outerShdw blurRad="152400" rotWithShape="0" algn="bl" dir="5400000" dist="38100">
              <a:srgbClr val="1D2F23">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503" name="Google Shape;503;p28"/>
          <p:cNvPicPr preferRelativeResize="0"/>
          <p:nvPr/>
        </p:nvPicPr>
        <p:blipFill rotWithShape="1">
          <a:blip r:embed="rId6">
            <a:alphaModFix/>
          </a:blip>
          <a:srcRect b="0" l="0" r="0" t="0"/>
          <a:stretch/>
        </p:blipFill>
        <p:spPr>
          <a:xfrm>
            <a:off x="11131550" y="3702050"/>
            <a:ext cx="279400" cy="279400"/>
          </a:xfrm>
          <a:prstGeom prst="rect">
            <a:avLst/>
          </a:prstGeom>
          <a:noFill/>
          <a:ln>
            <a:noFill/>
          </a:ln>
        </p:spPr>
      </p:pic>
      <p:sp>
        <p:nvSpPr>
          <p:cNvPr id="504" name="Google Shape;504;p28"/>
          <p:cNvSpPr/>
          <p:nvPr/>
        </p:nvSpPr>
        <p:spPr>
          <a:xfrm>
            <a:off x="6477000" y="3702050"/>
            <a:ext cx="4578350" cy="269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01C"/>
              </a:buClr>
              <a:buSzPts val="1600"/>
              <a:buFont typeface="Source Sans 3"/>
              <a:buNone/>
            </a:pPr>
            <a:r>
              <a:rPr b="1" i="0" lang="en-US" sz="1600" u="none" cap="none" strike="noStrike">
                <a:solidFill>
                  <a:srgbClr val="B5501C"/>
                </a:solidFill>
                <a:latin typeface="Source Sans 3"/>
                <a:ea typeface="Source Sans 3"/>
                <a:cs typeface="Source Sans 3"/>
                <a:sym typeface="Source Sans 3"/>
              </a:rPr>
              <a:t>Below the national scale</a:t>
            </a:r>
            <a:endParaRPr b="0" i="0" sz="1600" u="none" cap="none" strike="noStrike">
              <a:solidFill>
                <a:schemeClr val="dk1"/>
              </a:solidFill>
              <a:latin typeface="Calibri"/>
              <a:ea typeface="Calibri"/>
              <a:cs typeface="Calibri"/>
              <a:sym typeface="Calibri"/>
            </a:endParaRPr>
          </a:p>
        </p:txBody>
      </p:sp>
      <p:sp>
        <p:nvSpPr>
          <p:cNvPr id="505" name="Google Shape;505;p28"/>
          <p:cNvSpPr/>
          <p:nvPr/>
        </p:nvSpPr>
        <p:spPr>
          <a:xfrm>
            <a:off x="6477000" y="4203700"/>
            <a:ext cx="5036185" cy="4876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2332A"/>
              </a:buClr>
              <a:buSzPts val="1400"/>
              <a:buFont typeface="Source Sans 3"/>
              <a:buNone/>
            </a:pPr>
            <a:r>
              <a:rPr b="0" i="0" lang="en-US" sz="1400" u="none" cap="none" strike="noStrike">
                <a:solidFill>
                  <a:srgbClr val="22332A"/>
                </a:solidFill>
                <a:latin typeface="Source Sans 3"/>
                <a:ea typeface="Source Sans 3"/>
                <a:cs typeface="Source Sans 3"/>
                <a:sym typeface="Source Sans 3"/>
              </a:rPr>
              <a:t>Repeat with state or district data, where averaging over large areas hides less of the drought.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pic>
        <p:nvPicPr>
          <p:cNvPr descr="Decorative drawing of curved field rows under a low sun" id="511" name="Google Shape;511;p29"/>
          <p:cNvPicPr preferRelativeResize="0"/>
          <p:nvPr/>
        </p:nvPicPr>
        <p:blipFill rotWithShape="1">
          <a:blip r:embed="rId3">
            <a:alphaModFix/>
          </a:blip>
          <a:srcRect b="0" l="0" r="0" t="0"/>
          <a:stretch/>
        </p:blipFill>
        <p:spPr>
          <a:xfrm>
            <a:off x="8724900" y="1206500"/>
            <a:ext cx="2921000" cy="4064000"/>
          </a:xfrm>
          <a:prstGeom prst="rect">
            <a:avLst/>
          </a:prstGeom>
          <a:noFill/>
          <a:ln>
            <a:noFill/>
          </a:ln>
        </p:spPr>
      </p:pic>
      <p:sp>
        <p:nvSpPr>
          <p:cNvPr id="512" name="Google Shape;512;p29"/>
          <p:cNvSpPr/>
          <p:nvPr/>
        </p:nvSpPr>
        <p:spPr>
          <a:xfrm>
            <a:off x="546100" y="412750"/>
            <a:ext cx="5232400" cy="20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A066"/>
              </a:buClr>
              <a:buSzPts val="1000"/>
              <a:buFont typeface="Source Sans 3"/>
              <a:buNone/>
            </a:pPr>
            <a:r>
              <a:rPr b="1" i="0" lang="en-US" sz="1000" u="none" cap="none" strike="noStrike">
                <a:solidFill>
                  <a:srgbClr val="D9A066"/>
                </a:solidFill>
                <a:latin typeface="Source Sans 3"/>
                <a:ea typeface="Source Sans 3"/>
                <a:cs typeface="Source Sans 3"/>
                <a:sym typeface="Source Sans 3"/>
              </a:rPr>
              <a:t>ENVIRONMENTAL SCIENCE AND TECHNOLOGY</a:t>
            </a:r>
            <a:endParaRPr b="0" i="0" sz="1000" u="none" cap="none" strike="noStrike">
              <a:solidFill>
                <a:schemeClr val="dk1"/>
              </a:solidFill>
              <a:latin typeface="Calibri"/>
              <a:ea typeface="Calibri"/>
              <a:cs typeface="Calibri"/>
              <a:sym typeface="Calibri"/>
            </a:endParaRPr>
          </a:p>
        </p:txBody>
      </p:sp>
      <p:sp>
        <p:nvSpPr>
          <p:cNvPr id="513" name="Google Shape;513;p29"/>
          <p:cNvSpPr/>
          <p:nvPr/>
        </p:nvSpPr>
        <p:spPr>
          <a:xfrm>
            <a:off x="546100" y="2654300"/>
            <a:ext cx="7534656" cy="6959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4800"/>
              <a:buFont typeface="Source Serif 4"/>
              <a:buNone/>
            </a:pPr>
            <a:r>
              <a:rPr b="1" i="0" lang="en-US" sz="4800" u="none" cap="none" strike="noStrike">
                <a:solidFill>
                  <a:srgbClr val="FFFFFF"/>
                </a:solidFill>
                <a:latin typeface="Source Serif 4"/>
                <a:ea typeface="Source Serif 4"/>
                <a:cs typeface="Source Serif 4"/>
                <a:sym typeface="Source Serif 4"/>
              </a:rPr>
              <a:t>Thank you</a:t>
            </a:r>
            <a:endParaRPr b="0" i="0" sz="4800" u="none" cap="none" strike="noStrike">
              <a:solidFill>
                <a:schemeClr val="dk1"/>
              </a:solidFill>
              <a:latin typeface="Calibri"/>
              <a:ea typeface="Calibri"/>
              <a:cs typeface="Calibri"/>
              <a:sym typeface="Calibri"/>
            </a:endParaRPr>
          </a:p>
        </p:txBody>
      </p:sp>
      <p:sp>
        <p:nvSpPr>
          <p:cNvPr id="514" name="Google Shape;514;p29"/>
          <p:cNvSpPr/>
          <p:nvPr/>
        </p:nvSpPr>
        <p:spPr>
          <a:xfrm>
            <a:off x="546100" y="3657600"/>
            <a:ext cx="7534656" cy="3225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1EEE4"/>
              </a:buClr>
              <a:buSzPts val="1800"/>
              <a:buFont typeface="Source Sans 3"/>
              <a:buNone/>
            </a:pPr>
            <a:r>
              <a:rPr b="0" i="0" lang="en-US" sz="1800" u="none" cap="none" strike="noStrike">
                <a:solidFill>
                  <a:srgbClr val="F1EEE4"/>
                </a:solidFill>
                <a:latin typeface="Source Sans 3"/>
                <a:ea typeface="Source Sans 3"/>
                <a:cs typeface="Source Sans 3"/>
                <a:sym typeface="Source Sans 3"/>
              </a:rPr>
              <a:t>Questions are welcome :)</a:t>
            </a:r>
            <a:endParaRPr b="0" i="0" sz="1800" u="none" cap="none" strike="noStrike">
              <a:solidFill>
                <a:schemeClr val="dk1"/>
              </a:solidFill>
              <a:latin typeface="Calibri"/>
              <a:ea typeface="Calibri"/>
              <a:cs typeface="Calibri"/>
              <a:sym typeface="Calibri"/>
            </a:endParaRPr>
          </a:p>
        </p:txBody>
      </p:sp>
      <p:pic>
        <p:nvPicPr>
          <p:cNvPr descr="line" id="515" name="Google Shape;515;p29"/>
          <p:cNvPicPr preferRelativeResize="0"/>
          <p:nvPr/>
        </p:nvPicPr>
        <p:blipFill rotWithShape="1">
          <a:blip r:embed="rId4">
            <a:alphaModFix/>
          </a:blip>
          <a:srcRect b="-3333" l="0" r="0" t="-3333"/>
          <a:stretch/>
        </p:blipFill>
        <p:spPr>
          <a:xfrm>
            <a:off x="546100" y="5759450"/>
            <a:ext cx="11093450" cy="20320"/>
          </a:xfrm>
          <a:prstGeom prst="rect">
            <a:avLst/>
          </a:prstGeom>
          <a:noFill/>
          <a:ln>
            <a:noFill/>
          </a:ln>
        </p:spPr>
      </p:pic>
      <p:sp>
        <p:nvSpPr>
          <p:cNvPr id="516" name="Google Shape;516;p29"/>
          <p:cNvSpPr/>
          <p:nvPr/>
        </p:nvSpPr>
        <p:spPr>
          <a:xfrm>
            <a:off x="546100" y="5943600"/>
            <a:ext cx="10360152" cy="2235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1EEE4"/>
              </a:buClr>
              <a:buSzPts val="1200"/>
              <a:buFont typeface="Source Sans 3"/>
              <a:buNone/>
            </a:pPr>
            <a:r>
              <a:rPr b="0" i="0" lang="en-US" sz="1200" u="none" cap="none" strike="noStrike">
                <a:solidFill>
                  <a:srgbClr val="F1EEE4"/>
                </a:solidFill>
                <a:latin typeface="Source Sans 3"/>
                <a:ea typeface="Source Sans 3"/>
                <a:cs typeface="Source Sans 3"/>
                <a:sym typeface="Source Sans 3"/>
              </a:rPr>
              <a:t>Data: FAOSTAT, SPEIbase v2.10, MapSPAM 2020, World Bank WDI, Natural Earth</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